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493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031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949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760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834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298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463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81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285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003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240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09698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58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23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325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217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321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537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C8BB45-61F7-46D9-B161-6126188D0D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metodologia de avaliação de interfaces por percurso cognitivo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78E71A-B6B2-43CD-A5CE-B973EF17C2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/>
              <a:t>PERCURSO COGNITIVO NO MEU SUS DIGITAL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00153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5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9DFFB-6949-493E-AD8D-319F0A643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que é o método de avaliação por percurso cognitivo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F25BA4-49F9-48CE-AF3A-644615AC6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Metodologia de avaliação de usabilidade 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Interação do usuário iniciante com a interface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Responde 4 perguntas:</a:t>
            </a:r>
          </a:p>
          <a:p>
            <a:pPr lvl="1"/>
            <a:r>
              <a:rPr lang="pt-BR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 usuário tentará atingir o efeito correto?</a:t>
            </a:r>
          </a:p>
          <a:p>
            <a:pPr lvl="1"/>
            <a:r>
              <a:rPr lang="pt-BR" dirty="0">
                <a:latin typeface="Arial" panose="020B0604020202020204" pitchFamily="34" charset="0"/>
                <a:ea typeface="Arial" panose="020B0604020202020204" pitchFamily="34" charset="0"/>
              </a:rPr>
              <a:t>O usuário notará que a ação correta está disponível? </a:t>
            </a:r>
          </a:p>
          <a:p>
            <a:pPr lvl="1"/>
            <a:r>
              <a:rPr lang="pt-BR" dirty="0">
                <a:latin typeface="Arial" panose="020B0604020202020204" pitchFamily="34" charset="0"/>
                <a:ea typeface="Arial" panose="020B0604020202020204" pitchFamily="34" charset="0"/>
              </a:rPr>
              <a:t>O usuário associará a ação correta com o objetivo que está tentando alcançar? </a:t>
            </a:r>
          </a:p>
          <a:p>
            <a:pPr lvl="1"/>
            <a:r>
              <a:rPr lang="pt-BR" dirty="0">
                <a:latin typeface="Arial" panose="020B0604020202020204" pitchFamily="34" charset="0"/>
                <a:ea typeface="Arial" panose="020B0604020202020204" pitchFamily="34" charset="0"/>
              </a:rPr>
              <a:t>Se a ação correta for executada, o usuário verá que o progresso está sendo feito para a solução da tarefa?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05355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B2C3C-4277-4B8B-ACBD-8120046AE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porquê de escolher o meu sus digital?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329EE5-C5C0-44FC-94BA-D9A0FB512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Plataformas de governo eletrônico é crítica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Engloba diversos públicos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Focar em acessibilidade e clareza</a:t>
            </a:r>
          </a:p>
        </p:txBody>
      </p:sp>
    </p:spTree>
    <p:extLst>
      <p:ext uri="{BB962C8B-B14F-4D97-AF65-F5344CB8AC3E}">
        <p14:creationId xmlns:p14="http://schemas.microsoft.com/office/powerpoint/2010/main" val="391535955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B2C3C-4277-4B8B-ACBD-8120046AE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Tarefa 1:</a:t>
            </a:r>
            <a:r>
              <a:rPr lang="pt-BR" b="1" dirty="0"/>
              <a:t>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Acessar e baixar o Cartão Nacional de Saúde (CNS digital)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329EE5-C5C0-44FC-94BA-D9A0FB512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58143"/>
            <a:ext cx="9905999" cy="3541714"/>
          </a:xfrm>
        </p:spPr>
        <p:txBody>
          <a:bodyPr>
            <a:normAutofit fontScale="85000" lnSpcReduction="10000"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Meu perfil &gt; ícone de cartão e escrito “Cartão Nacional de Saúde”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ANALISE DE PERCURSO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ao abrir o cartão, o botão disponível para obter o documento possui o ícone padrão de “Baixar" (seta pra baixo em um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card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PROBLEMA(Perguntas 2 e 3): O usuário pode não notar que a ação está disponível porque o Cartão de Saúde fica escondido dentro do "Ícone de Perfil". Além disso, usuários com baixo letramento digital podem não associar o ícone à ação de "Baixar" o cartão .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SOLUÇÃO: Disponibilizar um atalho para o Cartão do SUS diretamente visível na Home, sem a necessidade de acessar o perfil e Substituir ou acompanhar o ícone de download por um botão explícito com o texto "Salvar Cartão" ou "Baixar PDF“, que pode vim acompanhado do ícone de baixar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2370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ADA106E-4C1C-4B12-9309-5749E64D2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638" y="203260"/>
            <a:ext cx="3254878" cy="6159931"/>
          </a:xfrm>
          <a:prstGeom prst="rect">
            <a:avLst/>
          </a:prstGeom>
        </p:spPr>
      </p:pic>
      <p:sp>
        <p:nvSpPr>
          <p:cNvPr id="8" name="Seta: para a Esquerda 7">
            <a:extLst>
              <a:ext uri="{FF2B5EF4-FFF2-40B4-BE49-F238E27FC236}">
                <a16:creationId xmlns:a16="http://schemas.microsoft.com/office/drawing/2014/main" id="{103FB373-D0FF-4412-A4A1-F303D440A861}"/>
              </a:ext>
            </a:extLst>
          </p:cNvPr>
          <p:cNvSpPr/>
          <p:nvPr/>
        </p:nvSpPr>
        <p:spPr>
          <a:xfrm>
            <a:off x="6732104" y="424070"/>
            <a:ext cx="1338470" cy="21203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E81E65B-85F3-435C-ACC2-26F0EA5ED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162" y="203260"/>
            <a:ext cx="870114" cy="84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8634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B2C3C-4277-4B8B-ACBD-8120046AE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Tarefa 2</a:t>
            </a:r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Emitir o Certificado Nacional de Vacinação da COVID-19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329EE5-C5C0-44FC-94BA-D9A0FB512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58143"/>
            <a:ext cx="9905999" cy="3541714"/>
          </a:xfrm>
        </p:spPr>
        <p:txBody>
          <a:bodyPr>
            <a:normAutofit fontScale="85000" lnSpcReduction="20000"/>
          </a:bodyPr>
          <a:lstStyle/>
          <a:p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Home &gt; Clicar em "Vacinas" &gt; Selecionar "Campanhas" (COVID-19) &gt; Clicar em "Exportar Documento".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ANALISE DE PERCURSO: </a:t>
            </a:r>
            <a:r>
              <a:rPr lang="pt-BR" sz="2200" dirty="0">
                <a:latin typeface="Arial" panose="020B0604020202020204" pitchFamily="34" charset="0"/>
                <a:ea typeface="Arial" panose="020B0604020202020204" pitchFamily="34" charset="0"/>
              </a:rPr>
              <a:t>o caminho é relativamente simples e o aplicativo tem o mérito de diferenciar bem as vacinas comuns das vacinas de campanha 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PROBLEMA(Pergunta 3): </a:t>
            </a:r>
            <a:r>
              <a:rPr lang="pt-BR" dirty="0">
                <a:latin typeface="Arial" panose="020B0604020202020204" pitchFamily="34" charset="0"/>
                <a:ea typeface="Arial" panose="020B0604020202020204" pitchFamily="34" charset="0"/>
              </a:rPr>
              <a:t>O termo "Exportar Documento" pode não fazer sentido imediato para a população geral, que está acostumada com termos como "Baixar", "Gerar" ou "Salvar".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SOLUÇÃO</a:t>
            </a: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dirty="0">
                <a:latin typeface="Arial" panose="020B0604020202020204" pitchFamily="34" charset="0"/>
                <a:ea typeface="Arial" panose="020B0604020202020204" pitchFamily="34" charset="0"/>
              </a:rPr>
              <a:t>Substituir o rótulo do botão "Exportar Documento" por "Emitir Certificado" ou "Baixar Comprovante"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240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2C827DCB-E52D-4A4A-B861-749F23477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30" y="1318113"/>
            <a:ext cx="11045340" cy="4221774"/>
          </a:xfrm>
          <a:prstGeom prst="rect">
            <a:avLst/>
          </a:prstGeom>
        </p:spPr>
      </p:pic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192E965F-B41D-4933-9E64-7E1DD0B3F82A}"/>
              </a:ext>
            </a:extLst>
          </p:cNvPr>
          <p:cNvSpPr/>
          <p:nvPr/>
        </p:nvSpPr>
        <p:spPr>
          <a:xfrm>
            <a:off x="8494645" y="3101010"/>
            <a:ext cx="967408" cy="23522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2060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B2C3C-4277-4B8B-ACBD-8120046AE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Tarefa 3</a:t>
            </a:r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Consultar o histórico de medicamentos da Farmácia Popular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329EE5-C5C0-44FC-94BA-D9A0FB512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98712"/>
            <a:ext cx="9765126" cy="5009323"/>
          </a:xfrm>
        </p:spPr>
        <p:txBody>
          <a:bodyPr>
            <a:normAutofit fontScale="85000" lnSpcReduction="20000"/>
          </a:bodyPr>
          <a:lstStyle/>
          <a:p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Home &gt; Clicar em "Medicamentos" &gt; Selecionar a aba "Farmácia Popular" &gt; Visualizar histórico.</a:t>
            </a:r>
          </a:p>
          <a:p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ANALISE DE PERCURSO: </a:t>
            </a:r>
            <a:r>
              <a:rPr lang="pt-BR" sz="2200" dirty="0">
                <a:latin typeface="Arial" panose="020B0604020202020204" pitchFamily="34" charset="0"/>
                <a:ea typeface="Arial" panose="020B0604020202020204" pitchFamily="34" charset="0"/>
              </a:rPr>
              <a:t>A navegação é lógica e bem categorizada. Contudo, o usuário não possui histórico de medicamentos e deparou-se com uma tela de "estado vazio" (</a:t>
            </a:r>
            <a:r>
              <a:rPr lang="pt-BR" sz="2200" dirty="0" err="1">
                <a:latin typeface="Arial" panose="020B0604020202020204" pitchFamily="34" charset="0"/>
                <a:ea typeface="Arial" panose="020B0604020202020204" pitchFamily="34" charset="0"/>
              </a:rPr>
              <a:t>empty</a:t>
            </a:r>
            <a:r>
              <a:rPr lang="pt-BR" sz="22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pt-BR" sz="2200" dirty="0" err="1">
                <a:latin typeface="Arial" panose="020B0604020202020204" pitchFamily="34" charset="0"/>
                <a:ea typeface="Arial" panose="020B0604020202020204" pitchFamily="34" charset="0"/>
              </a:rPr>
              <a:t>state</a:t>
            </a:r>
            <a:r>
              <a:rPr lang="pt-BR" sz="2200" dirty="0">
                <a:latin typeface="Arial" panose="020B0604020202020204" pitchFamily="34" charset="0"/>
                <a:ea typeface="Arial" panose="020B0604020202020204" pitchFamily="34" charset="0"/>
              </a:rPr>
              <a:t>).</a:t>
            </a:r>
            <a:endParaRPr lang="pt-B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PROBLEMA(Pergunta 4): </a:t>
            </a:r>
            <a:r>
              <a:rPr lang="pt-BR" dirty="0">
                <a:latin typeface="Arial" panose="020B0604020202020204" pitchFamily="34" charset="0"/>
                <a:ea typeface="Arial" panose="020B0604020202020204" pitchFamily="34" charset="0"/>
              </a:rPr>
              <a:t>O aplicativo apresenta um estado vazio genérico. Para um usuário que retirou um medicamento nas últimas horas, a ausência de dados pode parecer um erro do sistema ou da farmácia. O aplicativo falha em não fornecer um feedback claro sobre o tempo de latência e sincronização de dados.</a:t>
            </a:r>
          </a:p>
          <a:p>
            <a:pPr>
              <a:lnSpc>
                <a:spcPct val="150000"/>
              </a:lnSpc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SOLUÇÃO</a:t>
            </a: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Melhorar o texto informativo da tela vazia, adicionando: "Os dados desta página dependem do envio pelo sistema das farmácias credenciadas e podem levar até 72h para refletir as últimas retiradas."</a:t>
            </a:r>
          </a:p>
          <a:p>
            <a:pPr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77067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8F330EC-7653-44FC-8A98-537262875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97" y="197139"/>
            <a:ext cx="3608911" cy="646372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8017CAB-7620-4023-8F7D-5C767B5C1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7139"/>
            <a:ext cx="4152483" cy="654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1476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B2C3C-4277-4B8B-ACBD-8120046AE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Tarefa 4</a:t>
            </a:r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3200" dirty="0">
                <a:latin typeface="Arial" panose="020B0604020202020204" pitchFamily="34" charset="0"/>
                <a:ea typeface="Arial" panose="020B0604020202020204" pitchFamily="34" charset="0"/>
              </a:rPr>
              <a:t>Acompanhar agendamentos de consultas ou exames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329EE5-C5C0-44FC-94BA-D9A0FB512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98712"/>
            <a:ext cx="9765126" cy="5009323"/>
          </a:xfrm>
        </p:spPr>
        <p:txBody>
          <a:bodyPr>
            <a:normAutofit fontScale="85000" lnSpcReduction="20000"/>
          </a:bodyPr>
          <a:lstStyle/>
          <a:p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Home &gt; Clicar em “Ver tudo” &gt; Clicar em "Atendimentos" ou "Agendamentos" &gt; Visualizar a lista.</a:t>
            </a:r>
          </a:p>
          <a:p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ANALISE DE PERCURSO: </a:t>
            </a:r>
            <a:r>
              <a:rPr lang="pt-BR" b="1" dirty="0">
                <a:latin typeface="Arial" panose="020B0604020202020204" pitchFamily="34" charset="0"/>
                <a:ea typeface="Arial" panose="020B0604020202020204" pitchFamily="34" charset="0"/>
              </a:rPr>
              <a:t>:</a:t>
            </a:r>
            <a:r>
              <a:rPr lang="pt-BR" dirty="0">
                <a:latin typeface="Arial" panose="020B0604020202020204" pitchFamily="34" charset="0"/>
                <a:ea typeface="Arial" panose="020B0604020202020204" pitchFamily="34" charset="0"/>
              </a:rPr>
              <a:t> Assim como na Tarefa 3, o teste prático encontrou uma tela de estado vazio. Além disso, a ação principal está encapsulada em um menu expansível.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PROBLEMA(Perguntas 2 e 4): Ao esconder "Atendimentos" atrás de um botão genérico "Ver tudo", a interface fere a visibilidade da ação. Somado a isso, o estado vazio não comunica que a exibição dos dados depende da integração da rede municipal com o sistema nacional </a:t>
            </a:r>
          </a:p>
          <a:p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SOLUÇÃO</a:t>
            </a: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Trazer os "Atendimentos/Agendamentos" como atalho primário na Home, removendo a necessidade do "Ver tudo". Na tela de estado vazio, adicionar o alerta: "Nenhum agendamento integrado encontrado. Atenção: A atualização desta lista depende do envio de dados pela Secretaria de Saúde do seu município."</a:t>
            </a:r>
          </a:p>
          <a:p>
            <a:pPr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13334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390951A-6080-4842-8D14-8209916BE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295" y="253661"/>
            <a:ext cx="5375409" cy="211484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EBF58CE-0F39-47DF-9B94-C99C33CF4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64" y="2697234"/>
            <a:ext cx="4452730" cy="390710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F41F7E7-4AF1-4531-B636-9E0F6B39E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603" y="2697233"/>
            <a:ext cx="4862792" cy="3907105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86DA27D2-CECE-44A8-8E46-BC8B856EBFDB}"/>
              </a:ext>
            </a:extLst>
          </p:cNvPr>
          <p:cNvSpPr/>
          <p:nvPr/>
        </p:nvSpPr>
        <p:spPr>
          <a:xfrm>
            <a:off x="5337864" y="4405619"/>
            <a:ext cx="1033669" cy="490331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1116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E59E6F-F0A1-49F4-9B96-9CAF8C5BE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297" y="662608"/>
            <a:ext cx="9937405" cy="5115340"/>
          </a:xfrm>
        </p:spPr>
        <p:txBody>
          <a:bodyPr/>
          <a:lstStyle/>
          <a:p>
            <a:pPr marL="0" indent="0" algn="ctr">
              <a:buNone/>
            </a:pPr>
            <a:endParaRPr lang="pt-BR" sz="8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pt-BR" sz="8000" dirty="0">
                <a:latin typeface="Arial" panose="020B0604020202020204" pitchFamily="34" charset="0"/>
                <a:cs typeface="Arial" panose="020B0604020202020204" pitchFamily="34" charset="0"/>
              </a:rPr>
              <a:t>FIM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69521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