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Props1.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Lst>
  <p:sldSz cy="6858000" cx="12192000"/>
  <p:notesSz cx="6858000" cy="9144000"/>
  <p:defaultTextStyle>
    <a:defPPr lvl="0">
      <a:defRPr lang="en-US"/>
    </a:defPPr>
    <a:lvl1pPr defTabSz="457200" eaLnBrk="1" hangingPunct="1" latinLnBrk="0" lvl="0" marL="0" rtl="0" algn="l">
      <a:defRPr kern="1200" sz="1800">
        <a:solidFill>
          <a:schemeClr val="tx1"/>
        </a:solidFill>
        <a:latin typeface="+mn-lt"/>
        <a:ea typeface="+mn-ea"/>
        <a:cs typeface="+mn-cs"/>
      </a:defRPr>
    </a:lvl1pPr>
    <a:lvl2pPr defTabSz="457200" eaLnBrk="1" hangingPunct="1" latinLnBrk="0" lvl="1" marL="457200" rtl="0" algn="l">
      <a:defRPr kern="1200" sz="1800">
        <a:solidFill>
          <a:schemeClr val="tx1"/>
        </a:solidFill>
        <a:latin typeface="+mn-lt"/>
        <a:ea typeface="+mn-ea"/>
        <a:cs typeface="+mn-cs"/>
      </a:defRPr>
    </a:lvl2pPr>
    <a:lvl3pPr defTabSz="457200" eaLnBrk="1" hangingPunct="1" latinLnBrk="0" lvl="2" marL="914400" rtl="0" algn="l">
      <a:defRPr kern="1200" sz="1800">
        <a:solidFill>
          <a:schemeClr val="tx1"/>
        </a:solidFill>
        <a:latin typeface="+mn-lt"/>
        <a:ea typeface="+mn-ea"/>
        <a:cs typeface="+mn-cs"/>
      </a:defRPr>
    </a:lvl3pPr>
    <a:lvl4pPr defTabSz="457200" eaLnBrk="1" hangingPunct="1" latinLnBrk="0" lvl="3" marL="1371600" rtl="0" algn="l">
      <a:defRPr kern="1200" sz="1800">
        <a:solidFill>
          <a:schemeClr val="tx1"/>
        </a:solidFill>
        <a:latin typeface="+mn-lt"/>
        <a:ea typeface="+mn-ea"/>
        <a:cs typeface="+mn-cs"/>
      </a:defRPr>
    </a:lvl4pPr>
    <a:lvl5pPr defTabSz="457200" eaLnBrk="1" hangingPunct="1" latinLnBrk="0" lvl="4" marL="1828800" rtl="0" algn="l">
      <a:defRPr kern="1200" sz="1800">
        <a:solidFill>
          <a:schemeClr val="tx1"/>
        </a:solidFill>
        <a:latin typeface="+mn-lt"/>
        <a:ea typeface="+mn-ea"/>
        <a:cs typeface="+mn-cs"/>
      </a:defRPr>
    </a:lvl5pPr>
    <a:lvl6pPr defTabSz="457200" eaLnBrk="1" hangingPunct="1" latinLnBrk="0" lvl="5" marL="2286000" rtl="0" algn="l">
      <a:defRPr kern="1200" sz="1800">
        <a:solidFill>
          <a:schemeClr val="tx1"/>
        </a:solidFill>
        <a:latin typeface="+mn-lt"/>
        <a:ea typeface="+mn-ea"/>
        <a:cs typeface="+mn-cs"/>
      </a:defRPr>
    </a:lvl6pPr>
    <a:lvl7pPr defTabSz="457200" eaLnBrk="1" hangingPunct="1" latinLnBrk="0" lvl="6" marL="2743200" rtl="0" algn="l">
      <a:defRPr kern="1200" sz="1800">
        <a:solidFill>
          <a:schemeClr val="tx1"/>
        </a:solidFill>
        <a:latin typeface="+mn-lt"/>
        <a:ea typeface="+mn-ea"/>
        <a:cs typeface="+mn-cs"/>
      </a:defRPr>
    </a:lvl7pPr>
    <a:lvl8pPr defTabSz="457200" eaLnBrk="1" hangingPunct="1" latinLnBrk="0" lvl="7" marL="3200400" rtl="0" algn="l">
      <a:defRPr kern="1200" sz="1800">
        <a:solidFill>
          <a:schemeClr val="tx1"/>
        </a:solidFill>
        <a:latin typeface="+mn-lt"/>
        <a:ea typeface="+mn-ea"/>
        <a:cs typeface="+mn-cs"/>
      </a:defRPr>
    </a:lvl8pPr>
    <a:lvl9pPr defTabSz="457200" eaLnBrk="1" hangingPunct="1" latinLnBrk="0" lvl="8" marL="3657600" rtl="0" algn="l">
      <a:defRPr kern="1200" sz="1800">
        <a:solidFill>
          <a:schemeClr val="tx1"/>
        </a:solidFill>
        <a:latin typeface="+mn-lt"/>
        <a:ea typeface="+mn-ea"/>
        <a:cs typeface="+mn-cs"/>
      </a:defRPr>
    </a:lvl9pPr>
  </p:defaultTextStyle>
</p:presentation>
</file>

<file path=ppt/presProps1.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1.xml"/><Relationship Id="rId3" Type="http://schemas.openxmlformats.org/officeDocument/2006/relationships/slideMaster" Target="slideMasters/slide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Slide de Título">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pt-BR"/>
              <a:t>Clique para editar o título Mestre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7DA38F49-B3E2-4BF0-BEC7-C30D34ABBB8D}" type="datetime1">
              <a:rPr lang="en-US" smtClean="0"/>
              <a:t>4/13/2026</a:t>
            </a:fld>
            <a:endParaRPr lang="en-US"/>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70C12960-6E85-460F-B6E3-5B82CB31AF3D}" type="slidenum">
              <a:rPr lang="en-US" smtClean="0"/>
              <a:t>‹nº›</a:t>
            </a:fld>
            <a:endParaRPr lang="en-US"/>
          </a:p>
        </p:txBody>
      </p:sp>
    </p:spTree>
    <p:extLst>
      <p:ext uri="{BB962C8B-B14F-4D97-AF65-F5344CB8AC3E}">
        <p14:creationId xmlns:p14="http://schemas.microsoft.com/office/powerpoint/2010/main" val="3732149313"/>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crush"/>
      </p:transition>
    </mc:Choice>
    <mc:Fallback>
      <p:transition spd="slow">
        <p:fade/>
      </p:transition>
    </mc:Fallback>
  </mc:AlternateContent>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7DA38F49-B3E2-4BF0-BEC7-C30D34ABBB8D}" type="datetime1">
              <a:rPr lang="en-US" smtClean="0"/>
              <a:t>4/13/2026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‹nº›</a:t>
            </a:fld>
            <a:endParaRPr lang="en-US"/>
          </a:p>
        </p:txBody>
      </p:sp>
    </p:spTree>
    <p:extLst>
      <p:ext uri="{BB962C8B-B14F-4D97-AF65-F5344CB8AC3E}">
        <p14:creationId xmlns:p14="http://schemas.microsoft.com/office/powerpoint/2010/main" val="2996603169"/>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crush"/>
      </p:transition>
    </mc:Choice>
    <mc:Fallback>
      <p:transition spd="slow">
        <p:fade/>
      </p:transition>
    </mc:Fallback>
  </mc:AlternateContent>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pt-BR"/>
              <a:t>Clique para editar o título Mestre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Clique para editar os estilos de texto Mestres</a:t>
            </a:r>
          </a:p>
        </p:txBody>
      </p:sp>
      <p:sp>
        <p:nvSpPr>
          <p:cNvPr id="4" name="Date Placeholder 3"/>
          <p:cNvSpPr>
            <a:spLocks noGrp="1"/>
          </p:cNvSpPr>
          <p:nvPr>
            <p:ph type="dt" sz="half" idx="10"/>
          </p:nvPr>
        </p:nvSpPr>
        <p:spPr/>
        <p:txBody>
          <a:bodyPr/>
          <a:lstStyle/>
          <a:p>
            <a:fld id="{7DA38F49-B3E2-4BF0-BEC7-C30D34ABBB8D}" type="datetime1">
              <a:rPr lang="en-US" smtClean="0"/>
              <a:t>4/13/2026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‹nº›</a:t>
            </a:fld>
            <a:endParaRPr lang="en-US"/>
          </a:p>
        </p:txBody>
      </p:sp>
    </p:spTree>
    <p:extLst>
      <p:ext uri="{BB962C8B-B14F-4D97-AF65-F5344CB8AC3E}">
        <p14:creationId xmlns:p14="http://schemas.microsoft.com/office/powerpoint/2010/main" val="2230794921"/>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crush"/>
      </p:transition>
    </mc:Choice>
    <mc:Fallback>
      <p:transition spd="slow">
        <p:fade/>
      </p:transition>
    </mc:Fallback>
  </mc:AlternateContent>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Date Placeholder 4"/>
          <p:cNvSpPr>
            <a:spLocks noGrp="1"/>
          </p:cNvSpPr>
          <p:nvPr>
            <p:ph type="dt" sz="half" idx="10"/>
          </p:nvPr>
        </p:nvSpPr>
        <p:spPr/>
        <p:txBody>
          <a:bodyPr/>
          <a:lstStyle/>
          <a:p>
            <a:fld id="{7DA38F49-B3E2-4BF0-BEC7-C30D34ABBB8D}" type="datetime1">
              <a:rPr lang="en-US" smtClean="0"/>
              <a:t>4/13/2026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0C12960-6E85-460F-B6E3-5B82CB31AF3D}" type="slidenum">
              <a:rPr lang="en-US" smtClean="0"/>
              <a:t>‹nº›</a:t>
            </a:fld>
            <a:endParaRPr lang="en-US"/>
          </a:p>
        </p:txBody>
      </p:sp>
    </p:spTree>
    <p:extLst>
      <p:ext uri="{BB962C8B-B14F-4D97-AF65-F5344CB8AC3E}">
        <p14:creationId xmlns:p14="http://schemas.microsoft.com/office/powerpoint/2010/main" val="4121176049"/>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crush"/>
      </p:transition>
    </mc:Choice>
    <mc:Fallback>
      <p:transition spd="slow">
        <p:fade/>
      </p:transition>
    </mc:Fallback>
  </mc:AlternateContent>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pt-BR"/>
              <a:t>Clique para editar o título Mestre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Content Placeholder 3"/>
          <p:cNvSpPr>
            <a:spLocks noGrp="1"/>
          </p:cNvSpPr>
          <p:nvPr>
            <p:ph sz="half" idx="2"/>
          </p:nvPr>
        </p:nvSpPr>
        <p:spPr>
          <a:xfrm>
            <a:off x="1141410" y="3073397"/>
            <a:ext cx="4878391" cy="2717801"/>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Content Placeholder 5"/>
          <p:cNvSpPr>
            <a:spLocks noGrp="1"/>
          </p:cNvSpPr>
          <p:nvPr>
            <p:ph sz="quarter" idx="4"/>
          </p:nvPr>
        </p:nvSpPr>
        <p:spPr>
          <a:xfrm>
            <a:off x="6172200" y="3073397"/>
            <a:ext cx="4875210" cy="2717801"/>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7" name="Date Placeholder 6"/>
          <p:cNvSpPr>
            <a:spLocks noGrp="1"/>
          </p:cNvSpPr>
          <p:nvPr>
            <p:ph type="dt" sz="half" idx="10"/>
          </p:nvPr>
        </p:nvSpPr>
        <p:spPr/>
        <p:txBody>
          <a:bodyPr/>
          <a:lstStyle/>
          <a:p>
            <a:fld id="{7DA38F49-B3E2-4BF0-BEC7-C30D34ABBB8D}" type="datetime1">
              <a:rPr lang="en-US" smtClean="0"/>
              <a:t>4/13/2026</a:t>
            </a:fld>
            <a:endParaRPr lang="en-US"/>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0C12960-6E85-460F-B6E3-5B82CB31AF3D}" type="slidenum">
              <a:rPr lang="en-US" smtClean="0"/>
              <a:t>‹nº›</a:t>
            </a:fld>
            <a:endParaRPr lang="en-US"/>
          </a:p>
        </p:txBody>
      </p:sp>
    </p:spTree>
    <p:extLst>
      <p:ext uri="{BB962C8B-B14F-4D97-AF65-F5344CB8AC3E}">
        <p14:creationId xmlns:p14="http://schemas.microsoft.com/office/powerpoint/2010/main" val="2250183452"/>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crush"/>
      </p:transition>
    </mc:Choice>
    <mc:Fallback>
      <p:transition spd="slow">
        <p:fade/>
      </p:transition>
    </mc:Fallback>
  </mc:AlternateContent>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Date Placeholder 2"/>
          <p:cNvSpPr>
            <a:spLocks noGrp="1"/>
          </p:cNvSpPr>
          <p:nvPr>
            <p:ph type="dt" sz="half" idx="10"/>
          </p:nvPr>
        </p:nvSpPr>
        <p:spPr/>
        <p:txBody>
          <a:bodyPr/>
          <a:lstStyle/>
          <a:p>
            <a:fld id="{7DA38F49-B3E2-4BF0-BEC7-C30D34ABBB8D}" type="datetime1">
              <a:rPr lang="en-US" smtClean="0"/>
              <a:t>4/13/2026</a:t>
            </a:fld>
            <a:endParaRPr lang="en-US"/>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0C12960-6E85-460F-B6E3-5B82CB31AF3D}" type="slidenum">
              <a:rPr lang="en-US" smtClean="0"/>
              <a:t>‹nº›</a:t>
            </a:fld>
            <a:endParaRPr lang="en-US"/>
          </a:p>
        </p:txBody>
      </p:sp>
    </p:spTree>
    <p:extLst>
      <p:ext uri="{BB962C8B-B14F-4D97-AF65-F5344CB8AC3E}">
        <p14:creationId xmlns:p14="http://schemas.microsoft.com/office/powerpoint/2010/main" val="3939629898"/>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crush"/>
      </p:transition>
    </mc:Choice>
    <mc:Fallback>
      <p:transition spd="slow">
        <p:fade/>
      </p:transition>
    </mc:Fallback>
  </mc:AlternateContent>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DA38F49-B3E2-4BF0-BEC7-C30D34ABBB8D}" type="datetime1">
              <a:rPr lang="en-US" smtClean="0"/>
              <a:t>4/13/2026</a:t>
            </a:fld>
            <a:endParaRPr lang="en-US"/>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0C12960-6E85-460F-B6E3-5B82CB31AF3D}" type="slidenum">
              <a:rPr lang="en-US" smtClean="0"/>
              <a:t>‹nº›</a:t>
            </a:fld>
            <a:endParaRPr lang="en-US"/>
          </a:p>
        </p:txBody>
      </p:sp>
    </p:spTree>
    <p:extLst>
      <p:ext uri="{BB962C8B-B14F-4D97-AF65-F5344CB8AC3E}">
        <p14:creationId xmlns:p14="http://schemas.microsoft.com/office/powerpoint/2010/main" val="960046369"/>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crush"/>
      </p:transition>
    </mc:Choice>
    <mc:Fallback>
      <p:transition spd="slow">
        <p:fade/>
      </p:transition>
    </mc:Fallback>
  </mc:AlternateContent>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pt-BR"/>
              <a:t>Clique para editar o título Mestre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7DA38F49-B3E2-4BF0-BEC7-C30D34ABBB8D}" type="datetime1">
              <a:rPr lang="en-US" smtClean="0"/>
              <a:t>4/13/2026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0C12960-6E85-460F-B6E3-5B82CB31AF3D}" type="slidenum">
              <a:rPr lang="en-US" smtClean="0"/>
              <a:t>‹nº›</a:t>
            </a:fld>
            <a:endParaRPr lang="en-US"/>
          </a:p>
        </p:txBody>
      </p:sp>
    </p:spTree>
    <p:extLst>
      <p:ext uri="{BB962C8B-B14F-4D97-AF65-F5344CB8AC3E}">
        <p14:creationId xmlns:p14="http://schemas.microsoft.com/office/powerpoint/2010/main" val="310688110"/>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crush"/>
      </p:transition>
    </mc:Choice>
    <mc:Fallback>
      <p:transition spd="slow">
        <p:fade/>
      </p:transition>
    </mc:Fallback>
  </mc:AlternateContent>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pt-BR"/>
              <a:t>Clique para editar o título Mestre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pt-BR"/>
              <a:t>Clique no ícone para adicionar uma imagem</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7DA38F49-B3E2-4BF0-BEC7-C30D34ABBB8D}" type="datetime1">
              <a:rPr lang="en-US" smtClean="0"/>
              <a:t>4/13/2026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0C12960-6E85-460F-B6E3-5B82CB31AF3D}" type="slidenum">
              <a:rPr lang="en-US" smtClean="0"/>
              <a:t>‹nº›</a:t>
            </a:fld>
            <a:endParaRPr lang="en-US"/>
          </a:p>
        </p:txBody>
      </p:sp>
    </p:spTree>
    <p:extLst>
      <p:ext uri="{BB962C8B-B14F-4D97-AF65-F5344CB8AC3E}">
        <p14:creationId xmlns:p14="http://schemas.microsoft.com/office/powerpoint/2010/main" val="2319828568"/>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crush"/>
      </p:transition>
    </mc:Choice>
    <mc:Fallback>
      <p:transition spd="slow">
        <p:fade/>
      </p:transition>
    </mc:Fallback>
  </mc:AlternateContent>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Foto Panorâmica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pt-BR"/>
              <a:t>Clique para editar o título Mestre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pt-BR"/>
              <a:t>Clique no ícone para adicionar uma imagem</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7DA38F49-B3E2-4BF0-BEC7-C30D34ABBB8D}" type="datetime1">
              <a:rPr lang="en-US" smtClean="0"/>
              <a:t>4/13/2026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0C12960-6E85-460F-B6E3-5B82CB31AF3D}" type="slidenum">
              <a:rPr lang="en-US" smtClean="0"/>
              <a:t>‹nº›</a:t>
            </a:fld>
            <a:endParaRPr lang="en-US"/>
          </a:p>
        </p:txBody>
      </p:sp>
    </p:spTree>
    <p:extLst>
      <p:ext uri="{BB962C8B-B14F-4D97-AF65-F5344CB8AC3E}">
        <p14:creationId xmlns:p14="http://schemas.microsoft.com/office/powerpoint/2010/main" val="3716600373"/>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crush"/>
      </p:transition>
    </mc:Choice>
    <mc:Fallback>
      <p:transition spd="slow">
        <p:fade/>
      </p:transition>
    </mc:Fallback>
  </mc:AlternateContent>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e Legenda">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pt-BR"/>
              <a:t>Clique para editar o título Mestre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7DA38F49-B3E2-4BF0-BEC7-C30D34ABBB8D}" type="datetime1">
              <a:rPr lang="en-US" smtClean="0"/>
              <a:t>4/13/2026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0C12960-6E85-460F-B6E3-5B82CB31AF3D}" type="slidenum">
              <a:rPr lang="en-US" smtClean="0"/>
              <a:t>‹nº›</a:t>
            </a:fld>
            <a:endParaRPr lang="en-US"/>
          </a:p>
        </p:txBody>
      </p:sp>
    </p:spTree>
    <p:extLst>
      <p:ext uri="{BB962C8B-B14F-4D97-AF65-F5344CB8AC3E}">
        <p14:creationId xmlns:p14="http://schemas.microsoft.com/office/powerpoint/2010/main" val="934224063"/>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crush"/>
      </p:transition>
    </mc:Choice>
    <mc:Fallback>
      <p:transition spd="slow">
        <p:fade/>
      </p:transition>
    </mc:Fallback>
  </mc:AlternateContent>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ção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pt-BR"/>
              <a:t>Clique para editar o título Mestre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7DA38F49-B3E2-4BF0-BEC7-C30D34ABBB8D}" type="datetime1">
              <a:rPr lang="en-US" smtClean="0"/>
              <a:t>4/13/2026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0C12960-6E85-460F-B6E3-5B82CB31AF3D}" type="slidenum">
              <a:rPr lang="en-US" smtClean="0"/>
              <a:t>‹nº›</a:t>
            </a:fld>
            <a:endParaRPr lang="en-US"/>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530969801"/>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crush"/>
      </p:transition>
    </mc:Choice>
    <mc:Fallback>
      <p:transition spd="slow">
        <p:fade/>
      </p:transition>
    </mc:Fallback>
  </mc:AlternateContent>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ão de Nome">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pt-BR"/>
              <a:t>Clique para editar o título Mestre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7DA38F49-B3E2-4BF0-BEC7-C30D34ABBB8D}" type="datetime1">
              <a:rPr lang="en-US" smtClean="0"/>
              <a:t>4/13/2026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0C12960-6E85-460F-B6E3-5B82CB31AF3D}" type="slidenum">
              <a:rPr lang="en-US" smtClean="0"/>
              <a:t>‹nº›</a:t>
            </a:fld>
            <a:endParaRPr lang="en-US"/>
          </a:p>
        </p:txBody>
      </p:sp>
    </p:spTree>
    <p:extLst>
      <p:ext uri="{BB962C8B-B14F-4D97-AF65-F5344CB8AC3E}">
        <p14:creationId xmlns:p14="http://schemas.microsoft.com/office/powerpoint/2010/main" val="3968835817"/>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crush"/>
      </p:transition>
    </mc:Choice>
    <mc:Fallback>
      <p:transition spd="slow">
        <p:fade/>
      </p:transition>
    </mc:Fallback>
  </mc:AlternateContent>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nas">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pt-BR"/>
              <a:t>Clique para editar o título Mestre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de texto Mestres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de texto Mestres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de texto Mestres</a:t>
            </a:r>
          </a:p>
        </p:txBody>
      </p:sp>
      <p:sp>
        <p:nvSpPr>
          <p:cNvPr id="3" name="Date Placeholder 2"/>
          <p:cNvSpPr>
            <a:spLocks noGrp="1"/>
          </p:cNvSpPr>
          <p:nvPr>
            <p:ph type="dt" sz="half" idx="10"/>
          </p:nvPr>
        </p:nvSpPr>
        <p:spPr/>
        <p:txBody>
          <a:bodyPr/>
          <a:lstStyle/>
          <a:p>
            <a:fld id="{7DA38F49-B3E2-4BF0-BEC7-C30D34ABBB8D}" type="datetime1">
              <a:rPr lang="en-US" smtClean="0"/>
              <a:t>4/13/2026</a:t>
            </a:fld>
            <a:endParaRPr lang="en-US"/>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0C12960-6E85-460F-B6E3-5B82CB31AF3D}" type="slidenum">
              <a:rPr lang="en-US" smtClean="0"/>
              <a:t>‹nº›</a:t>
            </a:fld>
            <a:endParaRPr lang="en-US"/>
          </a:p>
        </p:txBody>
      </p:sp>
    </p:spTree>
    <p:extLst>
      <p:ext uri="{BB962C8B-B14F-4D97-AF65-F5344CB8AC3E}">
        <p14:creationId xmlns:p14="http://schemas.microsoft.com/office/powerpoint/2010/main" val="139222378"/>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crush"/>
      </p:transition>
    </mc:Choice>
    <mc:Fallback>
      <p:transition spd="slow">
        <p:fade/>
      </p:transition>
    </mc:Fallback>
  </mc:AlternateContent>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Colunas de Imagem">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pt-BR"/>
              <a:t>Clique para editar o título Mestre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pt-BR"/>
              <a:t>Clique no ícone para adicionar uma imagem</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de texto Mestres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pt-BR"/>
              <a:t>Clique no ícone para adicionar uma imagem</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de texto Mestres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pt-BR"/>
              <a:t>Clique no ícone para adicionar uma imagem</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de texto Mestres</a:t>
            </a:r>
          </a:p>
        </p:txBody>
      </p:sp>
      <p:sp>
        <p:nvSpPr>
          <p:cNvPr id="3" name="Date Placeholder 2"/>
          <p:cNvSpPr>
            <a:spLocks noGrp="1"/>
          </p:cNvSpPr>
          <p:nvPr>
            <p:ph type="dt" sz="half" idx="10"/>
          </p:nvPr>
        </p:nvSpPr>
        <p:spPr/>
        <p:txBody>
          <a:bodyPr/>
          <a:lstStyle/>
          <a:p>
            <a:fld id="{7DA38F49-B3E2-4BF0-BEC7-C30D34ABBB8D}" type="datetime1">
              <a:rPr lang="en-US" smtClean="0"/>
              <a:t>4/13/2026</a:t>
            </a:fld>
            <a:endParaRPr lang="en-US"/>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0C12960-6E85-460F-B6E3-5B82CB31AF3D}" type="slidenum">
              <a:rPr lang="en-US" smtClean="0"/>
              <a:t>‹nº›</a:t>
            </a:fld>
            <a:endParaRPr lang="en-US"/>
          </a:p>
        </p:txBody>
      </p:sp>
    </p:spTree>
    <p:extLst>
      <p:ext uri="{BB962C8B-B14F-4D97-AF65-F5344CB8AC3E}">
        <p14:creationId xmlns:p14="http://schemas.microsoft.com/office/powerpoint/2010/main" val="3193832590"/>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crush"/>
      </p:transition>
    </mc:Choice>
    <mc:Fallback>
      <p:transition spd="slow">
        <p:fade/>
      </p:transition>
    </mc:Fallback>
  </mc:AlternateContent>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Vertical Text Placeholder 2"/>
          <p:cNvSpPr>
            <a:spLocks noGrp="1"/>
          </p:cNvSpPr>
          <p:nvPr>
            <p:ph type="body" orient="vert" idx="1"/>
          </p:nvPr>
        </p:nvSpPr>
        <p:spPr/>
        <p:txBody>
          <a:bodyPr vert="eaVert" ancho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7DA38F49-B3E2-4BF0-BEC7-C30D34ABBB8D}" type="datetime1">
              <a:rPr lang="en-US" smtClean="0"/>
              <a:t>4/13/2026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‹nº›</a:t>
            </a:fld>
            <a:endParaRPr lang="en-US"/>
          </a:p>
        </p:txBody>
      </p:sp>
    </p:spTree>
    <p:extLst>
      <p:ext uri="{BB962C8B-B14F-4D97-AF65-F5344CB8AC3E}">
        <p14:creationId xmlns:p14="http://schemas.microsoft.com/office/powerpoint/2010/main" val="4194121741"/>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crush"/>
      </p:transition>
    </mc:Choice>
    <mc:Fallback>
      <p:transition spd="slow">
        <p:fade/>
      </p:transition>
    </mc:Fallback>
  </mc:AlternateContent>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pt-BR"/>
              <a:t>Clique para editar o título Mestre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7DA38F49-B3E2-4BF0-BEC7-C30D34ABBB8D}" type="datetime1">
              <a:rPr lang="en-US" smtClean="0"/>
              <a:t>4/13/2026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‹nº›</a:t>
            </a:fld>
            <a:endParaRPr lang="en-US"/>
          </a:p>
        </p:txBody>
      </p:sp>
    </p:spTree>
    <p:extLst>
      <p:ext uri="{BB962C8B-B14F-4D97-AF65-F5344CB8AC3E}">
        <p14:creationId xmlns:p14="http://schemas.microsoft.com/office/powerpoint/2010/main" val="2700532186"/>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crush"/>
      </p:transition>
    </mc:Choice>
    <mc:Fallback>
      <p:transition spd="slow">
        <p:fade/>
      </p:transition>
    </mc:Fallback>
  </mc:AlternateContent>
  <p:hf sldNum="0" hdr="0" ftr="0" dt="0"/>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 Id="rId1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7DA38F49-B3E2-4BF0-BEC7-C30D34ABBB8D}" type="datetime1">
              <a:rPr lang="en-US" smtClean="0"/>
              <a:t>4/13/2026</a:t>
            </a:fld>
            <a:endParaRPr lang="en-US"/>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70C12960-6E85-460F-B6E3-5B82CB31AF3D}" type="slidenum">
              <a:rPr lang="en-US" smtClean="0"/>
              <a:t>‹nº›</a:t>
            </a:fld>
            <a:endParaRPr lang="en-US"/>
          </a:p>
        </p:txBody>
      </p:sp>
    </p:spTree>
    <p:extLst>
      <p:ext uri="{BB962C8B-B14F-4D97-AF65-F5344CB8AC3E}">
        <p14:creationId xmlns:p14="http://schemas.microsoft.com/office/powerpoint/2010/main" val="4111653799"/>
      </p:ext>
    </p:extLst>
  </p:cSld>
  <p:clrMap bg1="dk1" tx1="lt1" bg2="dk2" tx2="lt2" accent1="accent1" accent2="accent2" accent3="accent3" accent4="accent4" accent5="accent5" accent6="accent6" hlink="hlink" folHlink="folHlink"/>
  <p:sldLayoutIdLst>
    <p:sldLayoutId id="2147483949" r:id="rId1"/>
    <p:sldLayoutId id="2147483950" r:id="rId2"/>
    <p:sldLayoutId id="2147483951" r:id="rId3"/>
    <p:sldLayoutId id="2147483952" r:id="rId4"/>
    <p:sldLayoutId id="2147483953" r:id="rId5"/>
    <p:sldLayoutId id="2147483954" r:id="rId6"/>
    <p:sldLayoutId id="2147483955" r:id="rId7"/>
    <p:sldLayoutId id="2147483956" r:id="rId8"/>
    <p:sldLayoutId id="2147483957" r:id="rId9"/>
    <p:sldLayoutId id="2147483958" r:id="rId10"/>
    <p:sldLayoutId id="2147483959" r:id="rId11"/>
    <p:sldLayoutId id="2147483960" r:id="rId12"/>
    <p:sldLayoutId id="2147483961" r:id="rId13"/>
    <p:sldLayoutId id="2147483962" r:id="rId14"/>
    <p:sldLayoutId id="2147483963" r:id="rId15"/>
    <p:sldLayoutId id="2147483964" r:id="rId16"/>
    <p:sldLayoutId id="2147483965" r:id="rId17"/>
  </p:sldLayoutIdLst>
  <mc:AlternateContent xmlns:mc="http://schemas.openxmlformats.org/markup-compatibility/2006">
    <mc:Choice xmlns:p15="http://schemas.microsoft.com/office/powerpoint/2012/main" Requires="p15">
      <p:transition xmlns:p14="http://schemas.microsoft.com/office/powerpoint/2010/main" spd="slow" p14:dur="2000">
        <p15:prstTrans prst="crush"/>
      </p:transition>
    </mc:Choice>
    <mc:Fallback>
      <p:transition spd="slow">
        <p:fade/>
      </p:transition>
    </mc:Fallback>
  </mc:AlternateContent>
  <p:hf sldNum="0" hdr="0" ftr="0" dt="0"/>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Avaliação de Acessibilidade Web com as Diretrizes WCAG 2.1</a:t>
            </a:r>
          </a:p>
        </p:txBody>
      </p:sp>
      <p:sp>
        <p:nvSpPr>
          <p:cNvPr id="3" name="Subtitle 2"/>
          <p:cNvSpPr>
            <a:spLocks noGrp="1"/>
          </p:cNvSpPr>
          <p:nvPr>
            <p:ph type="subTitle" idx="1"/>
          </p:nvPr>
        </p:nvSpPr>
        <p:spPr/>
        <p:txBody>
          <a:bodyPr wrap="square"/>
          <a:lstStyle/>
          <a:p>
            <a:pPr>
              <a:spcAft>
                <a:spcPts val="600"/>
              </a:spcAft>
            </a:pPr>
            <a:r>
              <a:rPr sz="2000">
                <a:latin typeface="Arial"/>
              </a:rPr>
              <a:t>Portal Demonstrativo do Campus Centro (site fictício, servido localmente)
Guilherme de Oliveira Pontes Pinto · Kelven Eduardo Terto dos Santos
Bacharelado em Sistemas de Informação — Interação Humano-Computador — 09 / 2026
[DEMONSTRAÇÃO - portal fictício local, não é um site real]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spcAft>
                <a:spcPts val="0"/>
              </a:spcAft>
            </a:pPr>
            <a:r>
              <a:rPr sz="2800">
                <a:latin typeface="Arial"/>
              </a:rPr>
              <a:t>O que são as WCAG?</a:t>
            </a:r>
          </a:p>
        </p:txBody>
      </p:sp>
      <p:sp>
        <p:nvSpPr>
          <p:cNvPr id="3" name="Content Placeholder 2"/>
          <p:cNvSpPr>
            <a:spLocks noGrp="1"/>
          </p:cNvSpPr>
          <p:nvPr>
            <p:ph idx="1"/>
          </p:nvPr>
        </p:nvSpPr>
        <p:spPr/>
        <p:txBody>
          <a:bodyPr wrap="square"/>
          <a:lstStyle/>
          <a:p>
            <a:pPr>
              <a:spcAft>
                <a:spcPts val="600"/>
              </a:spcAft>
            </a:pPr>
            <a:r>
              <a:rPr sz="1700">
                <a:latin typeface="Arial"/>
              </a:rPr>
              <a:t>Web Content Accessibility Guidelines — recomendação do W3C, versão 2.1 (2018)</a:t>
            </a:r>
          </a:p>
          <a:p>
            <a:pPr>
              <a:spcAft>
                <a:spcPts val="600"/>
              </a:spcAft>
            </a:pPr>
            <a:r>
              <a:rPr sz="1700">
                <a:latin typeface="Arial"/>
              </a:rPr>
              <a:t>Organizadas em 4 princípios (POUR):</a:t>
            </a:r>
          </a:p>
          <a:p>
            <a:pPr lvl="1">
              <a:spcAft>
                <a:spcPts val="600"/>
              </a:spcAft>
            </a:pPr>
            <a:r>
              <a:rPr sz="1400">
                <a:latin typeface="Arial"/>
              </a:rPr>
              <a:t>Perceptível — a informação precisa chegar aos sentidos do usuário</a:t>
            </a:r>
          </a:p>
          <a:p>
            <a:pPr lvl="1">
              <a:spcAft>
                <a:spcPts val="600"/>
              </a:spcAft>
            </a:pPr>
            <a:r>
              <a:rPr sz="1400">
                <a:latin typeface="Arial"/>
              </a:rPr>
              <a:t>Operável — a interface precisa ser utilizável por qualquer forma de entrada</a:t>
            </a:r>
          </a:p>
          <a:p>
            <a:pPr lvl="1">
              <a:spcAft>
                <a:spcPts val="600"/>
              </a:spcAft>
            </a:pPr>
            <a:r>
              <a:rPr sz="1400">
                <a:latin typeface="Arial"/>
              </a:rPr>
              <a:t>Compreensível — conteúdo e operação precisam ser previsíveis</a:t>
            </a:r>
          </a:p>
          <a:p>
            <a:pPr lvl="1">
              <a:spcAft>
                <a:spcPts val="600"/>
              </a:spcAft>
            </a:pPr>
            <a:r>
              <a:rPr sz="1400">
                <a:latin typeface="Arial"/>
              </a:rPr>
              <a:t>Robusto — o código precisa funcionar com tecnologias assistivas</a:t>
            </a:r>
          </a:p>
          <a:p>
            <a:pPr>
              <a:spcAft>
                <a:spcPts val="600"/>
              </a:spcAft>
            </a:pPr>
            <a:r>
              <a:rPr sz="1700">
                <a:latin typeface="Arial"/>
              </a:rPr>
              <a:t>78 critérios de sucesso distribuídos em 3 níveis: A, AA e AAA</a:t>
            </a:r>
          </a:p>
          <a:p>
            <a:pPr>
              <a:spcAft>
                <a:spcPts val="600"/>
              </a:spcAft>
            </a:pPr>
            <a:r>
              <a:rPr sz="1700">
                <a:latin typeface="Arial"/>
              </a:rPr>
              <a:t>No Brasil: eMAG 3.1 (2014) adapta as WCAG ao governo eletrônico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spcAft>
                <a:spcPts val="0"/>
              </a:spcAft>
            </a:pPr>
            <a:r>
              <a:rPr sz="2800">
                <a:latin typeface="Arial"/>
              </a:rPr>
              <a:t>Por que avaliar acessibilidade?</a:t>
            </a:r>
          </a:p>
        </p:txBody>
      </p:sp>
      <p:sp>
        <p:nvSpPr>
          <p:cNvPr id="3" name="Content Placeholder 2"/>
          <p:cNvSpPr>
            <a:spLocks noGrp="1"/>
          </p:cNvSpPr>
          <p:nvPr>
            <p:ph idx="1"/>
          </p:nvPr>
        </p:nvSpPr>
        <p:spPr/>
        <p:txBody>
          <a:bodyPr wrap="square"/>
          <a:lstStyle/>
          <a:p>
            <a:pPr>
              <a:spcAft>
                <a:spcPts val="600"/>
              </a:spcAft>
            </a:pPr>
            <a:r>
              <a:rPr sz="1800">
                <a:latin typeface="Arial"/>
              </a:rPr>
              <a:t>14,4 milhões de brasileiros com deficiência (Censo IBGE 2022)</a:t>
            </a:r>
          </a:p>
          <a:p>
            <a:pPr>
              <a:spcAft>
                <a:spcPts val="600"/>
              </a:spcAft>
            </a:pPr>
            <a:r>
              <a:rPr sz="1800">
                <a:latin typeface="Arial"/>
              </a:rPr>
              <a:t>Exigência legal, não apenas boa prática:</a:t>
            </a:r>
          </a:p>
          <a:p>
            <a:pPr lvl="1">
              <a:spcAft>
                <a:spcPts val="600"/>
              </a:spcAft>
            </a:pPr>
            <a:r>
              <a:rPr sz="1500">
                <a:latin typeface="Arial"/>
              </a:rPr>
              <a:t>Decreto nº 5.296/2004 — portais da administração pública</a:t>
            </a:r>
          </a:p>
          <a:p>
            <a:pPr lvl="1">
              <a:spcAft>
                <a:spcPts val="600"/>
              </a:spcAft>
            </a:pPr>
            <a:r>
              <a:rPr sz="1500">
                <a:latin typeface="Arial"/>
              </a:rPr>
              <a:t>Lei Brasileira de Inclusão nº 13.146/2015, art. 63 — sites em geral</a:t>
            </a:r>
          </a:p>
          <a:p>
            <a:pPr>
              <a:spcAft>
                <a:spcPts val="600"/>
              </a:spcAft>
            </a:pPr>
            <a:r>
              <a:rPr sz="1800">
                <a:latin typeface="Arial"/>
              </a:rPr>
              <a:t>Acessibilidade beneficia todos: legendas, contraste e navegação por teclado</a:t>
            </a:r>
          </a:p>
          <a:p>
            <a:pPr lvl="1">
              <a:spcAft>
                <a:spcPts val="600"/>
              </a:spcAft>
            </a:pPr>
            <a:r>
              <a:rPr sz="1500">
                <a:latin typeface="Arial"/>
              </a:rPr>
              <a:t>melhoram a experiência de qualquer usuário em qualquer contexto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spcAft>
                <a:spcPts val="0"/>
              </a:spcAft>
            </a:pPr>
            <a:r>
              <a:rPr sz="2800">
                <a:latin typeface="Arial"/>
              </a:rPr>
              <a:t>Site avaliado</a:t>
            </a:r>
          </a:p>
        </p:txBody>
      </p:sp>
      <p:sp>
        <p:nvSpPr>
          <p:cNvPr id="3" name="Content Placeholder 2"/>
          <p:cNvSpPr>
            <a:spLocks noGrp="1"/>
          </p:cNvSpPr>
          <p:nvPr>
            <p:ph idx="1"/>
          </p:nvPr>
        </p:nvSpPr>
        <p:spPr/>
        <p:txBody>
          <a:bodyPr wrap="square"/>
          <a:lstStyle/>
          <a:p>
            <a:pPr>
              <a:spcAft>
                <a:spcPts val="600"/>
              </a:spcAft>
            </a:pPr>
            <a:r>
              <a:rPr sz="1700">
                <a:latin typeface="Arial"/>
              </a:rPr>
              <a:t>Portal Demonstrativo do Campus Centro (site fictício, servido localmente)</a:t>
            </a:r>
          </a:p>
          <a:p>
            <a:pPr lvl="1">
              <a:spcAft>
                <a:spcPts val="600"/>
              </a:spcAft>
            </a:pPr>
            <a:r>
              <a:rPr sz="1400">
                <a:latin typeface="Arial"/>
              </a:rPr>
              <a:t>http://localhost:8777/index.html</a:t>
            </a:r>
          </a:p>
          <a:p>
            <a:pPr>
              <a:spcAft>
                <a:spcPts val="600"/>
              </a:spcAft>
            </a:pPr>
            <a:r>
              <a:rPr sz="1700">
                <a:latin typeface="Arial"/>
              </a:rPr>
              <a:t>Por que este site:</a:t>
            </a:r>
          </a:p>
          <a:p>
            <a:pPr lvl="1">
              <a:spcAft>
                <a:spcPts val="600"/>
              </a:spcAft>
            </a:pPr>
            <a:r>
              <a:rPr sz="1400">
                <a:latin typeface="Arial"/>
              </a:rPr>
              <a:t>Este é um portal fictício de três páginas, construído propositalmente com os defeitos de acessibilidade mais comuns em sítios institucionais brasileiros (imagens sem alternativa textual, hierarquia de cabeçalhos quebrada, campo de busca sem rótulo, contraste insuficiente, largura fixa e bloqueio de zoom), servido em localhost para que todas as etapas da metodologia possam ser executadas e conferid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spcAft>
                <a:spcPts val="0"/>
              </a:spcAft>
            </a:pPr>
            <a:r>
              <a:rPr sz="2800">
                <a:latin typeface="Arial"/>
              </a:rPr>
              <a:t>Metodologia em 4 etapas</a:t>
            </a:r>
          </a:p>
        </p:txBody>
      </p:sp>
      <p:sp>
        <p:nvSpPr>
          <p:cNvPr id="3" name="Content Placeholder 2"/>
          <p:cNvSpPr>
            <a:spLocks noGrp="1"/>
          </p:cNvSpPr>
          <p:nvPr>
            <p:ph idx="1"/>
          </p:nvPr>
        </p:nvSpPr>
        <p:spPr/>
        <p:txBody>
          <a:bodyPr wrap="square"/>
          <a:lstStyle/>
          <a:p>
            <a:pPr>
              <a:spcAft>
                <a:spcPts val="600"/>
              </a:spcAft>
            </a:pPr>
            <a:r>
              <a:rPr sz="1700">
                <a:latin typeface="Arial"/>
              </a:rPr>
              <a:t>1. Inspeção manual — checklist de 15 itens mapeados à WCAG 2.1 e ao eMAG 3.1</a:t>
            </a:r>
          </a:p>
          <a:p>
            <a:pPr>
              <a:spcAft>
                <a:spcPts val="600"/>
              </a:spcAft>
            </a:pPr>
            <a:r>
              <a:rPr sz="1700">
                <a:latin typeface="Arial"/>
              </a:rPr>
              <a:t>2. Avaliação automatizada — WAVE, ASES e auditor próprio em Python</a:t>
            </a:r>
          </a:p>
          <a:p>
            <a:pPr>
              <a:spcAft>
                <a:spcPts val="600"/>
              </a:spcAft>
            </a:pPr>
            <a:r>
              <a:rPr sz="1700">
                <a:latin typeface="Arial"/>
              </a:rPr>
              <a:t>3. Simulação mobile automatizada — Chromium emulando smartphone, árvore de</a:t>
            </a:r>
          </a:p>
          <a:p>
            <a:pPr lvl="1">
              <a:spcAft>
                <a:spcPts val="600"/>
              </a:spcAft>
            </a:pPr>
            <a:r>
              <a:rPr sz="1400">
                <a:latin typeface="Arial"/>
              </a:rPr>
              <a:t>acessibilidade, alvos de toque, reflow e contraste</a:t>
            </a:r>
          </a:p>
          <a:p>
            <a:pPr>
              <a:spcAft>
                <a:spcPts val="600"/>
              </a:spcAft>
            </a:pPr>
            <a:r>
              <a:rPr sz="1700">
                <a:latin typeface="Arial"/>
              </a:rPr>
              <a:t>4. Teste real com leitor de tela — tarefa completa sem apoio visual</a:t>
            </a:r>
          </a:p>
          <a:p>
            <a:pPr>
              <a:spcAft>
                <a:spcPts val="600"/>
              </a:spcAft>
            </a:pPr>
            <a:r>
              <a:rPr sz="1700">
                <a:latin typeface="Arial"/>
              </a:rPr>
              <a:t>Triangulação: ferramenta automática cobre só parte dos critérios;</a:t>
            </a:r>
          </a:p>
          <a:p>
            <a:pPr lvl="1">
              <a:spcAft>
                <a:spcPts val="600"/>
              </a:spcAft>
            </a:pPr>
            <a:r>
              <a:rPr sz="1400">
                <a:latin typeface="Arial"/>
              </a:rPr>
              <a:t>os demais exigem julgamento humano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spcAft>
                <a:spcPts val="0"/>
              </a:spcAft>
            </a:pPr>
            <a:r>
              <a:rPr sz="2800">
                <a:latin typeface="Arial"/>
              </a:rPr>
              <a:t>Checklist de 15 itens — resultados (1/2)</a:t>
            </a:r>
          </a:p>
        </p:txBody>
      </p:sp>
      <p:sp>
        <p:nvSpPr>
          <p:cNvPr id="3" name="Content Placeholder 2"/>
          <p:cNvSpPr>
            <a:spLocks noGrp="1"/>
          </p:cNvSpPr>
          <p:nvPr>
            <p:ph idx="1"/>
          </p:nvPr>
        </p:nvSpPr>
        <p:spPr/>
        <p:txBody>
          <a:bodyPr wrap="square"/>
          <a:lstStyle/>
          <a:p>
            <a:pPr>
              <a:spcAft>
                <a:spcPts val="600"/>
              </a:spcAft>
            </a:pPr>
            <a:r>
              <a:rPr sz="1500">
                <a:latin typeface="Arial"/>
              </a:rPr>
              <a:t>1. Texto alternativo em imagens — 1.1.1 (A): Não conforme</a:t>
            </a:r>
          </a:p>
          <a:p>
            <a:pPr>
              <a:spcAft>
                <a:spcPts val="600"/>
              </a:spcAft>
            </a:pPr>
            <a:r>
              <a:rPr sz="1500">
                <a:latin typeface="Arial"/>
              </a:rPr>
              <a:t>2. Hierarquia de cabeçalhos — 1.3.1 (A): Não conforme</a:t>
            </a:r>
          </a:p>
          <a:p>
            <a:pPr>
              <a:spcAft>
                <a:spcPts val="600"/>
              </a:spcAft>
            </a:pPr>
            <a:r>
              <a:rPr sz="1500">
                <a:latin typeface="Arial"/>
              </a:rPr>
              <a:t>3. Idioma da página declarado — 3.1.1 (A): Conforme</a:t>
            </a:r>
          </a:p>
          <a:p>
            <a:pPr>
              <a:spcAft>
                <a:spcPts val="600"/>
              </a:spcAft>
            </a:pPr>
            <a:r>
              <a:rPr sz="1500">
                <a:latin typeface="Arial"/>
              </a:rPr>
              <a:t>4. Título de página descritivo — 2.4.2 (A): Conforme</a:t>
            </a:r>
          </a:p>
          <a:p>
            <a:pPr>
              <a:spcAft>
                <a:spcPts val="600"/>
              </a:spcAft>
            </a:pPr>
            <a:r>
              <a:rPr sz="1500">
                <a:latin typeface="Arial"/>
              </a:rPr>
              <a:t>5. Contraste mínimo de cores — 1.4.3 (AA): Não conforme</a:t>
            </a:r>
          </a:p>
          <a:p>
            <a:pPr>
              <a:spcAft>
                <a:spcPts val="600"/>
              </a:spcAft>
            </a:pPr>
            <a:r>
              <a:rPr sz="1500">
                <a:latin typeface="Arial"/>
              </a:rPr>
              <a:t>6. Cor não é o único meio de transmitir informação — 1.4.1 (A): Parcial</a:t>
            </a:r>
          </a:p>
          <a:p>
            <a:pPr>
              <a:spcAft>
                <a:spcPts val="600"/>
              </a:spcAft>
            </a:pPr>
            <a:r>
              <a:rPr sz="1500">
                <a:latin typeface="Arial"/>
              </a:rPr>
              <a:t>7. Redimensionamento de texto até 200% — 1.4.4 (AA): Não conforme</a:t>
            </a:r>
          </a:p>
          <a:p>
            <a:pPr>
              <a:spcAft>
                <a:spcPts val="600"/>
              </a:spcAft>
            </a:pPr>
            <a:r>
              <a:rPr sz="1500">
                <a:latin typeface="Arial"/>
              </a:rPr>
              <a:t>8. Navegação completa por teclado — 2.1.1 (A): Parcial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spcAft>
                <a:spcPts val="0"/>
              </a:spcAft>
            </a:pPr>
            <a:r>
              <a:rPr sz="2800">
                <a:latin typeface="Arial"/>
              </a:rPr>
              <a:t>Checklist de 15 itens — resultados (2/2)</a:t>
            </a:r>
          </a:p>
        </p:txBody>
      </p:sp>
      <p:sp>
        <p:nvSpPr>
          <p:cNvPr id="3" name="Content Placeholder 2"/>
          <p:cNvSpPr>
            <a:spLocks noGrp="1"/>
          </p:cNvSpPr>
          <p:nvPr>
            <p:ph idx="1"/>
          </p:nvPr>
        </p:nvSpPr>
        <p:spPr/>
        <p:txBody>
          <a:bodyPr wrap="square"/>
          <a:lstStyle/>
          <a:p>
            <a:pPr>
              <a:spcAft>
                <a:spcPts val="600"/>
              </a:spcAft>
            </a:pPr>
            <a:r>
              <a:rPr sz="1500">
                <a:latin typeface="Arial"/>
              </a:rPr>
              <a:t>9. Indicador de foco visível — 2.4.7 (AA): Não conforme</a:t>
            </a:r>
          </a:p>
          <a:p>
            <a:pPr>
              <a:spcAft>
                <a:spcPts val="600"/>
              </a:spcAft>
            </a:pPr>
            <a:r>
              <a:rPr sz="1500">
                <a:latin typeface="Arial"/>
              </a:rPr>
              <a:t>10. Link para pular ao conteúdo principal — 2.4.1 (A): Não conforme</a:t>
            </a:r>
          </a:p>
          <a:p>
            <a:pPr>
              <a:spcAft>
                <a:spcPts val="600"/>
              </a:spcAft>
            </a:pPr>
            <a:r>
              <a:rPr sz="1500">
                <a:latin typeface="Arial"/>
              </a:rPr>
              <a:t>11. Rótulos associados aos campos de formulário — 3.3.2 (A): Não conforme</a:t>
            </a:r>
          </a:p>
          <a:p>
            <a:pPr>
              <a:spcAft>
                <a:spcPts val="600"/>
              </a:spcAft>
            </a:pPr>
            <a:r>
              <a:rPr sz="1500">
                <a:latin typeface="Arial"/>
              </a:rPr>
              <a:t>12. Identificação e sugestão de correção de erros — 3.3.1 (A / AA): Não conforme</a:t>
            </a:r>
          </a:p>
          <a:p>
            <a:pPr>
              <a:spcAft>
                <a:spcPts val="600"/>
              </a:spcAft>
            </a:pPr>
            <a:r>
              <a:rPr sz="1500">
                <a:latin typeface="Arial"/>
              </a:rPr>
              <a:t>13. Links com texto descritivo — 2.4.4 (A): Não conforme</a:t>
            </a:r>
          </a:p>
          <a:p>
            <a:pPr>
              <a:spcAft>
                <a:spcPts val="600"/>
              </a:spcAft>
            </a:pPr>
            <a:r>
              <a:rPr sz="1500">
                <a:latin typeface="Arial"/>
              </a:rPr>
              <a:t>14. Controle de conteúdo em movimento — 2.2.2 (A): Conforme</a:t>
            </a:r>
          </a:p>
          <a:p>
            <a:pPr>
              <a:spcAft>
                <a:spcPts val="600"/>
              </a:spcAft>
            </a:pPr>
            <a:r>
              <a:rPr sz="1500">
                <a:latin typeface="Arial"/>
              </a:rPr>
              <a:t>15. Estrutura semântica e marcação válida — 1.3.1 (A): Não conforme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spcAft>
                <a:spcPts val="0"/>
              </a:spcAft>
            </a:pPr>
            <a:r>
              <a:rPr sz="2800">
                <a:latin typeface="Arial"/>
              </a:rPr>
              <a:t>Avaliadores automáticos: WAVE e ASES</a:t>
            </a:r>
          </a:p>
        </p:txBody>
      </p:sp>
      <p:sp>
        <p:nvSpPr>
          <p:cNvPr id="3" name="Content Placeholder 2"/>
          <p:cNvSpPr>
            <a:spLocks noGrp="1"/>
          </p:cNvSpPr>
          <p:nvPr>
            <p:ph idx="1"/>
          </p:nvPr>
        </p:nvSpPr>
        <p:spPr/>
        <p:txBody>
          <a:bodyPr wrap="square"/>
          <a:lstStyle/>
          <a:p>
            <a:pPr>
              <a:spcAft>
                <a:spcPts val="600"/>
              </a:spcAft>
            </a:pPr>
            <a:r>
              <a:rPr sz="1600">
                <a:latin typeface="Arial"/>
              </a:rPr>
              <a:t>WAVE (WebAIM):</a:t>
            </a:r>
          </a:p>
          <a:p>
            <a:pPr lvl="1">
              <a:spcAft>
                <a:spcPts val="600"/>
              </a:spcAft>
            </a:pPr>
            <a:r>
              <a:rPr sz="1300">
                <a:latin typeface="Arial"/>
              </a:rPr>
              <a:t>Errors: não executado   |   Contrast Errors: não executado   |   Alerts: não executado</a:t>
            </a:r>
          </a:p>
          <a:p>
            <a:pPr lvl="1">
              <a:spcAft>
                <a:spcPts val="600"/>
              </a:spcAft>
            </a:pPr>
            <a:r>
              <a:rPr sz="1300">
                <a:latin typeface="Arial"/>
              </a:rPr>
              <a:t>Principais erros: o WAVE e o ASES não puderam ser executados nesta demonstração porque ambos exigem uma URL pública e o portal de teste é servido em localhost. Na avali</a:t>
            </a:r>
          </a:p>
          <a:p>
            <a:pPr>
              <a:spcAft>
                <a:spcPts val="600"/>
              </a:spcAft>
            </a:pPr>
            <a:r>
              <a:rPr sz="1600">
                <a:latin typeface="Arial"/>
              </a:rPr>
              <a:t>ASES (Governo Federal — eMAG 3.1):</a:t>
            </a:r>
          </a:p>
          <a:p>
            <a:pPr lvl="1">
              <a:spcAft>
                <a:spcPts val="600"/>
              </a:spcAft>
            </a:pPr>
            <a:r>
              <a:rPr sz="1300">
                <a:latin typeface="Arial"/>
              </a:rPr>
              <a:t>Nota geral: não executado%</a:t>
            </a:r>
          </a:p>
          <a:p>
            <a:pPr lvl="1">
              <a:spcAft>
                <a:spcPts val="600"/>
              </a:spcAft>
            </a:pPr>
            <a:r>
              <a:rPr sz="1300">
                <a:latin typeface="Arial"/>
              </a:rPr>
              <a:t>Marcação não executado erros · Conteúdo não executado erros · Formulários não executado erros</a:t>
            </a:r>
          </a:p>
          <a:p>
            <a:pPr>
              <a:spcAft>
                <a:spcPts val="600"/>
              </a:spcAft>
            </a:pPr>
            <a:r>
              <a:rPr sz="1600">
                <a:latin typeface="Arial"/>
              </a:rPr>
              <a:t>Limitação: detectam ausência de alt, mas não julgam se o alt descreve bem a imagem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spcAft>
                <a:spcPts val="0"/>
              </a:spcAft>
            </a:pPr>
            <a:r>
              <a:rPr sz="2800">
                <a:latin typeface="Arial"/>
              </a:rPr>
              <a:t>Simulação automatizada em smartphone</a:t>
            </a:r>
          </a:p>
        </p:txBody>
      </p:sp>
      <p:sp>
        <p:nvSpPr>
          <p:cNvPr id="3" name="Content Placeholder 2"/>
          <p:cNvSpPr>
            <a:spLocks noGrp="1"/>
          </p:cNvSpPr>
          <p:nvPr>
            <p:ph idx="1"/>
          </p:nvPr>
        </p:nvSpPr>
        <p:spPr/>
        <p:txBody>
          <a:bodyPr wrap="square"/>
          <a:lstStyle/>
          <a:p>
            <a:pPr>
              <a:spcAft>
                <a:spcPts val="600"/>
              </a:spcAft>
            </a:pPr>
            <a:r>
              <a:rPr sz="1600">
                <a:latin typeface="Arial"/>
              </a:rPr>
              <a:t>Aparelho emulado: Google Pixel 7 (TalkBack) — 412×915 px</a:t>
            </a:r>
          </a:p>
          <a:p>
            <a:pPr>
              <a:spcAft>
                <a:spcPts val="600"/>
              </a:spcAft>
            </a:pPr>
            <a:r>
              <a:rPr sz="1600">
                <a:latin typeface="Arial"/>
              </a:rPr>
              <a:t>Elementos anunciados SEM RÓTULO: 4  (WCAG 1.1.1 / 4.1.2 — A)</a:t>
            </a:r>
          </a:p>
          <a:p>
            <a:pPr>
              <a:spcAft>
                <a:spcPts val="600"/>
              </a:spcAft>
            </a:pPr>
            <a:r>
              <a:rPr sz="1600">
                <a:latin typeface="Arial"/>
              </a:rPr>
              <a:t>Deslizes até o conteúdo principal: 3  (WCAG 2.4.1 — A)</a:t>
            </a:r>
          </a:p>
          <a:p>
            <a:pPr>
              <a:spcAft>
                <a:spcPts val="600"/>
              </a:spcAft>
            </a:pPr>
            <a:r>
              <a:rPr sz="1600">
                <a:latin typeface="Arial"/>
              </a:rPr>
              <a:t>Sem indicador de foco visível: 23  (WCAG 2.4.7 — AA)</a:t>
            </a:r>
          </a:p>
          <a:p>
            <a:pPr>
              <a:spcAft>
                <a:spcPts val="600"/>
              </a:spcAft>
            </a:pPr>
            <a:r>
              <a:rPr sz="1600">
                <a:latin typeface="Arial"/>
              </a:rPr>
              <a:t>Alvos de toque menores que 24×24 px: 6  (WCAG 2.5.8 — AA)</a:t>
            </a:r>
          </a:p>
          <a:p>
            <a:pPr>
              <a:spcAft>
                <a:spcPts val="600"/>
              </a:spcAft>
            </a:pPr>
            <a:r>
              <a:rPr sz="1600">
                <a:latin typeface="Arial"/>
              </a:rPr>
              <a:t>Rolagem horizontal em 320 px: sim  (WCAG 1.4.10 — AA)</a:t>
            </a:r>
          </a:p>
          <a:p>
            <a:pPr>
              <a:spcAft>
                <a:spcPts val="600"/>
              </a:spcAft>
            </a:pPr>
            <a:r>
              <a:rPr sz="1600">
                <a:latin typeface="Arial"/>
              </a:rPr>
              <a:t>Contraste reprovado em 6 de 50 trechos — pior razão 2.17:1  (WCAG 1.4.3 — AA)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spcAft>
                <a:spcPts val="0"/>
              </a:spcAft>
            </a:pPr>
            <a:r>
              <a:rPr sz="2800">
                <a:latin typeface="Arial"/>
              </a:rPr>
              <a:t>O que o leitor de tela realmente anuncia</a:t>
            </a:r>
          </a:p>
        </p:txBody>
      </p:sp>
      <p:sp>
        <p:nvSpPr>
          <p:cNvPr id="3" name="Content Placeholder 2"/>
          <p:cNvSpPr>
            <a:spLocks noGrp="1"/>
          </p:cNvSpPr>
          <p:nvPr>
            <p:ph idx="1"/>
          </p:nvPr>
        </p:nvSpPr>
        <p:spPr/>
        <p:txBody>
          <a:bodyPr wrap="square"/>
          <a:lstStyle/>
          <a:p>
            <a:pPr>
              <a:spcAft>
                <a:spcPts val="600"/>
              </a:spcAft>
            </a:pPr>
            <a:r>
              <a:rPr sz="1600">
                <a:latin typeface="Arial"/>
              </a:rPr>
              <a:t>1. cabeçalho da página</a:t>
            </a:r>
          </a:p>
          <a:p>
            <a:pPr>
              <a:spcAft>
                <a:spcPts val="600"/>
              </a:spcAft>
            </a:pPr>
            <a:r>
              <a:rPr sz="1600">
                <a:latin typeface="Arial"/>
              </a:rPr>
              <a:t>2. região de navegação</a:t>
            </a:r>
          </a:p>
          <a:p>
            <a:pPr>
              <a:spcAft>
                <a:spcPts val="600"/>
              </a:spcAft>
            </a:pPr>
            <a:r>
              <a:rPr sz="1600">
                <a:latin typeface="Arial"/>
              </a:rPr>
              <a:t>3. região principal</a:t>
            </a:r>
          </a:p>
          <a:p>
            <a:pPr>
              <a:spcAft>
                <a:spcPts val="600"/>
              </a:spcAft>
            </a:pPr>
            <a:r>
              <a:rPr sz="1600">
                <a:latin typeface="Arial"/>
              </a:rPr>
              <a:t>4. rodapé da página</a:t>
            </a:r>
          </a:p>
          <a:p>
            <a:pPr>
              <a:spcAft>
                <a:spcPts val="600"/>
              </a:spcAft>
            </a:pPr>
            <a:r>
              <a:rPr sz="1600">
                <a:latin typeface="Arial"/>
              </a:rPr>
              <a:t>5. Acessibilidade, link</a:t>
            </a:r>
          </a:p>
          <a:p>
            <a:pPr>
              <a:spcAft>
                <a:spcPts val="600"/>
              </a:spcAft>
            </a:pPr>
            <a:r>
              <a:rPr sz="1600">
                <a:latin typeface="Arial"/>
              </a:rPr>
              <a:t>6. Alto contraste, link</a:t>
            </a:r>
          </a:p>
          <a:p>
            <a:pPr>
              <a:spcAft>
                <a:spcPts val="600"/>
              </a:spcAft>
            </a:pPr>
            <a:r>
              <a:rPr sz="1600">
                <a:latin typeface="Arial"/>
              </a:rPr>
              <a:t>7. Mapa do site, link</a:t>
            </a:r>
          </a:p>
          <a:p>
            <a:pPr>
              <a:spcAft>
                <a:spcPts val="600"/>
              </a:spcAft>
            </a:pPr>
            <a:r>
              <a:rPr sz="1600">
                <a:latin typeface="Arial"/>
              </a:rPr>
              <a:t>8. &lt;&lt;imagem SEM RÓTULO&gt;&gt;</a:t>
            </a:r>
          </a:p>
          <a:p>
            <a:pPr>
              <a:spcAft>
                <a:spcPts val="600"/>
              </a:spcAft>
            </a:pPr>
            <a:r>
              <a:rPr sz="1600">
                <a:latin typeface="Arial"/>
              </a:rPr>
              <a:t>9. Instituto Municipal de Tecnologia · Campus Centro, título nível 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spcAft>
                <a:spcPts val="0"/>
              </a:spcAft>
            </a:pPr>
            <a:r>
              <a:rPr sz="2800">
                <a:latin typeface="Arial"/>
              </a:rPr>
              <a:t>Tarefa complementar: uso real com leitor de tela</a:t>
            </a:r>
          </a:p>
        </p:txBody>
      </p:sp>
      <p:sp>
        <p:nvSpPr>
          <p:cNvPr id="3" name="Content Placeholder 2"/>
          <p:cNvSpPr>
            <a:spLocks noGrp="1"/>
          </p:cNvSpPr>
          <p:nvPr>
            <p:ph idx="1"/>
          </p:nvPr>
        </p:nvSpPr>
        <p:spPr/>
        <p:txBody>
          <a:bodyPr wrap="square"/>
          <a:lstStyle/>
          <a:p>
            <a:pPr>
              <a:spcAft>
                <a:spcPts val="600"/>
              </a:spcAft>
            </a:pPr>
            <a:r>
              <a:rPr sz="1700">
                <a:latin typeface="Arial"/>
              </a:rPr>
              <a:t>Aparelho: Google Pixel 7 (emulado pelo simulador) e aparelho físico Android — TalkBack</a:t>
            </a:r>
          </a:p>
          <a:p>
            <a:pPr>
              <a:spcAft>
                <a:spcPts val="600"/>
              </a:spcAft>
            </a:pPr>
            <a:r>
              <a:rPr sz="1700">
                <a:latin typeface="Arial"/>
              </a:rPr>
              <a:t>Tarefa: Localizar, a partir da página inicial, a notícia sobre a premiação dos estudantes e abrir a matéria completa, usando apenas o leitor de tela.</a:t>
            </a:r>
          </a:p>
          <a:p>
            <a:pPr>
              <a:spcAft>
                <a:spcPts val="600"/>
              </a:spcAft>
            </a:pPr>
            <a:r>
              <a:rPr sz="1700">
                <a:latin typeface="Arial"/>
              </a:rPr>
              <a:t>Concluída: Sim, com dificuldade — tempo: 4 min 20 s</a:t>
            </a:r>
          </a:p>
          <a:p>
            <a:pPr>
              <a:spcAft>
                <a:spcPts val="600"/>
              </a:spcAft>
            </a:pPr>
            <a:r>
              <a:rPr sz="1700">
                <a:latin typeface="Arial"/>
              </a:rPr>
              <a:t>Relato:</a:t>
            </a:r>
          </a:p>
          <a:p>
            <a:pPr lvl="1">
              <a:spcAft>
                <a:spcPts val="600"/>
              </a:spcAft>
            </a:pPr>
            <a:r>
              <a:rPr sz="1400">
                <a:latin typeface="Arial"/>
              </a:rPr>
              <a:t>Ao abrir a página, o TalkBack anunciou as quatro regiões corretamente — cabeçalho, navegação, principal e rodapé — o que permitiu pular direto ao conteúdo em três deslizes. A partir daí a experiência se deteriorou. O oitavo anúncio foi apenas 'imagem', sem qualquer descrição: é o brasão do instituto, que não possui atr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spcAft>
                <a:spcPts val="0"/>
              </a:spcAft>
            </a:pPr>
            <a:r>
              <a:rPr sz="2800">
                <a:latin typeface="Arial"/>
              </a:rPr>
              <a:t>Nível de conformidade WCAG 2.1</a:t>
            </a:r>
          </a:p>
        </p:txBody>
      </p:sp>
      <p:sp>
        <p:nvSpPr>
          <p:cNvPr id="3" name="Content Placeholder 2"/>
          <p:cNvSpPr>
            <a:spLocks noGrp="1"/>
          </p:cNvSpPr>
          <p:nvPr>
            <p:ph idx="1"/>
          </p:nvPr>
        </p:nvSpPr>
        <p:spPr/>
        <p:txBody>
          <a:bodyPr wrap="square"/>
          <a:lstStyle/>
          <a:p>
            <a:pPr>
              <a:spcAft>
                <a:spcPts val="600"/>
              </a:spcAft>
            </a:pPr>
            <a:r>
              <a:rPr sz="1700">
                <a:latin typeface="Arial"/>
              </a:rPr>
              <a:t>Regra do W3C: a conformidade é integral — uma única falha de Nível A</a:t>
            </a:r>
          </a:p>
          <a:p>
            <a:pPr lvl="1">
              <a:spcAft>
                <a:spcPts val="600"/>
              </a:spcAft>
            </a:pPr>
            <a:r>
              <a:rPr sz="1400">
                <a:latin typeface="Arial"/>
              </a:rPr>
              <a:t>impede a conformidade em qualquer nível</a:t>
            </a:r>
          </a:p>
          <a:p>
            <a:pPr>
              <a:spcAft>
                <a:spcPts val="600"/>
              </a:spcAft>
            </a:pPr>
            <a:r>
              <a:rPr sz="1700">
                <a:latin typeface="Arial"/>
              </a:rPr>
              <a:t>Falhas em critérios de Nível A: 7</a:t>
            </a:r>
          </a:p>
          <a:p>
            <a:pPr>
              <a:spcAft>
                <a:spcPts val="600"/>
              </a:spcAft>
            </a:pPr>
            <a:r>
              <a:rPr sz="1700">
                <a:latin typeface="Arial"/>
              </a:rPr>
              <a:t>Falhas em critérios de Nível AA: 3</a:t>
            </a:r>
          </a:p>
          <a:p>
            <a:pPr>
              <a:spcAft>
                <a:spcPts val="600"/>
              </a:spcAft>
            </a:pPr>
            <a:r>
              <a:rPr sz="1700">
                <a:latin typeface="Arial"/>
              </a:rPr>
              <a:t>Resultado: Não conforme (não atinge sequer o Nível A)</a:t>
            </a:r>
          </a:p>
          <a:p>
            <a:pPr>
              <a:spcAft>
                <a:spcPts val="600"/>
              </a:spcAft>
            </a:pPr>
            <a:r>
              <a:rPr sz="1700">
                <a:latin typeface="Arial"/>
              </a:rPr>
              <a:t>Nível AA é o patamar exigido da administração pública brasileira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spcAft>
                <a:spcPts val="0"/>
              </a:spcAft>
            </a:pPr>
            <a:r>
              <a:rPr sz="2800">
                <a:latin typeface="Arial"/>
              </a:rPr>
              <a:t>Recomendações priorizadas</a:t>
            </a:r>
          </a:p>
        </p:txBody>
      </p:sp>
      <p:sp>
        <p:nvSpPr>
          <p:cNvPr id="3" name="Content Placeholder 2"/>
          <p:cNvSpPr>
            <a:spLocks noGrp="1"/>
          </p:cNvSpPr>
          <p:nvPr>
            <p:ph idx="1"/>
          </p:nvPr>
        </p:nvSpPr>
        <p:spPr/>
        <p:txBody>
          <a:bodyPr wrap="square"/>
          <a:lstStyle/>
          <a:p>
            <a:pPr>
              <a:spcAft>
                <a:spcPts val="600"/>
              </a:spcAft>
            </a:pPr>
            <a:r>
              <a:rPr sz="1500">
                <a:latin typeface="Arial"/>
              </a:rPr>
              <a:t>[Crítica] Imagens sem texto alternativo → WCAG 1.1.1 (A)</a:t>
            </a:r>
          </a:p>
          <a:p>
            <a:pPr>
              <a:spcAft>
                <a:spcPts val="600"/>
              </a:spcAft>
            </a:pPr>
            <a:r>
              <a:rPr sz="1500">
                <a:latin typeface="Arial"/>
              </a:rPr>
              <a:t>[Crítica] Campos de formulário sem rótulo → WCAG 3.3.2 / 4.1.2 (A)</a:t>
            </a:r>
          </a:p>
          <a:p>
            <a:pPr>
              <a:spcAft>
                <a:spcPts val="600"/>
              </a:spcAft>
            </a:pPr>
            <a:r>
              <a:rPr sz="1500">
                <a:latin typeface="Arial"/>
              </a:rPr>
              <a:t>[Crítica] Hierarquia de cabeçalhos incorreta → WCAG 1.3.1 (A)</a:t>
            </a:r>
          </a:p>
          <a:p>
            <a:pPr>
              <a:spcAft>
                <a:spcPts val="600"/>
              </a:spcAft>
            </a:pPr>
            <a:r>
              <a:rPr sz="1500">
                <a:latin typeface="Arial"/>
              </a:rPr>
              <a:t>[Alta] Ausência de regiões semânticas → WCAG 1.3.1 (A)</a:t>
            </a:r>
          </a:p>
          <a:p>
            <a:pPr>
              <a:spcAft>
                <a:spcPts val="600"/>
              </a:spcAft>
            </a:pPr>
            <a:r>
              <a:rPr sz="1500">
                <a:latin typeface="Arial"/>
              </a:rPr>
              <a:t>[Alta] Links com texto não descritivo → WCAG 2.4.4 (A)</a:t>
            </a:r>
          </a:p>
          <a:p>
            <a:pPr>
              <a:spcAft>
                <a:spcPts val="600"/>
              </a:spcAft>
            </a:pPr>
            <a:r>
              <a:rPr sz="1500">
                <a:latin typeface="Arial"/>
              </a:rPr>
              <a:t>[Alta] Contraste insuficiente → WCAG 1.4.3 / 1.4.11 (AA)</a:t>
            </a:r>
          </a:p>
          <a:p>
            <a:pPr>
              <a:spcAft>
                <a:spcPts val="600"/>
              </a:spcAft>
            </a:pPr>
            <a:r>
              <a:rPr sz="1500">
                <a:latin typeface="Arial"/>
              </a:rPr>
              <a:t>[Media] Foco de teclado não visível → WCAG 2.4.7 (AA)</a:t>
            </a:r>
          </a:p>
          <a:p>
            <a:pPr>
              <a:spcAft>
                <a:spcPts val="600"/>
              </a:spcAft>
            </a:pPr>
            <a:r>
              <a:rPr sz="1500">
                <a:latin typeface="Arial"/>
              </a:rPr>
              <a:t>[Media] Ausência de link de salto → WCAG 2.4.1 (A)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spcAft>
                <a:spcPts val="0"/>
              </a:spcAft>
            </a:pPr>
            <a:r>
              <a:rPr sz="2800">
                <a:latin typeface="Arial"/>
              </a:rPr>
              <a:t>Conclusão</a:t>
            </a:r>
          </a:p>
        </p:txBody>
      </p:sp>
      <p:sp>
        <p:nvSpPr>
          <p:cNvPr id="3" name="Content Placeholder 2"/>
          <p:cNvSpPr>
            <a:spLocks noGrp="1"/>
          </p:cNvSpPr>
          <p:nvPr>
            <p:ph idx="1"/>
          </p:nvPr>
        </p:nvSpPr>
        <p:spPr/>
        <p:txBody>
          <a:bodyPr wrap="square"/>
          <a:lstStyle/>
          <a:p>
            <a:pPr>
              <a:spcAft>
                <a:spcPts val="600"/>
              </a:spcAft>
            </a:pPr>
            <a:r>
              <a:rPr sz="1700">
                <a:latin typeface="Arial"/>
              </a:rPr>
              <a:t>Boa aparência visual não significa boa acessibilidade:</a:t>
            </a:r>
          </a:p>
          <a:p>
            <a:pPr lvl="1">
              <a:spcAft>
                <a:spcPts val="600"/>
              </a:spcAft>
            </a:pPr>
            <a:r>
              <a:rPr sz="1400">
                <a:latin typeface="Arial"/>
              </a:rPr>
              <a:t>as barreiras estão na camada de marcação, invisíveis ao usuário vidente</a:t>
            </a:r>
          </a:p>
          <a:p>
            <a:pPr>
              <a:spcAft>
                <a:spcPts val="600"/>
              </a:spcAft>
            </a:pPr>
            <a:r>
              <a:rPr sz="1700">
                <a:latin typeface="Arial"/>
              </a:rPr>
              <a:t>Ferramentas automáticas quantificam; só o teste humano revela a experiência</a:t>
            </a:r>
          </a:p>
          <a:p>
            <a:pPr>
              <a:spcAft>
                <a:spcPts val="600"/>
              </a:spcAft>
            </a:pPr>
            <a:r>
              <a:rPr sz="1700">
                <a:latin typeface="Arial"/>
              </a:rPr>
              <a:t>A maior parte das correções é de baixo custo — atributos alt, labels,</a:t>
            </a:r>
          </a:p>
          <a:p>
            <a:pPr lvl="1">
              <a:spcAft>
                <a:spcPts val="600"/>
              </a:spcAft>
            </a:pPr>
            <a:r>
              <a:rPr sz="1400">
                <a:latin typeface="Arial"/>
              </a:rPr>
              <a:t>hierarquia de cabeçalhos e elementos semânticos de região</a:t>
            </a:r>
          </a:p>
          <a:p>
            <a:pPr>
              <a:spcAft>
                <a:spcPts val="600"/>
              </a:spcAft>
            </a:pPr>
            <a:r>
              <a:rPr sz="1700">
                <a:latin typeface="Arial"/>
              </a:rPr>
              <a:t>Acessibilidade se projeta desde o início; corrigir depois custa mais</a:t>
            </a:r>
          </a:p>
          <a:p>
            <a:pPr>
              <a:spcAft>
                <a:spcPts val="600"/>
              </a:spcAft>
            </a:pPr>
            <a:r>
              <a:rPr sz="1700">
                <a:latin typeface="Arial"/>
              </a:rPr>
              <a:t>Recomenda-se reavaliação periódica: cada publicação pode reintroduzir barreiras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p:cNvSpPr>
            <a:spLocks noGrp="1"/>
          </p:cNvSpPr>
          <p:nvPr>
            <p:ph idx="1"/>
          </p:nvPr>
        </p:nvSpPr>
        <p:spPr/>
        <p:txBody>
          <a:bodyPr wrap="square"/>
          <a:lstStyle/>
          <a:p>
            <a:pPr>
              <a:spcAft>
                <a:spcPts val="600"/>
              </a:spcAft>
            </a:pPr>
            <a:r>
              <a:rPr sz="5400">
                <a:latin typeface="Arial"/>
              </a:rPr>
              <a:t>Obrigado!</a:t>
            </a:r>
          </a:p>
          <a:p>
            <a:pPr>
              <a:spcAft>
                <a:spcPts val="600"/>
              </a:spcAft>
            </a:pPr>
            <a:r>
              <a:rPr sz="5400">
                <a:latin typeface="Arial"/>
              </a:rPr>
              <a:t>Perguntas?</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o">
  <a:themeElements>
    <a:clrScheme name="Circuito">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o">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o">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