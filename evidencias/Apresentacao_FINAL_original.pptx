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embeddedFontLst>
    <p:embeddedFont>
      <p:font typeface="Noto Sans Bold" charset="1" panose="020B0802040504020204"/>
      <p:regular r:id="rId20"/>
    </p:embeddedFont>
    <p:embeddedFont>
      <p:font typeface="Noto Sans" charset="1" panose="020B0502040504020204"/>
      <p:regular r:id="rId21"/>
    </p:embeddedFont>
    <p:embeddedFont>
      <p:font typeface="DejaVu Sans Light" charset="1" panose="020B06030308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8.png" Type="http://schemas.openxmlformats.org/officeDocument/2006/relationships/image"/><Relationship Id="rId13" Target="../media/image49.svg" Type="http://schemas.openxmlformats.org/officeDocument/2006/relationships/image"/><Relationship Id="rId14" Target="../media/image50.png" Type="http://schemas.openxmlformats.org/officeDocument/2006/relationships/image"/><Relationship Id="rId15" Target="../media/image51.svg" Type="http://schemas.openxmlformats.org/officeDocument/2006/relationships/image"/><Relationship Id="rId16" Target="../media/image52.png" Type="http://schemas.openxmlformats.org/officeDocument/2006/relationships/image"/><Relationship Id="rId17" Target="../media/image53.svg" Type="http://schemas.openxmlformats.org/officeDocument/2006/relationships/imag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9.png" Type="http://schemas.openxmlformats.org/officeDocument/2006/relationships/image"/><Relationship Id="rId5" Target="../media/image25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2" Target="../media/image9.png" Type="http://schemas.openxmlformats.org/officeDocument/2006/relationships/image"/><Relationship Id="rId3" Target="../media/image54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jpe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svg" Type="http://schemas.openxmlformats.org/officeDocument/2006/relationships/image"/><Relationship Id="rId11" Target="../media/image77.png" Type="http://schemas.openxmlformats.org/officeDocument/2006/relationships/image"/><Relationship Id="rId12" Target="../media/image78.svg" Type="http://schemas.openxmlformats.org/officeDocument/2006/relationships/image"/><Relationship Id="rId13" Target="../media/image79.png" Type="http://schemas.openxmlformats.org/officeDocument/2006/relationships/image"/><Relationship Id="rId14" Target="../media/image80.svg" Type="http://schemas.openxmlformats.org/officeDocument/2006/relationships/image"/><Relationship Id="rId2" Target="../media/image9.png" Type="http://schemas.openxmlformats.org/officeDocument/2006/relationships/image"/><Relationship Id="rId3" Target="../media/image54.svg" Type="http://schemas.openxmlformats.org/officeDocument/2006/relationships/image"/><Relationship Id="rId4" Target="../media/image70.png" Type="http://schemas.openxmlformats.org/officeDocument/2006/relationships/image"/><Relationship Id="rId5" Target="../media/image71.svg" Type="http://schemas.openxmlformats.org/officeDocument/2006/relationships/image"/><Relationship Id="rId6" Target="../media/image72.jpeg" Type="http://schemas.openxmlformats.org/officeDocument/2006/relationships/image"/><Relationship Id="rId7" Target="../media/image73.png" Type="http://schemas.openxmlformats.org/officeDocument/2006/relationships/image"/><Relationship Id="rId8" Target="../media/image74.sv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83.png" Type="http://schemas.openxmlformats.org/officeDocument/2006/relationships/image"/><Relationship Id="rId7" Target="../media/image8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54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95.png" Type="http://schemas.openxmlformats.org/officeDocument/2006/relationships/image"/><Relationship Id="rId13" Target="../media/image96.svg" Type="http://schemas.openxmlformats.org/officeDocument/2006/relationships/image"/><Relationship Id="rId14" Target="../media/image97.png" Type="http://schemas.openxmlformats.org/officeDocument/2006/relationships/image"/><Relationship Id="rId15" Target="../media/image98.svg" Type="http://schemas.openxmlformats.org/officeDocument/2006/relationships/image"/><Relationship Id="rId16" Target="../media/image99.png" Type="http://schemas.openxmlformats.org/officeDocument/2006/relationships/image"/><Relationship Id="rId17" Target="../media/image100.svg" Type="http://schemas.openxmlformats.org/officeDocument/2006/relationships/image"/><Relationship Id="rId18" Target="../media/image101.png" Type="http://schemas.openxmlformats.org/officeDocument/2006/relationships/image"/><Relationship Id="rId19" Target="../media/image102.svg" Type="http://schemas.openxmlformats.org/officeDocument/2006/relationships/image"/><Relationship Id="rId2" Target="../media/image87.png" Type="http://schemas.openxmlformats.org/officeDocument/2006/relationships/image"/><Relationship Id="rId3" Target="../media/image88.svg" Type="http://schemas.openxmlformats.org/officeDocument/2006/relationships/image"/><Relationship Id="rId4" Target="../media/image89.png" Type="http://schemas.openxmlformats.org/officeDocument/2006/relationships/image"/><Relationship Id="rId5" Target="../media/image90.svg" Type="http://schemas.openxmlformats.org/officeDocument/2006/relationships/image"/><Relationship Id="rId6" Target="../media/image91.png" Type="http://schemas.openxmlformats.org/officeDocument/2006/relationships/image"/><Relationship Id="rId7" Target="../media/image92.svg" Type="http://schemas.openxmlformats.org/officeDocument/2006/relationships/image"/><Relationship Id="rId8" Target="../media/image93.png" Type="http://schemas.openxmlformats.org/officeDocument/2006/relationships/image"/><Relationship Id="rId9" Target="../media/image9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110.svg" Type="http://schemas.openxmlformats.org/officeDocument/2006/relationships/image"/><Relationship Id="rId12" Target="../media/image111.png" Type="http://schemas.openxmlformats.org/officeDocument/2006/relationships/image"/><Relationship Id="rId13" Target="../media/image112.svg" Type="http://schemas.openxmlformats.org/officeDocument/2006/relationships/image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05.png" Type="http://schemas.openxmlformats.org/officeDocument/2006/relationships/image"/><Relationship Id="rId5" Target="../media/image106.svg" Type="http://schemas.openxmlformats.org/officeDocument/2006/relationships/image"/><Relationship Id="rId6" Target="../media/image107.png" Type="http://schemas.openxmlformats.org/officeDocument/2006/relationships/image"/><Relationship Id="rId7" Target="../media/image10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svg" Type="http://schemas.openxmlformats.org/officeDocument/2006/relationships/image"/><Relationship Id="rId12" Target="../media/image9.png" Type="http://schemas.openxmlformats.org/officeDocument/2006/relationships/image"/><Relationship Id="rId13" Target="../media/image119.svg" Type="http://schemas.openxmlformats.org/officeDocument/2006/relationships/image"/><Relationship Id="rId14" Target="../media/image120.png" Type="http://schemas.openxmlformats.org/officeDocument/2006/relationships/image"/><Relationship Id="rId15" Target="../media/image121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3.png" Type="http://schemas.openxmlformats.org/officeDocument/2006/relationships/image"/><Relationship Id="rId7" Target="../media/image114.svg" Type="http://schemas.openxmlformats.org/officeDocument/2006/relationships/image"/><Relationship Id="rId8" Target="../media/image115.png" Type="http://schemas.openxmlformats.org/officeDocument/2006/relationships/image"/><Relationship Id="rId9" Target="../media/image1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436" y="-62779"/>
            <a:ext cx="12317778" cy="6980044"/>
          </a:xfrm>
          <a:custGeom>
            <a:avLst/>
            <a:gdLst/>
            <a:ahLst/>
            <a:cxnLst/>
            <a:rect r="r" b="b" t="t" l="l"/>
            <a:pathLst>
              <a:path h="6980044" w="12317778">
                <a:moveTo>
                  <a:pt x="0" y="0"/>
                </a:moveTo>
                <a:lnTo>
                  <a:pt x="12317777" y="0"/>
                </a:lnTo>
                <a:lnTo>
                  <a:pt x="12317777" y="6980044"/>
                </a:lnTo>
                <a:lnTo>
                  <a:pt x="0" y="698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27841" y="4736163"/>
            <a:ext cx="772182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04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AUDITORIA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8448" y="1430998"/>
            <a:ext cx="272838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PROJETO · INTERAÇÃO HUMANO-COMPUTADOR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9837" y="2002726"/>
            <a:ext cx="4071576" cy="102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2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120" y="3332255"/>
            <a:ext cx="57283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201" y="3332255"/>
            <a:ext cx="4672965" cy="28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WCAG2.1 · Portal do IFAL —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201" y="3999290"/>
            <a:ext cx="2335213" cy="37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Guilherme de Oliveira Pontes Pinto </a:t>
            </a:r>
          </a:p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Kelven Eduardo Terto dos Santos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8675" y="4181618"/>
            <a:ext cx="3369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9837" y="4711008"/>
            <a:ext cx="3635534" cy="17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Bacharelado em Sistemas de Informação ·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400" y="1491815"/>
            <a:ext cx="384229" cy="501948"/>
          </a:xfrm>
          <a:custGeom>
            <a:avLst/>
            <a:gdLst/>
            <a:ahLst/>
            <a:cxnLst/>
            <a:rect r="r" b="b" t="t" l="l"/>
            <a:pathLst>
              <a:path h="501948" w="384229">
                <a:moveTo>
                  <a:pt x="0" y="0"/>
                </a:moveTo>
                <a:lnTo>
                  <a:pt x="384229" y="0"/>
                </a:lnTo>
                <a:lnTo>
                  <a:pt x="384229" y="501948"/>
                </a:lnTo>
                <a:lnTo>
                  <a:pt x="0" y="501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759" y="2086175"/>
            <a:ext cx="384943" cy="502291"/>
          </a:xfrm>
          <a:custGeom>
            <a:avLst/>
            <a:gdLst/>
            <a:ahLst/>
            <a:cxnLst/>
            <a:rect r="r" b="b" t="t" l="l"/>
            <a:pathLst>
              <a:path h="502291" w="384943">
                <a:moveTo>
                  <a:pt x="0" y="0"/>
                </a:moveTo>
                <a:lnTo>
                  <a:pt x="384943" y="0"/>
                </a:lnTo>
                <a:lnTo>
                  <a:pt x="384943" y="502291"/>
                </a:lnTo>
                <a:lnTo>
                  <a:pt x="0" y="502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004" y="1692088"/>
            <a:ext cx="3942474" cy="4195982"/>
          </a:xfrm>
          <a:custGeom>
            <a:avLst/>
            <a:gdLst/>
            <a:ahLst/>
            <a:cxnLst/>
            <a:rect r="r" b="b" t="t" l="l"/>
            <a:pathLst>
              <a:path h="4195982" w="3942474">
                <a:moveTo>
                  <a:pt x="0" y="0"/>
                </a:moveTo>
                <a:lnTo>
                  <a:pt x="3942474" y="0"/>
                </a:lnTo>
                <a:lnTo>
                  <a:pt x="3942474" y="4195981"/>
                </a:lnTo>
                <a:lnTo>
                  <a:pt x="0" y="4195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38152" y="5658269"/>
            <a:ext cx="6932209" cy="441417"/>
          </a:xfrm>
          <a:custGeom>
            <a:avLst/>
            <a:gdLst/>
            <a:ahLst/>
            <a:cxnLst/>
            <a:rect r="r" b="b" t="t" l="l"/>
            <a:pathLst>
              <a:path h="441417" w="6932209">
                <a:moveTo>
                  <a:pt x="0" y="0"/>
                </a:moveTo>
                <a:lnTo>
                  <a:pt x="6932209" y="0"/>
                </a:lnTo>
                <a:lnTo>
                  <a:pt x="6932209" y="441417"/>
                </a:lnTo>
                <a:lnTo>
                  <a:pt x="0" y="441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8755" y="1691707"/>
            <a:ext cx="7030660" cy="1864309"/>
          </a:xfrm>
          <a:custGeom>
            <a:avLst/>
            <a:gdLst/>
            <a:ahLst/>
            <a:cxnLst/>
            <a:rect r="r" b="b" t="t" l="l"/>
            <a:pathLst>
              <a:path h="1864309" w="7030660">
                <a:moveTo>
                  <a:pt x="0" y="0"/>
                </a:moveTo>
                <a:lnTo>
                  <a:pt x="7030660" y="0"/>
                </a:lnTo>
                <a:lnTo>
                  <a:pt x="7030660" y="1864309"/>
                </a:lnTo>
                <a:lnTo>
                  <a:pt x="0" y="18643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8755" y="3666668"/>
            <a:ext cx="7030660" cy="1864309"/>
          </a:xfrm>
          <a:custGeom>
            <a:avLst/>
            <a:gdLst/>
            <a:ahLst/>
            <a:cxnLst/>
            <a:rect r="r" b="b" t="t" l="l"/>
            <a:pathLst>
              <a:path h="1864309" w="7030660">
                <a:moveTo>
                  <a:pt x="0" y="0"/>
                </a:moveTo>
                <a:lnTo>
                  <a:pt x="7030660" y="0"/>
                </a:lnTo>
                <a:lnTo>
                  <a:pt x="7030660" y="1864309"/>
                </a:lnTo>
                <a:lnTo>
                  <a:pt x="0" y="18643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455400"/>
            <a:ext cx="103526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1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· CONTEXTO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1038215"/>
            <a:ext cx="5753843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Por que acessibilidade importa?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0993" y="2343074"/>
            <a:ext cx="2413768" cy="52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14,4 milhões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9165" y="3072308"/>
            <a:ext cx="40386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0195" y="3061144"/>
            <a:ext cx="2112804" cy="19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de brasileiros com deficiência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1442" y="3244024"/>
            <a:ext cx="1330414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(Censo IBGE 2022)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3999" y="4269276"/>
            <a:ext cx="2523668" cy="37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Acessibilidade também melhora</a:t>
            </a:r>
          </a:p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experiência de qualquer usuário.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00600" y="224518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00600" y="422013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12080" y="2213467"/>
            <a:ext cx="2087356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Decreto nº 5.296/2004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11728" y="4112762"/>
            <a:ext cx="2575693" cy="42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Lei Brasileira de Inclusão (Lei nº 13.146/2015, art. 63)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49154" y="2286724"/>
            <a:ext cx="206876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Portais da administração pública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02964" y="4262047"/>
            <a:ext cx="89329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Sites em geral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50505" y="5801648"/>
            <a:ext cx="2934176" cy="16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sz="1070" spc="2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Legendas · contraste · navegação por teclado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28614" y="5801648"/>
            <a:ext cx="3361214" cy="16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sz="1070" spc="2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 benefícios que vão além do público com deficiência.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39099" y="5747472"/>
            <a:ext cx="135096" cy="22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270">
                <a:solidFill>
                  <a:srgbClr val="8DE8F4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808" y="1764811"/>
            <a:ext cx="2668867" cy="3254950"/>
          </a:xfrm>
          <a:custGeom>
            <a:avLst/>
            <a:gdLst/>
            <a:ahLst/>
            <a:cxnLst/>
            <a:rect r="r" b="b" t="t" l="l"/>
            <a:pathLst>
              <a:path h="3254950" w="2668867">
                <a:moveTo>
                  <a:pt x="0" y="0"/>
                </a:moveTo>
                <a:lnTo>
                  <a:pt x="2668867" y="0"/>
                </a:lnTo>
                <a:lnTo>
                  <a:pt x="2668867" y="3254950"/>
                </a:lnTo>
                <a:lnTo>
                  <a:pt x="0" y="325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7802" y="1764811"/>
            <a:ext cx="2668867" cy="3254950"/>
          </a:xfrm>
          <a:custGeom>
            <a:avLst/>
            <a:gdLst/>
            <a:ahLst/>
            <a:cxnLst/>
            <a:rect r="r" b="b" t="t" l="l"/>
            <a:pathLst>
              <a:path h="3254950" w="2668867">
                <a:moveTo>
                  <a:pt x="0" y="0"/>
                </a:moveTo>
                <a:lnTo>
                  <a:pt x="2668867" y="0"/>
                </a:lnTo>
                <a:lnTo>
                  <a:pt x="2668867" y="3254950"/>
                </a:lnTo>
                <a:lnTo>
                  <a:pt x="0" y="325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28048" y="5256171"/>
            <a:ext cx="2741057" cy="441379"/>
          </a:xfrm>
          <a:custGeom>
            <a:avLst/>
            <a:gdLst/>
            <a:ahLst/>
            <a:cxnLst/>
            <a:rect r="r" b="b" t="t" l="l"/>
            <a:pathLst>
              <a:path h="441379" w="2741057">
                <a:moveTo>
                  <a:pt x="0" y="0"/>
                </a:moveTo>
                <a:lnTo>
                  <a:pt x="2741057" y="0"/>
                </a:lnTo>
                <a:lnTo>
                  <a:pt x="2741057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00454" y="1764811"/>
            <a:ext cx="2668867" cy="3254950"/>
          </a:xfrm>
          <a:custGeom>
            <a:avLst/>
            <a:gdLst/>
            <a:ahLst/>
            <a:cxnLst/>
            <a:rect r="r" b="b" t="t" l="l"/>
            <a:pathLst>
              <a:path h="3254950" w="2668867">
                <a:moveTo>
                  <a:pt x="0" y="0"/>
                </a:moveTo>
                <a:lnTo>
                  <a:pt x="2668867" y="0"/>
                </a:lnTo>
                <a:lnTo>
                  <a:pt x="2668867" y="3254950"/>
                </a:lnTo>
                <a:lnTo>
                  <a:pt x="0" y="325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53087" y="1496701"/>
            <a:ext cx="2669591" cy="3518735"/>
          </a:xfrm>
          <a:custGeom>
            <a:avLst/>
            <a:gdLst/>
            <a:ahLst/>
            <a:cxnLst/>
            <a:rect r="r" b="b" t="t" l="l"/>
            <a:pathLst>
              <a:path h="3518735" w="2669591">
                <a:moveTo>
                  <a:pt x="0" y="0"/>
                </a:moveTo>
                <a:lnTo>
                  <a:pt x="2669591" y="0"/>
                </a:lnTo>
                <a:lnTo>
                  <a:pt x="2669591" y="3518735"/>
                </a:lnTo>
                <a:lnTo>
                  <a:pt x="0" y="35187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47246" y="5399637"/>
            <a:ext cx="1124236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NÍVEIS: A · AA · AAA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455400"/>
            <a:ext cx="127696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2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 · FUNDAMENTO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1038215"/>
            <a:ext cx="4295432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 2.1 em uma visão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836" y="3304489"/>
            <a:ext cx="1018508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8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PERCEPTÍVEL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92006" y="3304489"/>
            <a:ext cx="789984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6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OPERÁVEL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93360" y="3304489"/>
            <a:ext cx="1305725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COMPREENSÍVEL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21760" y="3304489"/>
            <a:ext cx="742398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3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ROBUSTO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1195" y="2399138"/>
            <a:ext cx="138360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96206" y="2399138"/>
            <a:ext cx="175374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66117" y="2399138"/>
            <a:ext cx="140341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16235" y="2399138"/>
            <a:ext cx="145409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1196" y="3916299"/>
            <a:ext cx="200751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informação precisa chegar aos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5880" y="4067861"/>
            <a:ext cx="123006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sentidos do usuário.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39042" y="3947036"/>
            <a:ext cx="1938042" cy="30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interface precisa ser utilizável por qualquer forma de entrada.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09677" y="3916299"/>
            <a:ext cx="192105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Conteúdo e operação precisam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02157" y="4067861"/>
            <a:ext cx="883606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ser previsíveis.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46479" y="3916299"/>
            <a:ext cx="195333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 código precisa funcionar com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33038" y="4067861"/>
            <a:ext cx="1335710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tecnologias assistivas.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158358" y="5875572"/>
            <a:ext cx="3905612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No Brasil, o eMAG 3.1 adapta as WCAG ao governo eletrônico.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798" y="1701070"/>
            <a:ext cx="4013121" cy="4470330"/>
          </a:xfrm>
          <a:custGeom>
            <a:avLst/>
            <a:gdLst/>
            <a:ahLst/>
            <a:cxnLst/>
            <a:rect r="r" b="b" t="t" l="l"/>
            <a:pathLst>
              <a:path h="4470330" w="4013121">
                <a:moveTo>
                  <a:pt x="0" y="0"/>
                </a:moveTo>
                <a:lnTo>
                  <a:pt x="4013121" y="0"/>
                </a:lnTo>
                <a:lnTo>
                  <a:pt x="4013121" y="4470330"/>
                </a:lnTo>
                <a:lnTo>
                  <a:pt x="0" y="4470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63948" y="5468112"/>
            <a:ext cx="6463665" cy="657939"/>
          </a:xfrm>
          <a:custGeom>
            <a:avLst/>
            <a:gdLst/>
            <a:ahLst/>
            <a:cxnLst/>
            <a:rect r="r" b="b" t="t" l="l"/>
            <a:pathLst>
              <a:path h="657939" w="6463665">
                <a:moveTo>
                  <a:pt x="0" y="0"/>
                </a:moveTo>
                <a:lnTo>
                  <a:pt x="6463665" y="0"/>
                </a:lnTo>
                <a:lnTo>
                  <a:pt x="6463665" y="657939"/>
                </a:lnTo>
                <a:lnTo>
                  <a:pt x="0" y="657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0747" y="4523451"/>
            <a:ext cx="514026" cy="514017"/>
          </a:xfrm>
          <a:custGeom>
            <a:avLst/>
            <a:gdLst/>
            <a:ahLst/>
            <a:cxnLst/>
            <a:rect r="r" b="b" t="t" l="l"/>
            <a:pathLst>
              <a:path h="514017" w="514026">
                <a:moveTo>
                  <a:pt x="0" y="0"/>
                </a:moveTo>
                <a:lnTo>
                  <a:pt x="514026" y="0"/>
                </a:lnTo>
                <a:lnTo>
                  <a:pt x="514026" y="514017"/>
                </a:lnTo>
                <a:lnTo>
                  <a:pt x="0" y="514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91164" y="2662861"/>
            <a:ext cx="514026" cy="1042140"/>
          </a:xfrm>
          <a:custGeom>
            <a:avLst/>
            <a:gdLst/>
            <a:ahLst/>
            <a:cxnLst/>
            <a:rect r="r" b="b" t="t" l="l"/>
            <a:pathLst>
              <a:path h="1042140" w="514026">
                <a:moveTo>
                  <a:pt x="0" y="0"/>
                </a:moveTo>
                <a:lnTo>
                  <a:pt x="514026" y="0"/>
                </a:lnTo>
                <a:lnTo>
                  <a:pt x="514026" y="1042140"/>
                </a:lnTo>
                <a:lnTo>
                  <a:pt x="0" y="1042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91164" y="1747647"/>
            <a:ext cx="514026" cy="1042140"/>
          </a:xfrm>
          <a:custGeom>
            <a:avLst/>
            <a:gdLst/>
            <a:ahLst/>
            <a:cxnLst/>
            <a:rect r="r" b="b" t="t" l="l"/>
            <a:pathLst>
              <a:path h="1042140" w="514026">
                <a:moveTo>
                  <a:pt x="0" y="0"/>
                </a:moveTo>
                <a:lnTo>
                  <a:pt x="514026" y="0"/>
                </a:lnTo>
                <a:lnTo>
                  <a:pt x="514026" y="1042140"/>
                </a:lnTo>
                <a:lnTo>
                  <a:pt x="0" y="10421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91164" y="3588834"/>
            <a:ext cx="514026" cy="1042130"/>
          </a:xfrm>
          <a:custGeom>
            <a:avLst/>
            <a:gdLst/>
            <a:ahLst/>
            <a:cxnLst/>
            <a:rect r="r" b="b" t="t" l="l"/>
            <a:pathLst>
              <a:path h="1042130" w="514026">
                <a:moveTo>
                  <a:pt x="0" y="0"/>
                </a:moveTo>
                <a:lnTo>
                  <a:pt x="514026" y="0"/>
                </a:lnTo>
                <a:lnTo>
                  <a:pt x="514026" y="1042131"/>
                </a:lnTo>
                <a:lnTo>
                  <a:pt x="0" y="104213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4035" y="2153517"/>
            <a:ext cx="870852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SITE AVALIADO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280" y="455400"/>
            <a:ext cx="83721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2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 · ESCOPO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6280" y="1038215"/>
            <a:ext cx="4827280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foi avaliado e como?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11639" y="188841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9768" y="2630395"/>
            <a:ext cx="3297774" cy="77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Portal do Instituto Federal de Alagoas </a:t>
            </a: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— Campus Maceió</a:t>
            </a:r>
          </a:p>
          <a:p>
            <a:pPr algn="l">
              <a:lnSpc>
                <a:spcPts val="2044"/>
              </a:lnSpc>
            </a:pPr>
            <a:r>
              <a:rPr lang="en-US" sz="1700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www2.ifal.edu.br/campus/maceio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1639" y="281393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11639" y="3760029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30689" y="468811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120" y="4444889"/>
            <a:ext cx="3200086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3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Escolhido por ser um site público de escopo reduzido, com navegação simples, e por estar sujeito ao Decreto nº 5.296/2004, à LBI e ao eMAG 3.1.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43800" y="1913196"/>
            <a:ext cx="1291228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Checklist de 15 itens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43800" y="2858405"/>
            <a:ext cx="1327090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WAVE · ASES · Python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43448" y="3834570"/>
            <a:ext cx="198996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Reflow · foco · toque · contraste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43448" y="4730972"/>
            <a:ext cx="2108845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Tarefa completa sem apoio visual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40397" y="4669065"/>
            <a:ext cx="1337910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Teste com leitor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40759" y="1851522"/>
            <a:ext cx="1438523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Inspeção manual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40759" y="3736360"/>
            <a:ext cx="1484033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Simulação mobile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40759" y="2775404"/>
            <a:ext cx="1818427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automática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0803" y="1720529"/>
            <a:ext cx="2614870" cy="1248661"/>
          </a:xfrm>
          <a:custGeom>
            <a:avLst/>
            <a:gdLst/>
            <a:ahLst/>
            <a:cxnLst/>
            <a:rect r="r" b="b" t="t" l="l"/>
            <a:pathLst>
              <a:path h="1248661" w="2614870">
                <a:moveTo>
                  <a:pt x="0" y="0"/>
                </a:moveTo>
                <a:lnTo>
                  <a:pt x="2614869" y="0"/>
                </a:lnTo>
                <a:lnTo>
                  <a:pt x="2614869" y="1248661"/>
                </a:lnTo>
                <a:lnTo>
                  <a:pt x="0" y="1248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65443" y="1720529"/>
            <a:ext cx="2614508" cy="1248661"/>
          </a:xfrm>
          <a:custGeom>
            <a:avLst/>
            <a:gdLst/>
            <a:ahLst/>
            <a:cxnLst/>
            <a:rect r="r" b="b" t="t" l="l"/>
            <a:pathLst>
              <a:path h="1248661" w="2614508">
                <a:moveTo>
                  <a:pt x="0" y="0"/>
                </a:moveTo>
                <a:lnTo>
                  <a:pt x="2614507" y="0"/>
                </a:lnTo>
                <a:lnTo>
                  <a:pt x="2614507" y="1248661"/>
                </a:lnTo>
                <a:lnTo>
                  <a:pt x="0" y="1248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784" y="3669554"/>
            <a:ext cx="5385102" cy="2261378"/>
          </a:xfrm>
          <a:custGeom>
            <a:avLst/>
            <a:gdLst/>
            <a:ahLst/>
            <a:cxnLst/>
            <a:rect r="r" b="b" t="t" l="l"/>
            <a:pathLst>
              <a:path h="2261378" w="5385102">
                <a:moveTo>
                  <a:pt x="0" y="0"/>
                </a:moveTo>
                <a:lnTo>
                  <a:pt x="5385101" y="0"/>
                </a:lnTo>
                <a:lnTo>
                  <a:pt x="5385101" y="2261378"/>
                </a:lnTo>
                <a:lnTo>
                  <a:pt x="0" y="2261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00083" y="1720529"/>
            <a:ext cx="2614870" cy="1248661"/>
          </a:xfrm>
          <a:custGeom>
            <a:avLst/>
            <a:gdLst/>
            <a:ahLst/>
            <a:cxnLst/>
            <a:rect r="r" b="b" t="t" l="l"/>
            <a:pathLst>
              <a:path h="1248661" w="2614870">
                <a:moveTo>
                  <a:pt x="0" y="0"/>
                </a:moveTo>
                <a:lnTo>
                  <a:pt x="2614869" y="0"/>
                </a:lnTo>
                <a:lnTo>
                  <a:pt x="2614869" y="1248661"/>
                </a:lnTo>
                <a:lnTo>
                  <a:pt x="0" y="12486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34723" y="1720529"/>
            <a:ext cx="2614870" cy="1248661"/>
          </a:xfrm>
          <a:custGeom>
            <a:avLst/>
            <a:gdLst/>
            <a:ahLst/>
            <a:cxnLst/>
            <a:rect r="r" b="b" t="t" l="l"/>
            <a:pathLst>
              <a:path h="1248661" w="2614870">
                <a:moveTo>
                  <a:pt x="0" y="0"/>
                </a:moveTo>
                <a:lnTo>
                  <a:pt x="2614869" y="0"/>
                </a:lnTo>
                <a:lnTo>
                  <a:pt x="2614869" y="1248661"/>
                </a:lnTo>
                <a:lnTo>
                  <a:pt x="0" y="12486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76183" y="3116580"/>
            <a:ext cx="8219037" cy="331441"/>
          </a:xfrm>
          <a:custGeom>
            <a:avLst/>
            <a:gdLst/>
            <a:ahLst/>
            <a:cxnLst/>
            <a:rect r="r" b="b" t="t" l="l"/>
            <a:pathLst>
              <a:path h="331441" w="8219037">
                <a:moveTo>
                  <a:pt x="0" y="0"/>
                </a:moveTo>
                <a:lnTo>
                  <a:pt x="8219037" y="0"/>
                </a:lnTo>
                <a:lnTo>
                  <a:pt x="8219037" y="331441"/>
                </a:lnTo>
                <a:lnTo>
                  <a:pt x="0" y="3314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45352" y="3669554"/>
            <a:ext cx="5385102" cy="2261378"/>
          </a:xfrm>
          <a:custGeom>
            <a:avLst/>
            <a:gdLst/>
            <a:ahLst/>
            <a:cxnLst/>
            <a:rect r="r" b="b" t="t" l="l"/>
            <a:pathLst>
              <a:path h="2261378" w="5385102">
                <a:moveTo>
                  <a:pt x="0" y="0"/>
                </a:moveTo>
                <a:lnTo>
                  <a:pt x="5385102" y="0"/>
                </a:lnTo>
                <a:lnTo>
                  <a:pt x="5385102" y="2261378"/>
                </a:lnTo>
                <a:lnTo>
                  <a:pt x="0" y="22613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455400"/>
            <a:ext cx="104996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7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· CHECKLIST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6633" y="1038215"/>
            <a:ext cx="4531604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critérios — visão geral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6116" y="2152540"/>
            <a:ext cx="705355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70403" y="2152540"/>
            <a:ext cx="484537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05043" y="2152540"/>
            <a:ext cx="1016222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39683" y="2152540"/>
            <a:ext cx="959949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aplicável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9380" y="2013709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13667" y="2013709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48136" y="2013709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6452" y="2013709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8484" y="383637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484" y="440301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8484" y="497002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8484" y="553702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2803" y="3187665"/>
            <a:ext cx="1146210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itens avaliados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93043" y="383637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93043" y="440301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93043" y="497002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93043" y="553702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6801" y="4984794"/>
            <a:ext cx="1413805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Contraste mínimo de cores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7163" y="4417809"/>
            <a:ext cx="1468098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Idioma da página declarado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7163" y="3851158"/>
            <a:ext cx="1550994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Texto alternativo em imagens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6801" y="5551799"/>
            <a:ext cx="2057791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Redimensionamento de texto até 200%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21713" y="3851158"/>
            <a:ext cx="1326690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Hierarquia de cabeçalhos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21713" y="4417809"/>
            <a:ext cx="1382430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1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Título de página descritivo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21360" y="5551799"/>
            <a:ext cx="1723558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Navegação completa por teclado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21713" y="4984794"/>
            <a:ext cx="2546890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Cor não é o único meio de transmitir informação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58004" y="3891524"/>
            <a:ext cx="331441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</a:t>
            </a:r>
            <a:r>
              <a:rPr lang="en-US" b="true" sz="75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058004" y="5592528"/>
            <a:ext cx="331441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</a:t>
            </a:r>
            <a:r>
              <a:rPr lang="en-US" b="true" sz="75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983480" y="4458529"/>
            <a:ext cx="485966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79438" y="5025523"/>
            <a:ext cx="70024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97677" y="4458529"/>
            <a:ext cx="485966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97677" y="5592528"/>
            <a:ext cx="485966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93645" y="3891524"/>
            <a:ext cx="70024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93645" y="5025523"/>
            <a:ext cx="70024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921558" y="6238399"/>
            <a:ext cx="2344226" cy="14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85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Continuação dos itens 9–15 no próximo slide.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5857" y="1710414"/>
            <a:ext cx="10825439" cy="4368832"/>
          </a:xfrm>
          <a:custGeom>
            <a:avLst/>
            <a:gdLst/>
            <a:ahLst/>
            <a:cxnLst/>
            <a:rect r="r" b="b" t="t" l="l"/>
            <a:pathLst>
              <a:path h="4368832" w="10825439">
                <a:moveTo>
                  <a:pt x="0" y="0"/>
                </a:moveTo>
                <a:lnTo>
                  <a:pt x="10825439" y="0"/>
                </a:lnTo>
                <a:lnTo>
                  <a:pt x="10825439" y="4368832"/>
                </a:lnTo>
                <a:lnTo>
                  <a:pt x="0" y="4368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6280" y="455400"/>
            <a:ext cx="104996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7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· CHECKLIST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6280" y="1038215"/>
            <a:ext cx="4809144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critérios — continuação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8279" y="191613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 spc="8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8084" y="1971637"/>
            <a:ext cx="35042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832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284" y="253785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2284" y="3159585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284" y="378130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284" y="4403017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2284" y="5025095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2284" y="564681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1404" y="1971637"/>
            <a:ext cx="1632890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Indicador</a:t>
            </a:r>
            <a:r>
              <a:rPr lang="en-US" b="true" sz="1040" spc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</a:t>
            </a:r>
            <a:r>
              <a:rPr lang="en-US" b="true" sz="1040" spc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focovisível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1033" y="4458862"/>
            <a:ext cx="1768459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Links com texto descritivo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1033" y="5080597"/>
            <a:ext cx="2511666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Controle de conteúdo em movimento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1404" y="2593705"/>
            <a:ext cx="2531202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Link para pular ao conteúdo principal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1404" y="5702665"/>
            <a:ext cx="2627424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Estrutura semântica e marcação válida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1404" y="3215430"/>
            <a:ext cx="3060944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Rótulos associados aos campos de formulário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1033" y="3837146"/>
            <a:ext cx="3056906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Identificação e sugestão de correção de erros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50831" y="2579141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2.4.1 (A)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50831" y="3200867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3.3.2 (A)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50831" y="4444670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2.4.4 (A)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50831" y="5066386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2.2.2 (A)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50831" y="5688101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(A)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09277" y="3822583"/>
            <a:ext cx="669979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3.3.1 (A / AA)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79918" y="1957426"/>
            <a:ext cx="496281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2.4.7 (AA)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94519" y="1971284"/>
            <a:ext cx="331441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</a:t>
            </a:r>
            <a:r>
              <a:rPr lang="en-US" b="true" sz="75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94519" y="4458529"/>
            <a:ext cx="331441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</a:t>
            </a:r>
            <a:r>
              <a:rPr lang="en-US" b="true" sz="75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94519" y="5701960"/>
            <a:ext cx="331441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</a:t>
            </a:r>
            <a:r>
              <a:rPr lang="en-US" b="true" sz="75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75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19996" y="2593000"/>
            <a:ext cx="485966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19996" y="3215088"/>
            <a:ext cx="485966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15954" y="5080244"/>
            <a:ext cx="700249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35042" y="3836803"/>
            <a:ext cx="661807" cy="1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4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aplicável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8056" y="1691726"/>
            <a:ext cx="3823383" cy="4333151"/>
          </a:xfrm>
          <a:custGeom>
            <a:avLst/>
            <a:gdLst/>
            <a:ahLst/>
            <a:cxnLst/>
            <a:rect r="r" b="b" t="t" l="l"/>
            <a:pathLst>
              <a:path h="4333151" w="3823383">
                <a:moveTo>
                  <a:pt x="0" y="0"/>
                </a:moveTo>
                <a:lnTo>
                  <a:pt x="3823382" y="0"/>
                </a:lnTo>
                <a:lnTo>
                  <a:pt x="3823382" y="4333151"/>
                </a:lnTo>
                <a:lnTo>
                  <a:pt x="0" y="433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04471" y="3913270"/>
            <a:ext cx="6974862" cy="2111969"/>
          </a:xfrm>
          <a:custGeom>
            <a:avLst/>
            <a:gdLst/>
            <a:ahLst/>
            <a:cxnLst/>
            <a:rect r="r" b="b" t="t" l="l"/>
            <a:pathLst>
              <a:path h="2111969" w="6974862">
                <a:moveTo>
                  <a:pt x="0" y="0"/>
                </a:moveTo>
                <a:lnTo>
                  <a:pt x="6974862" y="0"/>
                </a:lnTo>
                <a:lnTo>
                  <a:pt x="6974862" y="2111969"/>
                </a:lnTo>
                <a:lnTo>
                  <a:pt x="0" y="2111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44480" y="1691726"/>
            <a:ext cx="6984940" cy="2120265"/>
          </a:xfrm>
          <a:custGeom>
            <a:avLst/>
            <a:gdLst/>
            <a:ahLst/>
            <a:cxnLst/>
            <a:rect r="r" b="b" t="t" l="l"/>
            <a:pathLst>
              <a:path h="2120265" w="6984940">
                <a:moveTo>
                  <a:pt x="0" y="0"/>
                </a:moveTo>
                <a:lnTo>
                  <a:pt x="6984940" y="0"/>
                </a:lnTo>
                <a:lnTo>
                  <a:pt x="6984940" y="2120265"/>
                </a:lnTo>
                <a:lnTo>
                  <a:pt x="0" y="21202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5762" y="6473447"/>
            <a:ext cx="58103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7355" y="4238282"/>
            <a:ext cx="211722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ASES · GOVERNO FEDERAL · eMAG 3.1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08999" y="2652036"/>
            <a:ext cx="286426" cy="51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err</a:t>
            </a: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os</a:t>
            </a:r>
          </a:p>
          <a:p>
            <a:pPr algn="ctr">
              <a:lnSpc>
                <a:spcPts val="532"/>
              </a:lnSpc>
            </a:pPr>
          </a:p>
          <a:p>
            <a:pPr algn="ctr">
              <a:lnSpc>
                <a:spcPts val="532"/>
              </a:lnSpc>
            </a:pPr>
          </a:p>
          <a:p>
            <a:pPr algn="ctr">
              <a:lnSpc>
                <a:spcPts val="532"/>
              </a:lnSpc>
            </a:pPr>
          </a:p>
          <a:p>
            <a:pPr algn="ctr">
              <a:lnSpc>
                <a:spcPts val="1358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16766" y="4329722"/>
            <a:ext cx="1270892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ATENÇÃO NA LEITURA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280" y="455400"/>
            <a:ext cx="1926431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09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 · AVALIADORES OFICIAIS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280" y="1038215"/>
            <a:ext cx="6168514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o WAVE e o ASES apontaram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6124" y="4638294"/>
            <a:ext cx="6055890" cy="38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16 recursos corretos e 42 elementos estruturais. Os 4 erros vêm da Barra do Governo Federal, não do código do IFAL.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7243" y="2400738"/>
            <a:ext cx="2837450" cy="124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b="true" sz="4501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90,48%</a:t>
            </a:r>
          </a:p>
          <a:p>
            <a:pPr algn="ctr">
              <a:lnSpc>
                <a:spcPts val="1210"/>
              </a:lnSpc>
            </a:pPr>
            <a:r>
              <a:rPr lang="en-US" sz="94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Total: 40 erros e 310 avisos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883" y="4985947"/>
            <a:ext cx="2883589" cy="3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Marcação: 29 erros · Conteúdo: 11 erros · demais seções sem erro.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3764" y="2075459"/>
            <a:ext cx="1208637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WAVE · WebAIM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21191" y="2548471"/>
            <a:ext cx="515760" cy="71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6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contraste</a:t>
            </a:r>
          </a:p>
          <a:p>
            <a:pPr algn="ctr">
              <a:lnSpc>
                <a:spcPts val="3664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1719" y="2548471"/>
            <a:ext cx="371789" cy="71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36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alertas</a:t>
            </a:r>
          </a:p>
          <a:p>
            <a:pPr algn="just">
              <a:lnSpc>
                <a:spcPts val="3664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8037" y="1673714"/>
            <a:ext cx="6794487" cy="4497695"/>
          </a:xfrm>
          <a:custGeom>
            <a:avLst/>
            <a:gdLst/>
            <a:ahLst/>
            <a:cxnLst/>
            <a:rect r="r" b="b" t="t" l="l"/>
            <a:pathLst>
              <a:path h="4497695" w="6794487">
                <a:moveTo>
                  <a:pt x="0" y="0"/>
                </a:moveTo>
                <a:lnTo>
                  <a:pt x="6794487" y="0"/>
                </a:lnTo>
                <a:lnTo>
                  <a:pt x="6794487" y="4497695"/>
                </a:lnTo>
                <a:lnTo>
                  <a:pt x="0" y="4497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2764" y="2414178"/>
            <a:ext cx="6144111" cy="2495140"/>
            <a:chOff x="0" y="0"/>
            <a:chExt cx="8192148" cy="3326854"/>
          </a:xfrm>
        </p:grpSpPr>
        <p:sp>
          <p:nvSpPr>
            <p:cNvPr name="Freeform 5" id="5" descr="/mnt/data/original_render/p12.png"/>
            <p:cNvSpPr/>
            <p:nvPr/>
          </p:nvSpPr>
          <p:spPr>
            <a:xfrm flipH="false" flipV="false" rot="0">
              <a:off x="0" y="0"/>
              <a:ext cx="8192135" cy="3326892"/>
            </a:xfrm>
            <a:custGeom>
              <a:avLst/>
              <a:gdLst/>
              <a:ahLst/>
              <a:cxnLst/>
              <a:rect r="r" b="b" t="t" l="l"/>
              <a:pathLst>
                <a:path h="3326892" w="8192135">
                  <a:moveTo>
                    <a:pt x="0" y="0"/>
                  </a:moveTo>
                  <a:lnTo>
                    <a:pt x="8192135" y="0"/>
                  </a:lnTo>
                  <a:lnTo>
                    <a:pt x="8192135" y="3326892"/>
                  </a:lnTo>
                  <a:lnTo>
                    <a:pt x="0" y="3326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" r="0" b="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54357" y="5108038"/>
            <a:ext cx="6100924" cy="599761"/>
          </a:xfrm>
          <a:custGeom>
            <a:avLst/>
            <a:gdLst/>
            <a:ahLst/>
            <a:cxnLst/>
            <a:rect r="r" b="b" t="t" l="l"/>
            <a:pathLst>
              <a:path h="599761" w="6100924">
                <a:moveTo>
                  <a:pt x="0" y="0"/>
                </a:moveTo>
                <a:lnTo>
                  <a:pt x="6100925" y="0"/>
                </a:lnTo>
                <a:lnTo>
                  <a:pt x="6100925" y="599761"/>
                </a:lnTo>
                <a:lnTo>
                  <a:pt x="0" y="599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44953" y="1673714"/>
            <a:ext cx="4011692" cy="4497686"/>
          </a:xfrm>
          <a:custGeom>
            <a:avLst/>
            <a:gdLst/>
            <a:ahLst/>
            <a:cxnLst/>
            <a:rect r="r" b="b" t="t" l="l"/>
            <a:pathLst>
              <a:path h="4497686" w="4011692">
                <a:moveTo>
                  <a:pt x="0" y="0"/>
                </a:moveTo>
                <a:lnTo>
                  <a:pt x="4011691" y="0"/>
                </a:lnTo>
                <a:lnTo>
                  <a:pt x="4011691" y="4497686"/>
                </a:lnTo>
                <a:lnTo>
                  <a:pt x="0" y="44976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73447"/>
            <a:ext cx="58103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280" y="455400"/>
            <a:ext cx="166230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3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 · ACHADOS CRÍTICOS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280" y="1038215"/>
            <a:ext cx="6337573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Onde estão as principais barreiras?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5579" y="2078688"/>
            <a:ext cx="37043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040" y="2078688"/>
            <a:ext cx="1499616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69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BANNER</a:t>
            </a:r>
            <a:r>
              <a:rPr lang="en-US" b="true" sz="1099" spc="6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99" spc="69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ROTATIVO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18199" y="2078688"/>
            <a:ext cx="1658045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MEDIDO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1235" y="5255847"/>
            <a:ext cx="5752205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b="true" sz="921" spc="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22×20 px · contraste 1,66:1 · slide ativo identificado apenas pela cor · troca a cada 4 s · sem botão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32476" y="5396617"/>
            <a:ext cx="535743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b="true" sz="921" spc="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 pausa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70075" y="4683436"/>
            <a:ext cx="777147" cy="53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193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1,56:1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47043" y="5652383"/>
            <a:ext cx="28261" cy="1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4"/>
              </a:lnSpc>
            </a:pPr>
            <a:r>
              <a:rPr lang="en-US" sz="83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50963" y="3836889"/>
            <a:ext cx="1040159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“Voltar para o topo”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50963" y="3260893"/>
            <a:ext cx="1047674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Botão do slide ativo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50963" y="4989252"/>
            <a:ext cx="1326785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Foco sobre fundo branco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50601" y="4413256"/>
            <a:ext cx="1367590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Barra do Governo Federal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50963" y="2684888"/>
            <a:ext cx="1672171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5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Botão de navegação do banner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75603" y="5652383"/>
            <a:ext cx="2457926" cy="14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4"/>
              </a:lnSpc>
            </a:pPr>
            <a:r>
              <a:rPr lang="en-US" sz="83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Exigência de contraste de texto: 4,5:1 · foco: 3,0:1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17700" y="4107440"/>
            <a:ext cx="777147" cy="53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193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4,0:1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27724" y="3531073"/>
            <a:ext cx="777147" cy="53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193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4,48:1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79600" y="2919636"/>
            <a:ext cx="777147" cy="53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193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3,0:1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07681" y="2379072"/>
            <a:ext cx="777147" cy="53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193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1,66:1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513" y="1673362"/>
            <a:ext cx="4834661" cy="4570771"/>
          </a:xfrm>
          <a:custGeom>
            <a:avLst/>
            <a:gdLst/>
            <a:ahLst/>
            <a:cxnLst/>
            <a:rect r="r" b="b" t="t" l="l"/>
            <a:pathLst>
              <a:path h="4570771" w="4834661">
                <a:moveTo>
                  <a:pt x="0" y="0"/>
                </a:moveTo>
                <a:lnTo>
                  <a:pt x="4834661" y="0"/>
                </a:lnTo>
                <a:lnTo>
                  <a:pt x="4834661" y="4570771"/>
                </a:lnTo>
                <a:lnTo>
                  <a:pt x="0" y="45707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37718" y="2480228"/>
            <a:ext cx="4350250" cy="2445611"/>
            <a:chOff x="0" y="0"/>
            <a:chExt cx="5241595" cy="2946705"/>
          </a:xfrm>
        </p:grpSpPr>
        <p:sp>
          <p:nvSpPr>
            <p:cNvPr name="Freeform 5" id="5" descr="/mnt/data/original_render/p13.png"/>
            <p:cNvSpPr/>
            <p:nvPr/>
          </p:nvSpPr>
          <p:spPr>
            <a:xfrm flipH="false" flipV="false" rot="0">
              <a:off x="0" y="0"/>
              <a:ext cx="5241544" cy="2946654"/>
            </a:xfrm>
            <a:custGeom>
              <a:avLst/>
              <a:gdLst/>
              <a:ahLst/>
              <a:cxnLst/>
              <a:rect r="r" b="b" t="t" l="l"/>
              <a:pathLst>
                <a:path h="2946654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2946654"/>
                  </a:lnTo>
                  <a:lnTo>
                    <a:pt x="0" y="2946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13568" y="1718720"/>
            <a:ext cx="5917501" cy="969674"/>
          </a:xfrm>
          <a:custGeom>
            <a:avLst/>
            <a:gdLst/>
            <a:ahLst/>
            <a:cxnLst/>
            <a:rect r="r" b="b" t="t" l="l"/>
            <a:pathLst>
              <a:path h="969674" w="5917501">
                <a:moveTo>
                  <a:pt x="0" y="0"/>
                </a:moveTo>
                <a:lnTo>
                  <a:pt x="5917502" y="0"/>
                </a:lnTo>
                <a:lnTo>
                  <a:pt x="5917502" y="969673"/>
                </a:lnTo>
                <a:lnTo>
                  <a:pt x="0" y="969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13568" y="2797654"/>
            <a:ext cx="5917501" cy="969664"/>
          </a:xfrm>
          <a:custGeom>
            <a:avLst/>
            <a:gdLst/>
            <a:ahLst/>
            <a:cxnLst/>
            <a:rect r="r" b="b" t="t" l="l"/>
            <a:pathLst>
              <a:path h="969664" w="5917501">
                <a:moveTo>
                  <a:pt x="0" y="0"/>
                </a:moveTo>
                <a:lnTo>
                  <a:pt x="5917502" y="0"/>
                </a:lnTo>
                <a:lnTo>
                  <a:pt x="5917502" y="969664"/>
                </a:lnTo>
                <a:lnTo>
                  <a:pt x="0" y="9696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13568" y="3876570"/>
            <a:ext cx="5917501" cy="969674"/>
          </a:xfrm>
          <a:custGeom>
            <a:avLst/>
            <a:gdLst/>
            <a:ahLst/>
            <a:cxnLst/>
            <a:rect r="r" b="b" t="t" l="l"/>
            <a:pathLst>
              <a:path h="969674" w="5917501">
                <a:moveTo>
                  <a:pt x="0" y="0"/>
                </a:moveTo>
                <a:lnTo>
                  <a:pt x="5917502" y="0"/>
                </a:lnTo>
                <a:lnTo>
                  <a:pt x="5917502" y="969674"/>
                </a:lnTo>
                <a:lnTo>
                  <a:pt x="0" y="9696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13568" y="4955848"/>
            <a:ext cx="5917501" cy="969664"/>
          </a:xfrm>
          <a:custGeom>
            <a:avLst/>
            <a:gdLst/>
            <a:ahLst/>
            <a:cxnLst/>
            <a:rect r="r" b="b" t="t" l="l"/>
            <a:pathLst>
              <a:path h="969664" w="5917501">
                <a:moveTo>
                  <a:pt x="0" y="0"/>
                </a:moveTo>
                <a:lnTo>
                  <a:pt x="5917502" y="0"/>
                </a:lnTo>
                <a:lnTo>
                  <a:pt x="5917502" y="969664"/>
                </a:lnTo>
                <a:lnTo>
                  <a:pt x="0" y="9696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57320" y="6473447"/>
            <a:ext cx="58103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455400"/>
            <a:ext cx="838505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8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 · MOBILE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6633" y="1038215"/>
            <a:ext cx="8581787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Quando a tela fica estreita, o problema aparece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11837" y="2080441"/>
            <a:ext cx="35328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65464" y="5390659"/>
            <a:ext cx="1494758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330 px de conteúdo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8260" y="5702265"/>
            <a:ext cx="1852612" cy="22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33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em uma tela de 320 px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62101" y="5683215"/>
            <a:ext cx="1562100" cy="22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33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rolagem horizontal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2041" y="5702265"/>
            <a:ext cx="141605" cy="22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330">
                <a:solidFill>
                  <a:srgbClr val="A9C1C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→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43248" y="1987067"/>
            <a:ext cx="296066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43248" y="3066002"/>
            <a:ext cx="148295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5406" y="4144918"/>
            <a:ext cx="740416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1,66:1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43600" y="5224196"/>
            <a:ext cx="1039073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 spc="2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412×915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69128" y="2080441"/>
            <a:ext cx="1079830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alvos</a:t>
            </a:r>
            <a:r>
              <a:rPr lang="en-US" b="true" sz="104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&lt;</a:t>
            </a:r>
            <a:r>
              <a:rPr lang="en-US" b="true" sz="104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24×24</a:t>
            </a:r>
            <a:r>
              <a:rPr lang="en-US" b="true" sz="104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69128" y="4238644"/>
            <a:ext cx="1559147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pior razão de contraste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69128" y="3159728"/>
            <a:ext cx="1737941" cy="36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reprovações de contraste confirmadas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69480" y="5317569"/>
            <a:ext cx="1900971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viewport do Pixel 7 emulado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798" y="1674790"/>
            <a:ext cx="5476170" cy="4567904"/>
          </a:xfrm>
          <a:custGeom>
            <a:avLst/>
            <a:gdLst/>
            <a:ahLst/>
            <a:cxnLst/>
            <a:rect r="r" b="b" t="t" l="l"/>
            <a:pathLst>
              <a:path h="4567904" w="5476170">
                <a:moveTo>
                  <a:pt x="0" y="0"/>
                </a:moveTo>
                <a:lnTo>
                  <a:pt x="5476170" y="0"/>
                </a:lnTo>
                <a:lnTo>
                  <a:pt x="5476170" y="4567905"/>
                </a:lnTo>
                <a:lnTo>
                  <a:pt x="0" y="456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28798" y="1673362"/>
            <a:ext cx="5327485" cy="4570771"/>
          </a:xfrm>
          <a:custGeom>
            <a:avLst/>
            <a:gdLst/>
            <a:ahLst/>
            <a:cxnLst/>
            <a:rect r="r" b="b" t="t" l="l"/>
            <a:pathLst>
              <a:path h="4570771" w="5327485">
                <a:moveTo>
                  <a:pt x="0" y="0"/>
                </a:moveTo>
                <a:lnTo>
                  <a:pt x="5327484" y="0"/>
                </a:lnTo>
                <a:lnTo>
                  <a:pt x="5327484" y="4570771"/>
                </a:lnTo>
                <a:lnTo>
                  <a:pt x="0" y="4570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080" y="2107797"/>
            <a:ext cx="48587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VLIBRAS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91921" y="2107797"/>
            <a:ext cx="902141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LEITOR DE TELA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6633" y="455400"/>
            <a:ext cx="196216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2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 · TECNOLOGIA ASSISTIVA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33" y="1038215"/>
            <a:ext cx="6278070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a avaliação manual revelou?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757" y="2618375"/>
            <a:ext cx="3276181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Presente em todas as páginas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757" y="3390433"/>
            <a:ext cx="4412523" cy="47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02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 tradutor de Libras é injetado por barra.brasil.gov.br, não aparece no HTML entregue pelo servidor e passou fora das três frentes automatizadas.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0757" y="4655020"/>
            <a:ext cx="112520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Ponto de atenção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48840" y="4658868"/>
            <a:ext cx="2995498" cy="29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"/>
              </a:lnSpc>
            </a:pPr>
            <a:r>
              <a:rPr lang="en-US" sz="92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A página de Acessibilidade do portal não menciona a presença do recurso.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83328" y="2597582"/>
            <a:ext cx="3265265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Sequência de anúncios observada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90191" y="3275086"/>
            <a:ext cx="318573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1. lista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2557" y="4555246"/>
            <a:ext cx="720442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7. item de lista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9765" y="3915166"/>
            <a:ext cx="889178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4. região principal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63035" y="3275086"/>
            <a:ext cx="318573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2. lista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65401" y="4555246"/>
            <a:ext cx="720442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8. item de lista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33642" y="3915166"/>
            <a:ext cx="989352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5. rodapé da página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38245" y="3915166"/>
            <a:ext cx="720442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6. item de lista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38245" y="4555246"/>
            <a:ext cx="720442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9. item de lista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34115" y="3275086"/>
            <a:ext cx="1135580" cy="14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3. cabeçalho da página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4417" y="1722301"/>
            <a:ext cx="10962951" cy="4866713"/>
          </a:xfrm>
          <a:custGeom>
            <a:avLst/>
            <a:gdLst/>
            <a:ahLst/>
            <a:cxnLst/>
            <a:rect r="r" b="b" t="t" l="l"/>
            <a:pathLst>
              <a:path h="4866713" w="10962951">
                <a:moveTo>
                  <a:pt x="0" y="0"/>
                </a:moveTo>
                <a:lnTo>
                  <a:pt x="10962951" y="0"/>
                </a:lnTo>
                <a:lnTo>
                  <a:pt x="10962951" y="4866713"/>
                </a:lnTo>
                <a:lnTo>
                  <a:pt x="0" y="4866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759" y="3066993"/>
            <a:ext cx="383772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759" y="4273725"/>
            <a:ext cx="383772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2.2.2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8677" y="2162518"/>
            <a:ext cx="45679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NÍVEL 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5007" y="6295682"/>
            <a:ext cx="2078574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RESULTADO: NÃO ATINGE O NÍVEL 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94640" y="2162518"/>
            <a:ext cx="53794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NÍVEL AA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280" y="455400"/>
            <a:ext cx="143179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2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09 · CONFORMIDADE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280" y="1038215"/>
            <a:ext cx="7120109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nível de conformidade não é atingido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0757" y="2634310"/>
            <a:ext cx="1774041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Falhas registradas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2640" y="3111370"/>
            <a:ext cx="49654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1289"/>
              </a:lnSpc>
            </a:pPr>
            <a:r>
              <a:rPr lang="en-US" sz="92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55953" y="2634310"/>
            <a:ext cx="2744876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Principais falhas registradas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14678" y="3054467"/>
            <a:ext cx="29975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10436" y="3111370"/>
            <a:ext cx="919639" cy="18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Uso de cores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10436" y="4318092"/>
            <a:ext cx="1613726" cy="20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Pausar, Parar, Ocultar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11295" y="4514250"/>
            <a:ext cx="31032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sz="92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10436" y="4514250"/>
            <a:ext cx="1948656" cy="15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sz="92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Banner avançaacada 4s, sem pausa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10436" y="3307528"/>
            <a:ext cx="2178367" cy="15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sz="92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Slide ativo diferenciado apenas pela cor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64963" y="2955532"/>
            <a:ext cx="790642" cy="255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160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1.4. 3 </a:t>
            </a:r>
          </a:p>
          <a:p>
            <a:pPr algn="ctr">
              <a:lnSpc>
                <a:spcPts val="2253"/>
              </a:lnSpc>
            </a:pPr>
          </a:p>
          <a:p>
            <a:pPr algn="ctr">
              <a:lnSpc>
                <a:spcPts val="2253"/>
              </a:lnSpc>
            </a:pPr>
            <a:r>
              <a:rPr lang="en-US" b="true" sz="160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1.4.1 0 </a:t>
            </a:r>
          </a:p>
          <a:p>
            <a:pPr algn="ctr">
              <a:lnSpc>
                <a:spcPts val="2253"/>
              </a:lnSpc>
            </a:pPr>
          </a:p>
          <a:p>
            <a:pPr algn="ctr">
              <a:lnSpc>
                <a:spcPts val="2253"/>
              </a:lnSpc>
            </a:pPr>
            <a:r>
              <a:rPr lang="en-US" b="true" sz="160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1.4.1 1 </a:t>
            </a:r>
          </a:p>
          <a:p>
            <a:pPr algn="ctr">
              <a:lnSpc>
                <a:spcPts val="2253"/>
              </a:lnSpc>
            </a:pPr>
          </a:p>
          <a:p>
            <a:pPr algn="ctr">
              <a:lnSpc>
                <a:spcPts val="2253"/>
              </a:lnSpc>
            </a:pPr>
            <a:r>
              <a:rPr lang="en-US" b="true" sz="160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1.4.1 2 </a:t>
            </a:r>
          </a:p>
          <a:p>
            <a:pPr algn="ctr">
              <a:lnSpc>
                <a:spcPts val="2253"/>
              </a:lnSpc>
            </a:pPr>
          </a:p>
          <a:p>
            <a:pPr algn="ctr">
              <a:lnSpc>
                <a:spcPts val="2253"/>
              </a:lnSpc>
            </a:pPr>
            <a:r>
              <a:rPr lang="en-US" b="true" sz="160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2.5. 8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61361" y="3593744"/>
            <a:ext cx="389496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Reflow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61361" y="5212309"/>
            <a:ext cx="975236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Tamanho do alvo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61361" y="3054467"/>
            <a:ext cx="1036406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</a:t>
            </a:r>
            <a:r>
              <a:rPr lang="en-US" b="true" sz="89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mínimo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61361" y="4673032"/>
            <a:ext cx="1272035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Espaçamento de texto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61361" y="4133383"/>
            <a:ext cx="1251623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não textual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89368" y="3648485"/>
            <a:ext cx="1176166" cy="1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330 px em tela de 320 px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89368" y="5267049"/>
            <a:ext cx="1210199" cy="1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23 de 51 alvos &lt; 24×24 px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88996" y="3067774"/>
            <a:ext cx="1702765" cy="21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4 reprovações confirmadas; pior em 1,66:1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89368" y="4686338"/>
            <a:ext cx="1645310" cy="22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Rolagem horizontal + 3 elementos cortados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88996" y="4188133"/>
            <a:ext cx="1671256" cy="13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Foco em 1,56:1 sobre fundo branco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0431" y="1719434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0431" y="2706910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431" y="3694395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0431" y="4682223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63354" y="1719434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63354" y="2706910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63354" y="3694395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63354" y="4682223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194" y="4000681"/>
            <a:ext cx="28280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8194" y="4988157"/>
            <a:ext cx="28280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9287" y="2025358"/>
            <a:ext cx="46322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CRÍTICA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287" y="3013205"/>
            <a:ext cx="46322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CRÍTICA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0764" y="2025358"/>
            <a:ext cx="28280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0764" y="3013205"/>
            <a:ext cx="28280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9996" y="4000681"/>
            <a:ext cx="38696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MÉDIA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49996" y="4988157"/>
            <a:ext cx="38696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6633" y="455400"/>
            <a:ext cx="667674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07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 · 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6633" y="1038215"/>
            <a:ext cx="5043868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Recomendações priorizadas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80307" y="1961712"/>
            <a:ext cx="34366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10877" y="1961712"/>
            <a:ext cx="1998926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Banner</a:t>
            </a:r>
            <a:r>
              <a:rPr lang="en-US" b="true" sz="102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sem</a:t>
            </a:r>
            <a:r>
              <a:rPr lang="en-US" b="true" sz="102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controle</a:t>
            </a:r>
            <a:r>
              <a:rPr lang="en-US" b="true" sz="102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</a:t>
            </a:r>
            <a:r>
              <a:rPr lang="en-US" b="true" sz="102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pausa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36581" y="2270722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10877" y="4924873"/>
            <a:ext cx="2030387" cy="32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Homepage e contato sem &lt;h1&gt;</a:t>
            </a:r>
          </a:p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/ 2.4.6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10877" y="2949197"/>
            <a:ext cx="2247452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ativo identificado só pela cor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36581" y="3258198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10877" y="3936673"/>
            <a:ext cx="3088748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insuficiente nos controles do banner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36581" y="4246045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43800" y="4924520"/>
            <a:ext cx="2187178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Alvos de toque abaixo do mínimo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69142" y="5233521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43448" y="1961712"/>
            <a:ext cx="2190217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Ausência de região de navegação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69142" y="2270722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43800" y="2949197"/>
            <a:ext cx="2503789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Rolagem horizontal em telas estreitas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26693" y="3258198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43800" y="3936673"/>
            <a:ext cx="2631224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Foco pouco perceptível no fundo branco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26693" y="4245674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10877" y="2270722"/>
            <a:ext cx="38358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2.2.2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10877" y="3258198"/>
            <a:ext cx="38358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10877" y="4246045"/>
            <a:ext cx="449056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1.4.3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(AA)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43448" y="2270722"/>
            <a:ext cx="38358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43448" y="5233521"/>
            <a:ext cx="449047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2.5.8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(AA)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543448" y="3258198"/>
            <a:ext cx="508168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1.4.10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(AA)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43448" y="4245674"/>
            <a:ext cx="508168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1.4.11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(AA)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446" y="1764811"/>
            <a:ext cx="2669238" cy="3190504"/>
          </a:xfrm>
          <a:custGeom>
            <a:avLst/>
            <a:gdLst/>
            <a:ahLst/>
            <a:cxnLst/>
            <a:rect r="r" b="b" t="t" l="l"/>
            <a:pathLst>
              <a:path h="3190504" w="2669238">
                <a:moveTo>
                  <a:pt x="0" y="0"/>
                </a:moveTo>
                <a:lnTo>
                  <a:pt x="2669238" y="0"/>
                </a:lnTo>
                <a:lnTo>
                  <a:pt x="2669238" y="3190504"/>
                </a:lnTo>
                <a:lnTo>
                  <a:pt x="0" y="3190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7450" y="1764811"/>
            <a:ext cx="2669219" cy="3190504"/>
          </a:xfrm>
          <a:custGeom>
            <a:avLst/>
            <a:gdLst/>
            <a:ahLst/>
            <a:cxnLst/>
            <a:rect r="r" b="b" t="t" l="l"/>
            <a:pathLst>
              <a:path h="3190504" w="2669219">
                <a:moveTo>
                  <a:pt x="0" y="0"/>
                </a:moveTo>
                <a:lnTo>
                  <a:pt x="2669219" y="0"/>
                </a:lnTo>
                <a:lnTo>
                  <a:pt x="2669219" y="3190504"/>
                </a:lnTo>
                <a:lnTo>
                  <a:pt x="0" y="31905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0083" y="1764811"/>
            <a:ext cx="2669238" cy="3190504"/>
          </a:xfrm>
          <a:custGeom>
            <a:avLst/>
            <a:gdLst/>
            <a:ahLst/>
            <a:cxnLst/>
            <a:rect r="r" b="b" t="t" l="l"/>
            <a:pathLst>
              <a:path h="3190504" w="2669238">
                <a:moveTo>
                  <a:pt x="0" y="0"/>
                </a:moveTo>
                <a:lnTo>
                  <a:pt x="2669238" y="0"/>
                </a:lnTo>
                <a:lnTo>
                  <a:pt x="2669238" y="3190504"/>
                </a:lnTo>
                <a:lnTo>
                  <a:pt x="0" y="3190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1588" y="5195583"/>
            <a:ext cx="9645348" cy="855240"/>
          </a:xfrm>
          <a:custGeom>
            <a:avLst/>
            <a:gdLst/>
            <a:ahLst/>
            <a:cxnLst/>
            <a:rect r="r" b="b" t="t" l="l"/>
            <a:pathLst>
              <a:path h="855240" w="9645348">
                <a:moveTo>
                  <a:pt x="0" y="0"/>
                </a:moveTo>
                <a:lnTo>
                  <a:pt x="9645348" y="0"/>
                </a:lnTo>
                <a:lnTo>
                  <a:pt x="9645348" y="855240"/>
                </a:lnTo>
                <a:lnTo>
                  <a:pt x="0" y="8552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53087" y="1764811"/>
            <a:ext cx="2669219" cy="3190504"/>
          </a:xfrm>
          <a:custGeom>
            <a:avLst/>
            <a:gdLst/>
            <a:ahLst/>
            <a:cxnLst/>
            <a:rect r="r" b="b" t="t" l="l"/>
            <a:pathLst>
              <a:path h="3190504" w="2669219">
                <a:moveTo>
                  <a:pt x="0" y="0"/>
                </a:moveTo>
                <a:lnTo>
                  <a:pt x="2669219" y="0"/>
                </a:lnTo>
                <a:lnTo>
                  <a:pt x="2669219" y="3190504"/>
                </a:lnTo>
                <a:lnTo>
                  <a:pt x="0" y="31905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280" y="455400"/>
            <a:ext cx="123808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3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 · FECHAMENTO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280" y="1038215"/>
            <a:ext cx="4883877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fica desta avaliação?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9317" y="208966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11959" y="208966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4963" y="208966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17968" y="208966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1740" y="2572990"/>
            <a:ext cx="2254649" cy="65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Aparência não é acessibilidade</a:t>
            </a:r>
          </a:p>
          <a:p>
            <a:pPr algn="ctr">
              <a:lnSpc>
                <a:spcPts val="115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759460" y="2553186"/>
            <a:ext cx="2045198" cy="4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Automação não é experiência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39402" y="3668706"/>
            <a:ext cx="32366" cy="17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5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51866" y="2620868"/>
            <a:ext cx="1874679" cy="28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1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Correções viáveis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76581" y="2553186"/>
            <a:ext cx="1622231" cy="4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Acessibilidade contínua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00640" y="3386941"/>
            <a:ext cx="1962839" cy="58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5"/>
              </a:lnSpc>
            </a:pP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Ferramentas quantificam; o teste humano revela a experiência de uso.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0460" y="3415516"/>
            <a:ext cx="2048485" cy="67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"/>
              </a:lnSpc>
            </a:pP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lt, labels, cabeçalhos e elementos semânticos podem ser corrigidos com baixo custo.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2274" y="3438525"/>
            <a:ext cx="2110845" cy="67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"/>
              </a:lnSpc>
            </a:pP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Cada nova publicação pode reintroduzir barreiras; a reavaliação periódica é recomendada.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34799" y="5497231"/>
            <a:ext cx="6522402" cy="22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b="true" sz="133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Acessibilidade se projeta desde o início — corrigir depois tende a custar mais.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1740" y="3415516"/>
            <a:ext cx="2254649" cy="50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"/>
              </a:lnSpc>
            </a:pP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As barreiras podem estar na marcação e ser invisíveis para quem enxerga a página.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400" y="1491815"/>
            <a:ext cx="384229" cy="501948"/>
          </a:xfrm>
          <a:custGeom>
            <a:avLst/>
            <a:gdLst/>
            <a:ahLst/>
            <a:cxnLst/>
            <a:rect r="r" b="b" t="t" l="l"/>
            <a:pathLst>
              <a:path h="501948" w="384229">
                <a:moveTo>
                  <a:pt x="0" y="0"/>
                </a:moveTo>
                <a:lnTo>
                  <a:pt x="384229" y="0"/>
                </a:lnTo>
                <a:lnTo>
                  <a:pt x="384229" y="501948"/>
                </a:lnTo>
                <a:lnTo>
                  <a:pt x="0" y="501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759" y="2086175"/>
            <a:ext cx="384943" cy="502291"/>
          </a:xfrm>
          <a:custGeom>
            <a:avLst/>
            <a:gdLst/>
            <a:ahLst/>
            <a:cxnLst/>
            <a:rect r="r" b="b" t="t" l="l"/>
            <a:pathLst>
              <a:path h="502291" w="384943">
                <a:moveTo>
                  <a:pt x="0" y="0"/>
                </a:moveTo>
                <a:lnTo>
                  <a:pt x="384943" y="0"/>
                </a:lnTo>
                <a:lnTo>
                  <a:pt x="384943" y="502291"/>
                </a:lnTo>
                <a:lnTo>
                  <a:pt x="0" y="502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461" y="2680526"/>
            <a:ext cx="385334" cy="501958"/>
          </a:xfrm>
          <a:custGeom>
            <a:avLst/>
            <a:gdLst/>
            <a:ahLst/>
            <a:cxnLst/>
            <a:rect r="r" b="b" t="t" l="l"/>
            <a:pathLst>
              <a:path h="501958" w="385334">
                <a:moveTo>
                  <a:pt x="0" y="0"/>
                </a:moveTo>
                <a:lnTo>
                  <a:pt x="385334" y="0"/>
                </a:lnTo>
                <a:lnTo>
                  <a:pt x="385334" y="501957"/>
                </a:lnTo>
                <a:lnTo>
                  <a:pt x="0" y="501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7544" y="3274886"/>
            <a:ext cx="385343" cy="501958"/>
          </a:xfrm>
          <a:custGeom>
            <a:avLst/>
            <a:gdLst/>
            <a:ahLst/>
            <a:cxnLst/>
            <a:rect r="r" b="b" t="t" l="l"/>
            <a:pathLst>
              <a:path h="501958" w="385343">
                <a:moveTo>
                  <a:pt x="0" y="0"/>
                </a:moveTo>
                <a:lnTo>
                  <a:pt x="385343" y="0"/>
                </a:lnTo>
                <a:lnTo>
                  <a:pt x="385343" y="501957"/>
                </a:lnTo>
                <a:lnTo>
                  <a:pt x="0" y="501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2275" y="3869246"/>
            <a:ext cx="384962" cy="502310"/>
          </a:xfrm>
          <a:custGeom>
            <a:avLst/>
            <a:gdLst/>
            <a:ahLst/>
            <a:cxnLst/>
            <a:rect r="r" b="b" t="t" l="l"/>
            <a:pathLst>
              <a:path h="502310" w="384962">
                <a:moveTo>
                  <a:pt x="0" y="0"/>
                </a:moveTo>
                <a:lnTo>
                  <a:pt x="384962" y="0"/>
                </a:lnTo>
                <a:lnTo>
                  <a:pt x="384962" y="502310"/>
                </a:lnTo>
                <a:lnTo>
                  <a:pt x="0" y="5023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1468" y="942184"/>
            <a:ext cx="10855004" cy="5018999"/>
          </a:xfrm>
          <a:custGeom>
            <a:avLst/>
            <a:gdLst/>
            <a:ahLst/>
            <a:cxnLst/>
            <a:rect r="r" b="b" t="t" l="l"/>
            <a:pathLst>
              <a:path h="5018999" w="10855004">
                <a:moveTo>
                  <a:pt x="0" y="0"/>
                </a:moveTo>
                <a:lnTo>
                  <a:pt x="10855005" y="0"/>
                </a:lnTo>
                <a:lnTo>
                  <a:pt x="10855005" y="5018999"/>
                </a:lnTo>
                <a:lnTo>
                  <a:pt x="0" y="50189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8237" y="2537467"/>
            <a:ext cx="2374411" cy="9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5"/>
              </a:lnSpc>
            </a:pPr>
            <a:r>
              <a:rPr lang="en-US" b="true" sz="36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Obrigado!</a:t>
            </a:r>
          </a:p>
          <a:p>
            <a:pPr algn="ctr">
              <a:lnSpc>
                <a:spcPts val="1499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 2.1 · IFAL CAMPUS MACEIÓ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15422" y="3869591"/>
            <a:ext cx="4161155" cy="17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Guilherme de Oliveira Pontes Pinto · Kelven Eduardo Terto dos Santos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25308" y="1742789"/>
            <a:ext cx="2057400" cy="3109632"/>
            <a:chOff x="0" y="0"/>
            <a:chExt cx="812800" cy="12284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228496"/>
            </a:xfrm>
            <a:custGeom>
              <a:avLst/>
              <a:gdLst/>
              <a:ahLst/>
              <a:cxnLst/>
              <a:rect r="r" b="b" t="t" l="l"/>
              <a:pathLst>
                <a:path h="122849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28496"/>
                  </a:lnTo>
                  <a:lnTo>
                    <a:pt x="0" y="1228496"/>
                  </a:lnTo>
                  <a:close/>
                </a:path>
              </a:pathLst>
            </a:custGeom>
            <a:solidFill>
              <a:srgbClr val="0C2C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12800" cy="124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82708" y="985092"/>
            <a:ext cx="1051615" cy="4976091"/>
            <a:chOff x="0" y="0"/>
            <a:chExt cx="415453" cy="19658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5453" cy="1965863"/>
            </a:xfrm>
            <a:custGeom>
              <a:avLst/>
              <a:gdLst/>
              <a:ahLst/>
              <a:cxnLst/>
              <a:rect r="r" b="b" t="t" l="l"/>
              <a:pathLst>
                <a:path h="1965863" w="415453">
                  <a:moveTo>
                    <a:pt x="0" y="0"/>
                  </a:moveTo>
                  <a:lnTo>
                    <a:pt x="415453" y="0"/>
                  </a:lnTo>
                  <a:lnTo>
                    <a:pt x="415453" y="1965863"/>
                  </a:lnTo>
                  <a:lnTo>
                    <a:pt x="0" y="1965863"/>
                  </a:lnTo>
                  <a:close/>
                </a:path>
              </a:pathLst>
            </a:custGeom>
            <a:solidFill>
              <a:srgbClr val="071A2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15453" cy="198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6011053" y="-1382898"/>
            <a:ext cx="1051615" cy="3684366"/>
            <a:chOff x="0" y="0"/>
            <a:chExt cx="415453" cy="14555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5453" cy="1455552"/>
            </a:xfrm>
            <a:custGeom>
              <a:avLst/>
              <a:gdLst/>
              <a:ahLst/>
              <a:cxnLst/>
              <a:rect r="r" b="b" t="t" l="l"/>
              <a:pathLst>
                <a:path h="1455552" w="415453">
                  <a:moveTo>
                    <a:pt x="0" y="0"/>
                  </a:moveTo>
                  <a:lnTo>
                    <a:pt x="415453" y="0"/>
                  </a:lnTo>
                  <a:lnTo>
                    <a:pt x="415453" y="1455552"/>
                  </a:lnTo>
                  <a:lnTo>
                    <a:pt x="0" y="1455552"/>
                  </a:lnTo>
                  <a:close/>
                </a:path>
              </a:pathLst>
            </a:custGeom>
            <a:solidFill>
              <a:srgbClr val="071A2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15453" cy="1474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12768" y="985092"/>
            <a:ext cx="1051615" cy="4976091"/>
            <a:chOff x="0" y="0"/>
            <a:chExt cx="415453" cy="19658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5453" cy="1965863"/>
            </a:xfrm>
            <a:custGeom>
              <a:avLst/>
              <a:gdLst/>
              <a:ahLst/>
              <a:cxnLst/>
              <a:rect r="r" b="b" t="t" l="l"/>
              <a:pathLst>
                <a:path h="1965863" w="415453">
                  <a:moveTo>
                    <a:pt x="0" y="0"/>
                  </a:moveTo>
                  <a:lnTo>
                    <a:pt x="415453" y="0"/>
                  </a:lnTo>
                  <a:lnTo>
                    <a:pt x="415453" y="1965863"/>
                  </a:lnTo>
                  <a:lnTo>
                    <a:pt x="0" y="1965863"/>
                  </a:lnTo>
                  <a:close/>
                </a:path>
              </a:pathLst>
            </a:custGeom>
            <a:solidFill>
              <a:srgbClr val="071A2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15453" cy="198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1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DAHV3lq-xpM</dc:identifier>
  <dcterms:modified xsi:type="dcterms:W3CDTF">2011-08-01T06:04:30Z</dcterms:modified>
  <cp:revision>1</cp:revision>
  <dc:title>Apresentação IHC</dc:title>
</cp:coreProperties>
</file>