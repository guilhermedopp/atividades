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0.svg" ContentType="image/svg+xml"/>
  <Override PartName="/ppt/media/image100.svg" ContentType="image/svg+xml"/>
  <Override PartName="/ppt/media/image102.svg" ContentType="image/svg+xml"/>
  <Override PartName="/ppt/media/image104.svg" ContentType="image/svg+xml"/>
  <Override PartName="/ppt/media/image106.svg" ContentType="image/svg+xml"/>
  <Override PartName="/ppt/media/image108.svg" ContentType="image/svg+xml"/>
  <Override PartName="/ppt/media/image110.svg" ContentType="image/svg+xml"/>
  <Override PartName="/ppt/media/image112.svg" ContentType="image/svg+xml"/>
  <Override PartName="/ppt/media/image114.svg" ContentType="image/svg+xml"/>
  <Override PartName="/ppt/media/image116.svg" ContentType="image/svg+xml"/>
  <Override PartName="/ppt/media/image118.svg" ContentType="image/svg+xml"/>
  <Override PartName="/ppt/media/image119.svg" ContentType="image/svg+xml"/>
  <Override PartName="/ppt/media/image12.svg" ContentType="image/svg+xml"/>
  <Override PartName="/ppt/media/image121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5.svg" ContentType="image/svg+xml"/>
  <Override PartName="/ppt/media/image27.svg" ContentType="image/svg+xml"/>
  <Override PartName="/ppt/media/image29.svg" ContentType="image/svg+xml"/>
  <Override PartName="/ppt/media/image31.svg" ContentType="image/svg+xml"/>
  <Override PartName="/ppt/media/image33.svg" ContentType="image/svg+xml"/>
  <Override PartName="/ppt/media/image35.svg" ContentType="image/svg+xml"/>
  <Override PartName="/ppt/media/image37.svg" ContentType="image/svg+xml"/>
  <Override PartName="/ppt/media/image39.svg" ContentType="image/svg+xml"/>
  <Override PartName="/ppt/media/image4.svg" ContentType="image/svg+xml"/>
  <Override PartName="/ppt/media/image41.svg" ContentType="image/svg+xml"/>
  <Override PartName="/ppt/media/image43.svg" ContentType="image/svg+xml"/>
  <Override PartName="/ppt/media/image45.svg" ContentType="image/svg+xml"/>
  <Override PartName="/ppt/media/image47.svg" ContentType="image/svg+xml"/>
  <Override PartName="/ppt/media/image49.svg" ContentType="image/svg+xml"/>
  <Override PartName="/ppt/media/image51.svg" ContentType="image/svg+xml"/>
  <Override PartName="/ppt/media/image53.svg" ContentType="image/svg+xml"/>
  <Override PartName="/ppt/media/image54.svg" ContentType="image/svg+xml"/>
  <Override PartName="/ppt/media/image56.svg" ContentType="image/svg+xml"/>
  <Override PartName="/ppt/media/image58.svg" ContentType="image/svg+xml"/>
  <Override PartName="/ppt/media/image6.svg" ContentType="image/svg+xml"/>
  <Override PartName="/ppt/media/image60.svg" ContentType="image/svg+xml"/>
  <Override PartName="/ppt/media/image62.svg" ContentType="image/svg+xml"/>
  <Override PartName="/ppt/media/image64.svg" ContentType="image/svg+xml"/>
  <Override PartName="/ppt/media/image67.svg" ContentType="image/svg+xml"/>
  <Override PartName="/ppt/media/image69.svg" ContentType="image/svg+xml"/>
  <Override PartName="/ppt/media/image71.svg" ContentType="image/svg+xml"/>
  <Override PartName="/ppt/media/image74.svg" ContentType="image/svg+xml"/>
  <Override PartName="/ppt/media/image76.svg" ContentType="image/svg+xml"/>
  <Override PartName="/ppt/media/image78.svg" ContentType="image/svg+xml"/>
  <Override PartName="/ppt/media/image8.svg" ContentType="image/svg+xml"/>
  <Override PartName="/ppt/media/image80.svg" ContentType="image/svg+xml"/>
  <Override PartName="/ppt/media/image82.svg" ContentType="image/svg+xml"/>
  <Override PartName="/ppt/media/image84.svg" ContentType="image/svg+xml"/>
  <Override PartName="/ppt/media/image86.svg" ContentType="image/svg+xml"/>
  <Override PartName="/ppt/media/image88.svg" ContentType="image/svg+xml"/>
  <Override PartName="/ppt/media/image90.svg" ContentType="image/svg+xml"/>
  <Override PartName="/ppt/media/image92.svg" ContentType="image/svg+xml"/>
  <Override PartName="/ppt/media/image94.svg" ContentType="image/svg+xml"/>
  <Override PartName="/ppt/media/image96.svg" ContentType="image/svg+xml"/>
  <Override PartName="/ppt/media/image98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2192000" cy="6858000"/>
  <p:notesSz cx="6858000" cy="9144000"/>
  <p:embeddedFontLst>
    <p:embeddedFont>
      <p:font typeface="Noto Sans Bold" charset="1" panose="020B0802040504020204"/>
      <p:regular r:id="rId20"/>
    </p:embeddedFont>
    <p:embeddedFont>
      <p:font typeface="Noto Sans" charset="1" panose="020B0502040504020204"/>
      <p:regular r:id="rId21"/>
    </p:embeddedFont>
    <p:embeddedFont>
      <p:font typeface="DejaVu Sans Light" charset="1" panose="020B0603030804020204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font" Target="fonts/font20.fntdata"/><Relationship Id="rId21" Type="http://schemas.openxmlformats.org/officeDocument/2006/relationships/font" Target="fonts/font21.fntdata"/><Relationship Id="rId22" Type="http://schemas.openxmlformats.org/officeDocument/2006/relationships/font" Target="fonts/font22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image" Target="../media/image5.png"/><Relationship Id="rId5" Type="http://schemas.openxmlformats.org/officeDocument/2006/relationships/image" Target="../media/image6.svg"/><Relationship Id="rId6" Type="http://schemas.openxmlformats.org/officeDocument/2006/relationships/image" Target="../media/image7.png"/><Relationship Id="rId7" Type="http://schemas.openxmlformats.org/officeDocument/2006/relationships/image" Target="../media/image8.svg"/><Relationship Id="rId8" Type="http://schemas.openxmlformats.org/officeDocument/2006/relationships/image" Target="../media/image9.png"/><Relationship Id="rId9" Type="http://schemas.openxmlformats.org/officeDocument/2006/relationships/image" Target="../media/image10.svg"/><Relationship Id="rId10" Type="http://schemas.openxmlformats.org/officeDocument/2006/relationships/image" Target="../media/image11.png"/><Relationship Id="rId11" Type="http://schemas.openxmlformats.org/officeDocument/2006/relationships/image" Target="../media/image12.svg"/><Relationship Id="rId12" Type="http://schemas.openxmlformats.org/officeDocument/2006/relationships/image" Target="../media/image13.png"/><Relationship Id="rId13" Type="http://schemas.openxmlformats.org/officeDocument/2006/relationships/image" Target="../media/image14.svg"/><Relationship Id="rId14" Type="http://schemas.openxmlformats.org/officeDocument/2006/relationships/image" Target="../media/image15.png"/><Relationship Id="rId15" Type="http://schemas.openxmlformats.org/officeDocument/2006/relationships/image" Target="../media/image16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svg"/><Relationship Id="rId4" Type="http://schemas.openxmlformats.org/officeDocument/2006/relationships/image" Target="../media/image19.png"/><Relationship Id="rId5" Type="http://schemas.openxmlformats.org/officeDocument/2006/relationships/image" Target="../media/image20.svg"/><Relationship Id="rId6" Type="http://schemas.openxmlformats.org/officeDocument/2006/relationships/image" Target="../media/image21.png"/><Relationship Id="rId7" Type="http://schemas.openxmlformats.org/officeDocument/2006/relationships/image" Target="../media/image22.svg"/><Relationship Id="rId8" Type="http://schemas.openxmlformats.org/officeDocument/2006/relationships/image" Target="../media/image23.png"/><Relationship Id="rId9" Type="http://schemas.openxmlformats.org/officeDocument/2006/relationships/image" Target="../media/image24.svg"/><Relationship Id="rId10" Type="http://schemas.openxmlformats.org/officeDocument/2006/relationships/image" Target="../media/image9.png"/><Relationship Id="rId11" Type="http://schemas.openxmlformats.org/officeDocument/2006/relationships/image" Target="../media/image25.svg"/><Relationship Id="rId12" Type="http://schemas.openxmlformats.org/officeDocument/2006/relationships/image" Target="../media/image26.png"/><Relationship Id="rId13" Type="http://schemas.openxmlformats.org/officeDocument/2006/relationships/image" Target="../media/image27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image" Target="../media/image29.svg"/><Relationship Id="rId4" Type="http://schemas.openxmlformats.org/officeDocument/2006/relationships/image" Target="../media/image9.png"/><Relationship Id="rId5" Type="http://schemas.openxmlformats.org/officeDocument/2006/relationships/image" Target="../media/image10.svg"/><Relationship Id="rId6" Type="http://schemas.openxmlformats.org/officeDocument/2006/relationships/image" Target="../media/image30.png"/><Relationship Id="rId7" Type="http://schemas.openxmlformats.org/officeDocument/2006/relationships/image" Target="../media/image31.svg"/><Relationship Id="rId8" Type="http://schemas.openxmlformats.org/officeDocument/2006/relationships/image" Target="../media/image32.png"/><Relationship Id="rId9" Type="http://schemas.openxmlformats.org/officeDocument/2006/relationships/image" Target="../media/image33.svg"/><Relationship Id="rId10" Type="http://schemas.openxmlformats.org/officeDocument/2006/relationships/image" Target="../media/image34.png"/><Relationship Id="rId11" Type="http://schemas.openxmlformats.org/officeDocument/2006/relationships/image" Target="../media/image35.svg"/><Relationship Id="rId12" Type="http://schemas.openxmlformats.org/officeDocument/2006/relationships/image" Target="../media/image36.png"/><Relationship Id="rId13" Type="http://schemas.openxmlformats.org/officeDocument/2006/relationships/image" Target="../media/image37.svg"/><Relationship Id="rId14" Type="http://schemas.openxmlformats.org/officeDocument/2006/relationships/image" Target="../media/image38.png"/><Relationship Id="rId15" Type="http://schemas.openxmlformats.org/officeDocument/2006/relationships/image" Target="../media/image39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image" Target="../media/image41.svg"/><Relationship Id="rId4" Type="http://schemas.openxmlformats.org/officeDocument/2006/relationships/image" Target="../media/image42.png"/><Relationship Id="rId5" Type="http://schemas.openxmlformats.org/officeDocument/2006/relationships/image" Target="../media/image43.svg"/><Relationship Id="rId6" Type="http://schemas.openxmlformats.org/officeDocument/2006/relationships/image" Target="../media/image44.png"/><Relationship Id="rId7" Type="http://schemas.openxmlformats.org/officeDocument/2006/relationships/image" Target="../media/image45.svg"/><Relationship Id="rId8" Type="http://schemas.openxmlformats.org/officeDocument/2006/relationships/image" Target="../media/image46.png"/><Relationship Id="rId9" Type="http://schemas.openxmlformats.org/officeDocument/2006/relationships/image" Target="../media/image47.svg"/><Relationship Id="rId10" Type="http://schemas.openxmlformats.org/officeDocument/2006/relationships/image" Target="../media/image9.png"/><Relationship Id="rId11" Type="http://schemas.openxmlformats.org/officeDocument/2006/relationships/image" Target="../media/image10.svg"/><Relationship Id="rId12" Type="http://schemas.openxmlformats.org/officeDocument/2006/relationships/image" Target="../media/image48.png"/><Relationship Id="rId13" Type="http://schemas.openxmlformats.org/officeDocument/2006/relationships/image" Target="../media/image49.svg"/><Relationship Id="rId14" Type="http://schemas.openxmlformats.org/officeDocument/2006/relationships/image" Target="../media/image50.png"/><Relationship Id="rId15" Type="http://schemas.openxmlformats.org/officeDocument/2006/relationships/image" Target="../media/image51.svg"/><Relationship Id="rId16" Type="http://schemas.openxmlformats.org/officeDocument/2006/relationships/image" Target="../media/image52.png"/><Relationship Id="rId17" Type="http://schemas.openxmlformats.org/officeDocument/2006/relationships/image" Target="../media/image53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54.svg"/><Relationship Id="rId4" Type="http://schemas.openxmlformats.org/officeDocument/2006/relationships/image" Target="../media/image55.png"/><Relationship Id="rId5" Type="http://schemas.openxmlformats.org/officeDocument/2006/relationships/image" Target="../media/image56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png"/><Relationship Id="rId3" Type="http://schemas.openxmlformats.org/officeDocument/2006/relationships/image" Target="../media/image58.svg"/><Relationship Id="rId4" Type="http://schemas.openxmlformats.org/officeDocument/2006/relationships/image" Target="../media/image9.png"/><Relationship Id="rId5" Type="http://schemas.openxmlformats.org/officeDocument/2006/relationships/image" Target="../media/image25.svg"/><Relationship Id="rId6" Type="http://schemas.openxmlformats.org/officeDocument/2006/relationships/image" Target="../media/image59.png"/><Relationship Id="rId7" Type="http://schemas.openxmlformats.org/officeDocument/2006/relationships/image" Target="../media/image60.svg"/><Relationship Id="rId8" Type="http://schemas.openxmlformats.org/officeDocument/2006/relationships/image" Target="../media/image61.png"/><Relationship Id="rId9" Type="http://schemas.openxmlformats.org/officeDocument/2006/relationships/image" Target="../media/image62.sv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54.svg"/><Relationship Id="rId4" Type="http://schemas.openxmlformats.org/officeDocument/2006/relationships/image" Target="../media/image63.png"/><Relationship Id="rId5" Type="http://schemas.openxmlformats.org/officeDocument/2006/relationships/image" Target="../media/image64.svg"/><Relationship Id="rId6" Type="http://schemas.openxmlformats.org/officeDocument/2006/relationships/image" Target="../media/image65.jpeg"/><Relationship Id="rId7" Type="http://schemas.openxmlformats.org/officeDocument/2006/relationships/image" Target="../media/image66.png"/><Relationship Id="rId8" Type="http://schemas.openxmlformats.org/officeDocument/2006/relationships/image" Target="../media/image67.svg"/><Relationship Id="rId9" Type="http://schemas.openxmlformats.org/officeDocument/2006/relationships/image" Target="../media/image68.png"/><Relationship Id="rId10" Type="http://schemas.openxmlformats.org/officeDocument/2006/relationships/image" Target="../media/image69.svg"/><Relationship Id="rId11" Type="http://schemas.openxmlformats.org/officeDocument/2006/relationships/image" Target="../media/image12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54.svg"/><Relationship Id="rId4" Type="http://schemas.openxmlformats.org/officeDocument/2006/relationships/image" Target="../media/image70.png"/><Relationship Id="rId5" Type="http://schemas.openxmlformats.org/officeDocument/2006/relationships/image" Target="../media/image71.svg"/><Relationship Id="rId6" Type="http://schemas.openxmlformats.org/officeDocument/2006/relationships/image" Target="../media/image72.jpeg"/><Relationship Id="rId7" Type="http://schemas.openxmlformats.org/officeDocument/2006/relationships/image" Target="../media/image73.png"/><Relationship Id="rId8" Type="http://schemas.openxmlformats.org/officeDocument/2006/relationships/image" Target="../media/image74.svg"/><Relationship Id="rId9" Type="http://schemas.openxmlformats.org/officeDocument/2006/relationships/image" Target="../media/image75.png"/><Relationship Id="rId10" Type="http://schemas.openxmlformats.org/officeDocument/2006/relationships/image" Target="../media/image76.svg"/><Relationship Id="rId11" Type="http://schemas.openxmlformats.org/officeDocument/2006/relationships/image" Target="../media/image77.png"/><Relationship Id="rId12" Type="http://schemas.openxmlformats.org/officeDocument/2006/relationships/image" Target="../media/image78.svg"/><Relationship Id="rId13" Type="http://schemas.openxmlformats.org/officeDocument/2006/relationships/image" Target="../media/image79.png"/><Relationship Id="rId14" Type="http://schemas.openxmlformats.org/officeDocument/2006/relationships/image" Target="../media/image80.sv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1.png"/><Relationship Id="rId3" Type="http://schemas.openxmlformats.org/officeDocument/2006/relationships/image" Target="../media/image82.svg"/><Relationship Id="rId4" Type="http://schemas.openxmlformats.org/officeDocument/2006/relationships/image" Target="../media/image9.png"/><Relationship Id="rId5" Type="http://schemas.openxmlformats.org/officeDocument/2006/relationships/image" Target="../media/image10.svg"/><Relationship Id="rId6" Type="http://schemas.openxmlformats.org/officeDocument/2006/relationships/image" Target="../media/image83.png"/><Relationship Id="rId7" Type="http://schemas.openxmlformats.org/officeDocument/2006/relationships/image" Target="../media/image84.sv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54.svg"/><Relationship Id="rId4" Type="http://schemas.openxmlformats.org/officeDocument/2006/relationships/image" Target="../media/image85.png"/><Relationship Id="rId5" Type="http://schemas.openxmlformats.org/officeDocument/2006/relationships/image" Target="../media/image86.sv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7.png"/><Relationship Id="rId3" Type="http://schemas.openxmlformats.org/officeDocument/2006/relationships/image" Target="../media/image88.svg"/><Relationship Id="rId4" Type="http://schemas.openxmlformats.org/officeDocument/2006/relationships/image" Target="../media/image89.png"/><Relationship Id="rId5" Type="http://schemas.openxmlformats.org/officeDocument/2006/relationships/image" Target="../media/image90.svg"/><Relationship Id="rId6" Type="http://schemas.openxmlformats.org/officeDocument/2006/relationships/image" Target="../media/image91.png"/><Relationship Id="rId7" Type="http://schemas.openxmlformats.org/officeDocument/2006/relationships/image" Target="../media/image92.svg"/><Relationship Id="rId8" Type="http://schemas.openxmlformats.org/officeDocument/2006/relationships/image" Target="../media/image93.png"/><Relationship Id="rId9" Type="http://schemas.openxmlformats.org/officeDocument/2006/relationships/image" Target="../media/image94.svg"/><Relationship Id="rId10" Type="http://schemas.openxmlformats.org/officeDocument/2006/relationships/image" Target="../media/image9.png"/><Relationship Id="rId11" Type="http://schemas.openxmlformats.org/officeDocument/2006/relationships/image" Target="../media/image10.svg"/><Relationship Id="rId12" Type="http://schemas.openxmlformats.org/officeDocument/2006/relationships/image" Target="../media/image95.png"/><Relationship Id="rId13" Type="http://schemas.openxmlformats.org/officeDocument/2006/relationships/image" Target="../media/image96.svg"/><Relationship Id="rId14" Type="http://schemas.openxmlformats.org/officeDocument/2006/relationships/image" Target="../media/image97.png"/><Relationship Id="rId15" Type="http://schemas.openxmlformats.org/officeDocument/2006/relationships/image" Target="../media/image98.svg"/><Relationship Id="rId16" Type="http://schemas.openxmlformats.org/officeDocument/2006/relationships/image" Target="../media/image99.png"/><Relationship Id="rId17" Type="http://schemas.openxmlformats.org/officeDocument/2006/relationships/image" Target="../media/image100.svg"/><Relationship Id="rId18" Type="http://schemas.openxmlformats.org/officeDocument/2006/relationships/image" Target="../media/image101.png"/><Relationship Id="rId19" Type="http://schemas.openxmlformats.org/officeDocument/2006/relationships/image" Target="../media/image102.sv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3.png"/><Relationship Id="rId3" Type="http://schemas.openxmlformats.org/officeDocument/2006/relationships/image" Target="../media/image104.svg"/><Relationship Id="rId4" Type="http://schemas.openxmlformats.org/officeDocument/2006/relationships/image" Target="../media/image105.png"/><Relationship Id="rId5" Type="http://schemas.openxmlformats.org/officeDocument/2006/relationships/image" Target="../media/image106.svg"/><Relationship Id="rId6" Type="http://schemas.openxmlformats.org/officeDocument/2006/relationships/image" Target="../media/image107.png"/><Relationship Id="rId7" Type="http://schemas.openxmlformats.org/officeDocument/2006/relationships/image" Target="../media/image108.svg"/><Relationship Id="rId8" Type="http://schemas.openxmlformats.org/officeDocument/2006/relationships/image" Target="../media/image9.png"/><Relationship Id="rId9" Type="http://schemas.openxmlformats.org/officeDocument/2006/relationships/image" Target="../media/image10.svg"/><Relationship Id="rId10" Type="http://schemas.openxmlformats.org/officeDocument/2006/relationships/image" Target="../media/image109.png"/><Relationship Id="rId11" Type="http://schemas.openxmlformats.org/officeDocument/2006/relationships/image" Target="../media/image110.svg"/><Relationship Id="rId12" Type="http://schemas.openxmlformats.org/officeDocument/2006/relationships/image" Target="../media/image111.png"/><Relationship Id="rId13" Type="http://schemas.openxmlformats.org/officeDocument/2006/relationships/image" Target="../media/image112.sv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image" Target="../media/image5.png"/><Relationship Id="rId5" Type="http://schemas.openxmlformats.org/officeDocument/2006/relationships/image" Target="../media/image6.svg"/><Relationship Id="rId6" Type="http://schemas.openxmlformats.org/officeDocument/2006/relationships/image" Target="../media/image113.png"/><Relationship Id="rId7" Type="http://schemas.openxmlformats.org/officeDocument/2006/relationships/image" Target="../media/image114.svg"/><Relationship Id="rId8" Type="http://schemas.openxmlformats.org/officeDocument/2006/relationships/image" Target="../media/image115.png"/><Relationship Id="rId9" Type="http://schemas.openxmlformats.org/officeDocument/2006/relationships/image" Target="../media/image116.svg"/><Relationship Id="rId10" Type="http://schemas.openxmlformats.org/officeDocument/2006/relationships/image" Target="../media/image117.png"/><Relationship Id="rId11" Type="http://schemas.openxmlformats.org/officeDocument/2006/relationships/image" Target="../media/image118.svg"/><Relationship Id="rId12" Type="http://schemas.openxmlformats.org/officeDocument/2006/relationships/image" Target="../media/image9.png"/><Relationship Id="rId13" Type="http://schemas.openxmlformats.org/officeDocument/2006/relationships/image" Target="../media/image119.svg"/><Relationship Id="rId14" Type="http://schemas.openxmlformats.org/officeDocument/2006/relationships/image" Target="../media/image120.png"/><Relationship Id="rId15" Type="http://schemas.openxmlformats.org/officeDocument/2006/relationships/image" Target="../media/image121.sv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2E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3436" y="-62779"/>
            <a:ext cx="12317778" cy="6980044"/>
          </a:xfrm>
          <a:custGeom>
            <a:avLst/>
            <a:gdLst/>
            <a:ahLst/>
            <a:cxnLst/>
            <a:rect r="r" b="b" t="t" l="l"/>
            <a:pathLst>
              <a:path h="6980044" w="12317778">
                <a:moveTo>
                  <a:pt x="0" y="0"/>
                </a:moveTo>
                <a:lnTo>
                  <a:pt x="12317777" y="0"/>
                </a:lnTo>
                <a:lnTo>
                  <a:pt x="12317777" y="6980044"/>
                </a:lnTo>
                <a:lnTo>
                  <a:pt x="0" y="69800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02196" y="6495774"/>
            <a:ext cx="2444086" cy="144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b="true" sz="799">
                <a:solidFill>
                  <a:srgbClr val="7FA8BC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AVALIAÇÃO DE ACESSIBILIDADE WEB · WCAG 2.1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536126" y="6495774"/>
            <a:ext cx="1188282" cy="144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b="true" sz="799">
                <a:solidFill>
                  <a:srgbClr val="7FA8BC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IFAL · CAMPUS MACEIÓ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885762" y="6473447"/>
            <a:ext cx="59236" cy="144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sz="799">
                <a:solidFill>
                  <a:srgbClr val="7FA8BC"/>
                </a:solidFill>
                <a:latin typeface="Noto Sans"/>
                <a:ea typeface="Noto Sans"/>
                <a:cs typeface="Noto Sans"/>
                <a:sym typeface="Noto Sans"/>
              </a:rPr>
              <a:t>1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627841" y="4736163"/>
            <a:ext cx="772182" cy="161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1"/>
              </a:lnSpc>
            </a:pPr>
            <a:r>
              <a:rPr lang="en-US" b="true" sz="901" spc="104">
                <a:solidFill>
                  <a:srgbClr val="8DE8F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AUDITORIA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78448" y="1430998"/>
            <a:ext cx="2728389" cy="161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1"/>
              </a:lnSpc>
            </a:pPr>
            <a:r>
              <a:rPr lang="en-US" b="true" sz="901">
                <a:solidFill>
                  <a:srgbClr val="8DE8F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PROJETO · INTERAÇÃO HUMANO-COMPUTADOR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59837" y="2002726"/>
            <a:ext cx="4071576" cy="1022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59"/>
              </a:lnSpc>
            </a:pPr>
            <a:r>
              <a:rPr lang="en-US" b="true" sz="3299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Avaliação de Acessibilidade Web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25120" y="3332255"/>
            <a:ext cx="57283" cy="296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1"/>
              </a:lnSpc>
            </a:pPr>
            <a:r>
              <a:rPr lang="en-US" b="true" sz="1700">
                <a:solidFill>
                  <a:srgbClr val="8DE8F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78201" y="3332255"/>
            <a:ext cx="4672965" cy="2806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l">
              <a:lnSpc>
                <a:spcPts val="2381"/>
              </a:lnSpc>
            </a:pPr>
            <a:r>
              <a:rPr lang="en-US" b="true" sz="1700">
                <a:solidFill>
                  <a:srgbClr val="8DE8F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WCAG 2.1 · Portal do IFAL — Campus Maceió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78201" y="3999290"/>
            <a:ext cx="2335213" cy="372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sz="1099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Guilherme de Oliveira Pontes Pinto </a:t>
            </a:r>
          </a:p>
          <a:p>
            <a:pPr algn="l">
              <a:lnSpc>
                <a:spcPts val="1539"/>
              </a:lnSpc>
            </a:pPr>
            <a:r>
              <a:rPr lang="en-US" sz="1099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Kelven Eduardo Terto dos Santos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818675" y="4181618"/>
            <a:ext cx="33699" cy="186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59837" y="4711008"/>
            <a:ext cx="3635534" cy="174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Bacharelado em Sistemas de Informação · Setembro de 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3400" y="1491815"/>
            <a:ext cx="384229" cy="501948"/>
          </a:xfrm>
          <a:custGeom>
            <a:avLst/>
            <a:gdLst/>
            <a:ahLst/>
            <a:cxnLst/>
            <a:rect r="r" b="b" t="t" l="l"/>
            <a:pathLst>
              <a:path h="501948" w="384229">
                <a:moveTo>
                  <a:pt x="0" y="0"/>
                </a:moveTo>
                <a:lnTo>
                  <a:pt x="384229" y="0"/>
                </a:lnTo>
                <a:lnTo>
                  <a:pt x="384229" y="501948"/>
                </a:lnTo>
                <a:lnTo>
                  <a:pt x="0" y="5019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7759" y="2086175"/>
            <a:ext cx="384943" cy="502291"/>
          </a:xfrm>
          <a:custGeom>
            <a:avLst/>
            <a:gdLst/>
            <a:ahLst/>
            <a:cxnLst/>
            <a:rect r="r" b="b" t="t" l="l"/>
            <a:pathLst>
              <a:path h="502291" w="384943">
                <a:moveTo>
                  <a:pt x="0" y="0"/>
                </a:moveTo>
                <a:lnTo>
                  <a:pt x="384943" y="0"/>
                </a:lnTo>
                <a:lnTo>
                  <a:pt x="384943" y="502291"/>
                </a:lnTo>
                <a:lnTo>
                  <a:pt x="0" y="5022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87004" y="1692088"/>
            <a:ext cx="3942474" cy="4195982"/>
          </a:xfrm>
          <a:custGeom>
            <a:avLst/>
            <a:gdLst/>
            <a:ahLst/>
            <a:cxnLst/>
            <a:rect r="r" b="b" t="t" l="l"/>
            <a:pathLst>
              <a:path h="4195982" w="3942474">
                <a:moveTo>
                  <a:pt x="0" y="0"/>
                </a:moveTo>
                <a:lnTo>
                  <a:pt x="3942474" y="0"/>
                </a:lnTo>
                <a:lnTo>
                  <a:pt x="3942474" y="4195981"/>
                </a:lnTo>
                <a:lnTo>
                  <a:pt x="0" y="41959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28413" y="-66523"/>
            <a:ext cx="12247712" cy="242735"/>
          </a:xfrm>
          <a:custGeom>
            <a:avLst/>
            <a:gdLst/>
            <a:ahLst/>
            <a:cxnLst/>
            <a:rect r="r" b="b" t="t" l="l"/>
            <a:pathLst>
              <a:path h="242735" w="12247712">
                <a:moveTo>
                  <a:pt x="0" y="0"/>
                </a:moveTo>
                <a:lnTo>
                  <a:pt x="12247712" y="0"/>
                </a:lnTo>
                <a:lnTo>
                  <a:pt x="12247712" y="242735"/>
                </a:lnTo>
                <a:lnTo>
                  <a:pt x="0" y="24273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338152" y="5658269"/>
            <a:ext cx="6932209" cy="441417"/>
          </a:xfrm>
          <a:custGeom>
            <a:avLst/>
            <a:gdLst/>
            <a:ahLst/>
            <a:cxnLst/>
            <a:rect r="r" b="b" t="t" l="l"/>
            <a:pathLst>
              <a:path h="441417" w="6932209">
                <a:moveTo>
                  <a:pt x="0" y="0"/>
                </a:moveTo>
                <a:lnTo>
                  <a:pt x="6932209" y="0"/>
                </a:lnTo>
                <a:lnTo>
                  <a:pt x="6932209" y="441417"/>
                </a:lnTo>
                <a:lnTo>
                  <a:pt x="0" y="44141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288755" y="1691707"/>
            <a:ext cx="7030660" cy="1864309"/>
          </a:xfrm>
          <a:custGeom>
            <a:avLst/>
            <a:gdLst/>
            <a:ahLst/>
            <a:cxnLst/>
            <a:rect r="r" b="b" t="t" l="l"/>
            <a:pathLst>
              <a:path h="1864309" w="7030660">
                <a:moveTo>
                  <a:pt x="0" y="0"/>
                </a:moveTo>
                <a:lnTo>
                  <a:pt x="7030660" y="0"/>
                </a:lnTo>
                <a:lnTo>
                  <a:pt x="7030660" y="1864309"/>
                </a:lnTo>
                <a:lnTo>
                  <a:pt x="0" y="186430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288755" y="3666668"/>
            <a:ext cx="7030660" cy="1864309"/>
          </a:xfrm>
          <a:custGeom>
            <a:avLst/>
            <a:gdLst/>
            <a:ahLst/>
            <a:cxnLst/>
            <a:rect r="r" b="b" t="t" l="l"/>
            <a:pathLst>
              <a:path h="1864309" w="7030660">
                <a:moveTo>
                  <a:pt x="0" y="0"/>
                </a:moveTo>
                <a:lnTo>
                  <a:pt x="7030660" y="0"/>
                </a:lnTo>
                <a:lnTo>
                  <a:pt x="7030660" y="1864309"/>
                </a:lnTo>
                <a:lnTo>
                  <a:pt x="0" y="186430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02196" y="6495774"/>
            <a:ext cx="2444086" cy="144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b="true" sz="799">
                <a:solidFill>
                  <a:srgbClr val="7FA8BC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AVALIAÇÃO DE ACESSIBILIDADE WEB · WCAG 2.1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536126" y="6495774"/>
            <a:ext cx="1188282" cy="144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b="true" sz="799">
                <a:solidFill>
                  <a:srgbClr val="7FA8BC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IFAL · CAMPUS MACEIÓ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885762" y="6473447"/>
            <a:ext cx="59236" cy="144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sz="799">
                <a:solidFill>
                  <a:srgbClr val="7FA8BC"/>
                </a:solidFill>
                <a:latin typeface="Noto Sans"/>
                <a:ea typeface="Noto Sans"/>
                <a:cs typeface="Noto Sans"/>
                <a:sym typeface="Noto Sans"/>
              </a:rPr>
              <a:t>2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66633" y="455400"/>
            <a:ext cx="1035263" cy="161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1"/>
              </a:lnSpc>
            </a:pPr>
            <a:r>
              <a:rPr lang="en-US" b="true" sz="901" spc="111">
                <a:solidFill>
                  <a:srgbClr val="4DD3E6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01 · CONTEXTO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66633" y="1038215"/>
            <a:ext cx="5753843" cy="498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b="true" sz="2800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Por que acessibilidade importa?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60993" y="2343074"/>
            <a:ext cx="2413768" cy="5201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8"/>
              </a:lnSpc>
            </a:pPr>
            <a:r>
              <a:rPr lang="en-US" b="true" sz="2999">
                <a:solidFill>
                  <a:srgbClr val="4DD3E6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14,4 milhões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69165" y="3072308"/>
            <a:ext cx="40386" cy="207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8"/>
              </a:lnSpc>
            </a:pPr>
            <a:r>
              <a:rPr lang="en-US" sz="1199">
                <a:solidFill>
                  <a:srgbClr val="F7FBFD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30195" y="3061144"/>
            <a:ext cx="2112804" cy="1981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8"/>
              </a:lnSpc>
            </a:pPr>
            <a:r>
              <a:rPr lang="en-US" sz="1199">
                <a:solidFill>
                  <a:srgbClr val="F7FBFD"/>
                </a:solidFill>
                <a:latin typeface="Noto Sans"/>
                <a:ea typeface="Noto Sans"/>
                <a:cs typeface="Noto Sans"/>
                <a:sym typeface="Noto Sans"/>
              </a:rPr>
              <a:t>de brasileiros com deficiência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711442" y="3244024"/>
            <a:ext cx="1330414" cy="207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8"/>
              </a:lnSpc>
            </a:pPr>
            <a:r>
              <a:rPr lang="en-US" sz="1199">
                <a:solidFill>
                  <a:srgbClr val="F7FBFD"/>
                </a:solidFill>
                <a:latin typeface="Noto Sans"/>
                <a:ea typeface="Noto Sans"/>
                <a:cs typeface="Noto Sans"/>
                <a:sym typeface="Noto Sans"/>
              </a:rPr>
              <a:t>(Censo IBGE 2022)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33999" y="4269276"/>
            <a:ext cx="2523668" cy="371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40"/>
              </a:lnSpc>
            </a:pPr>
            <a:r>
              <a:rPr lang="en-US" sz="1199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Acessibilidade também melhora</a:t>
            </a:r>
          </a:p>
          <a:p>
            <a:pPr algn="ctr">
              <a:lnSpc>
                <a:spcPts val="1440"/>
              </a:lnSpc>
            </a:pPr>
            <a:r>
              <a:rPr lang="en-US" sz="1199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a experiência de qualquer usuário.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800600" y="2245185"/>
            <a:ext cx="74143" cy="186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b="true" sz="1000">
                <a:solidFill>
                  <a:srgbClr val="071A2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800600" y="4220137"/>
            <a:ext cx="74143" cy="186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b="true" sz="1000">
                <a:solidFill>
                  <a:srgbClr val="071A2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212080" y="2213467"/>
            <a:ext cx="2087356" cy="255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b="true" sz="1499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Decreto nº 5.296/2004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211728" y="4112762"/>
            <a:ext cx="2575693" cy="423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b="true" sz="1499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Lei Brasileira de Inclusão (Lei nº 13.146/2015, art. 63)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849154" y="2286724"/>
            <a:ext cx="2068763" cy="174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8"/>
              </a:lnSpc>
            </a:pPr>
            <a:r>
              <a:rPr lang="en-US" sz="1048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Portais da administração pública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002964" y="4262047"/>
            <a:ext cx="893293" cy="174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8"/>
              </a:lnSpc>
            </a:pPr>
            <a:r>
              <a:rPr lang="en-US" sz="1048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Sites em geral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550505" y="5801648"/>
            <a:ext cx="2934176" cy="163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98"/>
              </a:lnSpc>
            </a:pPr>
            <a:r>
              <a:rPr lang="en-US" sz="1070" spc="2">
                <a:solidFill>
                  <a:srgbClr val="8DE8F4"/>
                </a:solidFill>
                <a:latin typeface="Noto Sans"/>
                <a:ea typeface="Noto Sans"/>
                <a:cs typeface="Noto Sans"/>
                <a:sym typeface="Noto Sans"/>
              </a:rPr>
              <a:t>Legendas · contraste · navegação por teclado 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728614" y="5801648"/>
            <a:ext cx="3361214" cy="163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98"/>
              </a:lnSpc>
            </a:pPr>
            <a:r>
              <a:rPr lang="en-US" sz="1070" spc="2">
                <a:solidFill>
                  <a:srgbClr val="8DE8F4"/>
                </a:solidFill>
                <a:latin typeface="Noto Sans"/>
                <a:ea typeface="Noto Sans"/>
                <a:cs typeface="Noto Sans"/>
                <a:sym typeface="Noto Sans"/>
              </a:rPr>
              <a:t> benefícios que vão além do público com deficiência.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539099" y="5747472"/>
            <a:ext cx="135096" cy="224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78"/>
              </a:lnSpc>
            </a:pPr>
            <a:r>
              <a:rPr lang="en-US" sz="1270">
                <a:solidFill>
                  <a:srgbClr val="8DE8F4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→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94808" y="1764811"/>
            <a:ext cx="2668867" cy="3254950"/>
          </a:xfrm>
          <a:custGeom>
            <a:avLst/>
            <a:gdLst/>
            <a:ahLst/>
            <a:cxnLst/>
            <a:rect r="r" b="b" t="t" l="l"/>
            <a:pathLst>
              <a:path h="3254950" w="2668867">
                <a:moveTo>
                  <a:pt x="0" y="0"/>
                </a:moveTo>
                <a:lnTo>
                  <a:pt x="2668867" y="0"/>
                </a:lnTo>
                <a:lnTo>
                  <a:pt x="2668867" y="3254950"/>
                </a:lnTo>
                <a:lnTo>
                  <a:pt x="0" y="32549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447802" y="1764811"/>
            <a:ext cx="2668867" cy="3254950"/>
          </a:xfrm>
          <a:custGeom>
            <a:avLst/>
            <a:gdLst/>
            <a:ahLst/>
            <a:cxnLst/>
            <a:rect r="r" b="b" t="t" l="l"/>
            <a:pathLst>
              <a:path h="3254950" w="2668867">
                <a:moveTo>
                  <a:pt x="0" y="0"/>
                </a:moveTo>
                <a:lnTo>
                  <a:pt x="2668867" y="0"/>
                </a:lnTo>
                <a:lnTo>
                  <a:pt x="2668867" y="3254950"/>
                </a:lnTo>
                <a:lnTo>
                  <a:pt x="0" y="32549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728048" y="5256171"/>
            <a:ext cx="2741057" cy="441379"/>
          </a:xfrm>
          <a:custGeom>
            <a:avLst/>
            <a:gdLst/>
            <a:ahLst/>
            <a:cxnLst/>
            <a:rect r="r" b="b" t="t" l="l"/>
            <a:pathLst>
              <a:path h="441379" w="2741057">
                <a:moveTo>
                  <a:pt x="0" y="0"/>
                </a:moveTo>
                <a:lnTo>
                  <a:pt x="2741057" y="0"/>
                </a:lnTo>
                <a:lnTo>
                  <a:pt x="2741057" y="441379"/>
                </a:lnTo>
                <a:lnTo>
                  <a:pt x="0" y="44137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300454" y="1764811"/>
            <a:ext cx="2668867" cy="3254950"/>
          </a:xfrm>
          <a:custGeom>
            <a:avLst/>
            <a:gdLst/>
            <a:ahLst/>
            <a:cxnLst/>
            <a:rect r="r" b="b" t="t" l="l"/>
            <a:pathLst>
              <a:path h="3254950" w="2668867">
                <a:moveTo>
                  <a:pt x="0" y="0"/>
                </a:moveTo>
                <a:lnTo>
                  <a:pt x="2668867" y="0"/>
                </a:lnTo>
                <a:lnTo>
                  <a:pt x="2668867" y="3254950"/>
                </a:lnTo>
                <a:lnTo>
                  <a:pt x="0" y="325495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28413" y="-66523"/>
            <a:ext cx="12247712" cy="242735"/>
          </a:xfrm>
          <a:custGeom>
            <a:avLst/>
            <a:gdLst/>
            <a:ahLst/>
            <a:cxnLst/>
            <a:rect r="r" b="b" t="t" l="l"/>
            <a:pathLst>
              <a:path h="242735" w="12247712">
                <a:moveTo>
                  <a:pt x="0" y="0"/>
                </a:moveTo>
                <a:lnTo>
                  <a:pt x="12247712" y="0"/>
                </a:lnTo>
                <a:lnTo>
                  <a:pt x="12247712" y="242735"/>
                </a:lnTo>
                <a:lnTo>
                  <a:pt x="0" y="24273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153087" y="1496701"/>
            <a:ext cx="2669591" cy="3518735"/>
          </a:xfrm>
          <a:custGeom>
            <a:avLst/>
            <a:gdLst/>
            <a:ahLst/>
            <a:cxnLst/>
            <a:rect r="r" b="b" t="t" l="l"/>
            <a:pathLst>
              <a:path h="3518735" w="2669591">
                <a:moveTo>
                  <a:pt x="0" y="0"/>
                </a:moveTo>
                <a:lnTo>
                  <a:pt x="2669591" y="0"/>
                </a:lnTo>
                <a:lnTo>
                  <a:pt x="2669591" y="3518735"/>
                </a:lnTo>
                <a:lnTo>
                  <a:pt x="0" y="351873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02196" y="6495774"/>
            <a:ext cx="2444086" cy="144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b="true" sz="799">
                <a:solidFill>
                  <a:srgbClr val="7FA8BC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AVALIAÇÃO DE ACESSIBILIDADE WEB · WCAG 2.1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536126" y="6495774"/>
            <a:ext cx="1188282" cy="144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b="true" sz="799">
                <a:solidFill>
                  <a:srgbClr val="7FA8BC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IFAL · CAMPUS MACEIÓ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885762" y="6473447"/>
            <a:ext cx="59236" cy="144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sz="799">
                <a:solidFill>
                  <a:srgbClr val="7FA8BC"/>
                </a:solidFill>
                <a:latin typeface="Noto Sans"/>
                <a:ea typeface="Noto Sans"/>
                <a:cs typeface="Noto Sans"/>
                <a:sym typeface="Noto Sans"/>
              </a:rPr>
              <a:t>3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547246" y="5399637"/>
            <a:ext cx="1124236" cy="161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1"/>
              </a:lnSpc>
            </a:pPr>
            <a:r>
              <a:rPr lang="en-US" b="true" sz="901">
                <a:solidFill>
                  <a:srgbClr val="8DE8F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NÍVEIS: A · AA · AAA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66633" y="455400"/>
            <a:ext cx="1276969" cy="161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1"/>
              </a:lnSpc>
            </a:pPr>
            <a:r>
              <a:rPr lang="en-US" b="true" sz="901" spc="112">
                <a:solidFill>
                  <a:srgbClr val="4DD3E6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02 · FUNDAMENTO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66633" y="1038215"/>
            <a:ext cx="4295432" cy="498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b="true" sz="2800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WCAG 2.1 em uma visão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28836" y="3304489"/>
            <a:ext cx="1018508" cy="192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b="true" sz="1099" spc="80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PERCEPTÍVEL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392006" y="3304489"/>
            <a:ext cx="789984" cy="192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b="true" sz="1099" spc="68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OPERÁVEL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993360" y="3304489"/>
            <a:ext cx="1305725" cy="192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b="true" sz="1099" spc="78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COMPREENSÍVEL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121760" y="3304489"/>
            <a:ext cx="742398" cy="192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b="true" sz="1099" spc="73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ROBUSTO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861195" y="2399138"/>
            <a:ext cx="138360" cy="296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1"/>
              </a:lnSpc>
            </a:pPr>
            <a:r>
              <a:rPr lang="en-US" b="true" sz="1700">
                <a:solidFill>
                  <a:srgbClr val="071A2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P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696206" y="2399138"/>
            <a:ext cx="175374" cy="296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1"/>
              </a:lnSpc>
            </a:pPr>
            <a:r>
              <a:rPr lang="en-US" b="true" sz="1700">
                <a:solidFill>
                  <a:srgbClr val="071A2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O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566117" y="2399138"/>
            <a:ext cx="140341" cy="296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1"/>
              </a:lnSpc>
            </a:pPr>
            <a:r>
              <a:rPr lang="en-US" b="true" sz="1700">
                <a:solidFill>
                  <a:srgbClr val="071A2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416235" y="2399138"/>
            <a:ext cx="145409" cy="296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1"/>
              </a:lnSpc>
            </a:pPr>
            <a:r>
              <a:rPr lang="en-US" b="true" sz="1700">
                <a:solidFill>
                  <a:srgbClr val="071A2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R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61196" y="3916299"/>
            <a:ext cx="2007518" cy="186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A informação precisa chegar aos 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25880" y="4067861"/>
            <a:ext cx="1230068" cy="186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sentidos do usuário.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839042" y="3947036"/>
            <a:ext cx="1938042" cy="309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3"/>
              </a:lnSpc>
            </a:pPr>
            <a:r>
              <a:rPr lang="en-US" sz="1000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A interface precisa ser utilizável por qualquer forma de entrada.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709677" y="3916299"/>
            <a:ext cx="1921059" cy="186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Conteúdo e operação precisam 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202157" y="4067861"/>
            <a:ext cx="883606" cy="186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ser previsíveis.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546479" y="3916299"/>
            <a:ext cx="1953339" cy="186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O código precisa funcionar com 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833038" y="4067861"/>
            <a:ext cx="1335710" cy="186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tecnologias assistivas.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4158358" y="5875572"/>
            <a:ext cx="3905612" cy="174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8"/>
              </a:lnSpc>
            </a:pPr>
            <a:r>
              <a:rPr lang="en-US" sz="1048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No Brasil, o eMAG 3.1 adapta as WCAG ao governo eletrônico.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94798" y="1701070"/>
            <a:ext cx="4013121" cy="4470330"/>
          </a:xfrm>
          <a:custGeom>
            <a:avLst/>
            <a:gdLst/>
            <a:ahLst/>
            <a:cxnLst/>
            <a:rect r="r" b="b" t="t" l="l"/>
            <a:pathLst>
              <a:path h="4470330" w="4013121">
                <a:moveTo>
                  <a:pt x="0" y="0"/>
                </a:moveTo>
                <a:lnTo>
                  <a:pt x="4013121" y="0"/>
                </a:lnTo>
                <a:lnTo>
                  <a:pt x="4013121" y="4470330"/>
                </a:lnTo>
                <a:lnTo>
                  <a:pt x="0" y="44703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8413" y="-66523"/>
            <a:ext cx="12247712" cy="242735"/>
          </a:xfrm>
          <a:custGeom>
            <a:avLst/>
            <a:gdLst/>
            <a:ahLst/>
            <a:cxnLst/>
            <a:rect r="r" b="b" t="t" l="l"/>
            <a:pathLst>
              <a:path h="242735" w="12247712">
                <a:moveTo>
                  <a:pt x="0" y="0"/>
                </a:moveTo>
                <a:lnTo>
                  <a:pt x="12247712" y="0"/>
                </a:lnTo>
                <a:lnTo>
                  <a:pt x="12247712" y="242735"/>
                </a:lnTo>
                <a:lnTo>
                  <a:pt x="0" y="2427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763948" y="5468112"/>
            <a:ext cx="6463665" cy="657939"/>
          </a:xfrm>
          <a:custGeom>
            <a:avLst/>
            <a:gdLst/>
            <a:ahLst/>
            <a:cxnLst/>
            <a:rect r="r" b="b" t="t" l="l"/>
            <a:pathLst>
              <a:path h="657939" w="6463665">
                <a:moveTo>
                  <a:pt x="0" y="0"/>
                </a:moveTo>
                <a:lnTo>
                  <a:pt x="6463665" y="0"/>
                </a:lnTo>
                <a:lnTo>
                  <a:pt x="6463665" y="657939"/>
                </a:lnTo>
                <a:lnTo>
                  <a:pt x="0" y="65793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910747" y="4523451"/>
            <a:ext cx="514026" cy="514017"/>
          </a:xfrm>
          <a:custGeom>
            <a:avLst/>
            <a:gdLst/>
            <a:ahLst/>
            <a:cxnLst/>
            <a:rect r="r" b="b" t="t" l="l"/>
            <a:pathLst>
              <a:path h="514017" w="514026">
                <a:moveTo>
                  <a:pt x="0" y="0"/>
                </a:moveTo>
                <a:lnTo>
                  <a:pt x="514026" y="0"/>
                </a:lnTo>
                <a:lnTo>
                  <a:pt x="514026" y="514017"/>
                </a:lnTo>
                <a:lnTo>
                  <a:pt x="0" y="51401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891164" y="2662861"/>
            <a:ext cx="514026" cy="1042140"/>
          </a:xfrm>
          <a:custGeom>
            <a:avLst/>
            <a:gdLst/>
            <a:ahLst/>
            <a:cxnLst/>
            <a:rect r="r" b="b" t="t" l="l"/>
            <a:pathLst>
              <a:path h="1042140" w="514026">
                <a:moveTo>
                  <a:pt x="0" y="0"/>
                </a:moveTo>
                <a:lnTo>
                  <a:pt x="514026" y="0"/>
                </a:lnTo>
                <a:lnTo>
                  <a:pt x="514026" y="1042140"/>
                </a:lnTo>
                <a:lnTo>
                  <a:pt x="0" y="104214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891164" y="1747647"/>
            <a:ext cx="514026" cy="1042140"/>
          </a:xfrm>
          <a:custGeom>
            <a:avLst/>
            <a:gdLst/>
            <a:ahLst/>
            <a:cxnLst/>
            <a:rect r="r" b="b" t="t" l="l"/>
            <a:pathLst>
              <a:path h="1042140" w="514026">
                <a:moveTo>
                  <a:pt x="0" y="0"/>
                </a:moveTo>
                <a:lnTo>
                  <a:pt x="514026" y="0"/>
                </a:lnTo>
                <a:lnTo>
                  <a:pt x="514026" y="1042140"/>
                </a:lnTo>
                <a:lnTo>
                  <a:pt x="0" y="104214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891164" y="3588834"/>
            <a:ext cx="514026" cy="1042130"/>
          </a:xfrm>
          <a:custGeom>
            <a:avLst/>
            <a:gdLst/>
            <a:ahLst/>
            <a:cxnLst/>
            <a:rect r="r" b="b" t="t" l="l"/>
            <a:pathLst>
              <a:path h="1042130" w="514026">
                <a:moveTo>
                  <a:pt x="0" y="0"/>
                </a:moveTo>
                <a:lnTo>
                  <a:pt x="514026" y="0"/>
                </a:lnTo>
                <a:lnTo>
                  <a:pt x="514026" y="1042131"/>
                </a:lnTo>
                <a:lnTo>
                  <a:pt x="0" y="104213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02196" y="6495774"/>
            <a:ext cx="2444086" cy="144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b="true" sz="799">
                <a:solidFill>
                  <a:srgbClr val="7FA8BC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AVALIAÇÃO DE ACESSIBILIDADE WEB · WCAG 2.1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536126" y="6495774"/>
            <a:ext cx="1188282" cy="144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b="true" sz="799">
                <a:solidFill>
                  <a:srgbClr val="7FA8BC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IFAL · CAMPUS MACEIÓ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885762" y="6473447"/>
            <a:ext cx="59236" cy="144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sz="799">
                <a:solidFill>
                  <a:srgbClr val="7FA8BC"/>
                </a:solidFill>
                <a:latin typeface="Noto Sans"/>
                <a:ea typeface="Noto Sans"/>
                <a:cs typeface="Noto Sans"/>
                <a:sym typeface="Noto Sans"/>
              </a:rPr>
              <a:t>4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74035" y="2153517"/>
            <a:ext cx="870852" cy="161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1"/>
              </a:lnSpc>
            </a:pPr>
            <a:r>
              <a:rPr lang="en-US" b="true" sz="901">
                <a:solidFill>
                  <a:srgbClr val="8DE8F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SITE AVALIADO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66280" y="455400"/>
            <a:ext cx="837219" cy="161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1"/>
              </a:lnSpc>
            </a:pPr>
            <a:r>
              <a:rPr lang="en-US" b="true" sz="901" spc="112">
                <a:solidFill>
                  <a:srgbClr val="4DD3E6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03 · ESCOPO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66280" y="1038215"/>
            <a:ext cx="4827280" cy="498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b="true" sz="2800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O que foi avaliado e como?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111639" y="1888417"/>
            <a:ext cx="74143" cy="186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b="true" sz="1000">
                <a:solidFill>
                  <a:srgbClr val="071A2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59768" y="2630395"/>
            <a:ext cx="3297774" cy="771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4"/>
              </a:lnSpc>
            </a:pPr>
            <a:r>
              <a:rPr lang="en-US" b="true" sz="1700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Portal do Instituto Federal de Alagoas </a:t>
            </a:r>
            <a:r>
              <a:rPr lang="en-US" b="true" sz="1700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— Campus Maceió</a:t>
            </a:r>
          </a:p>
          <a:p>
            <a:pPr algn="l">
              <a:lnSpc>
                <a:spcPts val="2044"/>
              </a:lnSpc>
            </a:pPr>
            <a:r>
              <a:rPr lang="en-US" sz="1700">
                <a:solidFill>
                  <a:srgbClr val="8DE8F4"/>
                </a:solidFill>
                <a:latin typeface="Noto Sans"/>
                <a:ea typeface="Noto Sans"/>
                <a:cs typeface="Noto Sans"/>
                <a:sym typeface="Noto Sans"/>
              </a:rPr>
              <a:t>www2.ifal.edu.br/campus/maceio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111639" y="2813937"/>
            <a:ext cx="74143" cy="186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b="true" sz="1000">
                <a:solidFill>
                  <a:srgbClr val="071A2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111639" y="3760029"/>
            <a:ext cx="74143" cy="186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b="true" sz="1000">
                <a:solidFill>
                  <a:srgbClr val="071A2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3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130689" y="4688115"/>
            <a:ext cx="74143" cy="186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b="true" sz="1000">
                <a:solidFill>
                  <a:srgbClr val="071A2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4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60120" y="4444889"/>
            <a:ext cx="3200086" cy="600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53"/>
              </a:lnSpc>
            </a:pPr>
            <a:r>
              <a:rPr lang="en-US" sz="1048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Escolhido por ser um site público de escopo reduzido, com navegação simples, e por estar sujeito ao Decreto nº 5.296/2004, à LBI e ao eMAG 3.1.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43800" y="1913196"/>
            <a:ext cx="1291228" cy="174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8"/>
              </a:lnSpc>
            </a:pPr>
            <a:r>
              <a:rPr lang="en-US" sz="1048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Checklist de 15 itens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543800" y="2858405"/>
            <a:ext cx="2194560" cy="17475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l">
              <a:lnSpc>
                <a:spcPts val="1468"/>
              </a:lnSpc>
            </a:pPr>
            <a:r>
              <a:rPr lang="en-US" sz="1048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WAVE · ASES · axe-core · Python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543448" y="3834570"/>
            <a:ext cx="1989963" cy="174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8"/>
              </a:lnSpc>
            </a:pPr>
            <a:r>
              <a:rPr lang="en-US" sz="1048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Reflow · foco · toque · contraste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543448" y="4730972"/>
            <a:ext cx="2108845" cy="174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8"/>
              </a:lnSpc>
            </a:pPr>
            <a:r>
              <a:rPr lang="en-US" sz="1048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Tarefa completa sem apoio visual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540397" y="4669065"/>
            <a:ext cx="1337910" cy="243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1"/>
              </a:lnSpc>
            </a:pPr>
            <a:r>
              <a:rPr lang="en-US" b="true" sz="1301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Teste com leitor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540759" y="1851522"/>
            <a:ext cx="1438523" cy="243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1"/>
              </a:lnSpc>
            </a:pPr>
            <a:r>
              <a:rPr lang="en-US" b="true" sz="1301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Inspeção manual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540759" y="3736360"/>
            <a:ext cx="1484033" cy="243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1"/>
              </a:lnSpc>
            </a:pPr>
            <a:r>
              <a:rPr lang="en-US" b="true" sz="1301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Simulação mobile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5540759" y="2775404"/>
            <a:ext cx="1818427" cy="243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1"/>
              </a:lnSpc>
            </a:pPr>
            <a:r>
              <a:rPr lang="en-US" b="true" sz="1301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Avaliação automática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30803" y="1720529"/>
            <a:ext cx="2614870" cy="1248661"/>
          </a:xfrm>
          <a:custGeom>
            <a:avLst/>
            <a:gdLst/>
            <a:ahLst/>
            <a:cxnLst/>
            <a:rect r="r" b="b" t="t" l="l"/>
            <a:pathLst>
              <a:path h="1248661" w="2614870">
                <a:moveTo>
                  <a:pt x="0" y="0"/>
                </a:moveTo>
                <a:lnTo>
                  <a:pt x="2614869" y="0"/>
                </a:lnTo>
                <a:lnTo>
                  <a:pt x="2614869" y="1248661"/>
                </a:lnTo>
                <a:lnTo>
                  <a:pt x="0" y="12486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false" flipV="false" rot="0">
            <a:off x="3465443" y="1720529"/>
            <a:ext cx="2614508" cy="1248661"/>
          </a:xfrm>
          <a:custGeom>
            <a:avLst/>
            <a:gdLst/>
            <a:ahLst/>
            <a:cxnLst/>
            <a:rect r="r" b="b" t="t" l="l"/>
            <a:pathLst>
              <a:path h="1248661" w="2614508">
                <a:moveTo>
                  <a:pt x="0" y="0"/>
                </a:moveTo>
                <a:lnTo>
                  <a:pt x="2614507" y="0"/>
                </a:lnTo>
                <a:lnTo>
                  <a:pt x="2614507" y="1248661"/>
                </a:lnTo>
                <a:lnTo>
                  <a:pt x="0" y="12486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4" id="4"/>
          <p:cNvSpPr/>
          <p:nvPr/>
        </p:nvSpPr>
        <p:spPr>
          <a:xfrm flipH="false" flipV="false" rot="0">
            <a:off x="630784" y="3669554"/>
            <a:ext cx="5385102" cy="2261378"/>
          </a:xfrm>
          <a:custGeom>
            <a:avLst/>
            <a:gdLst/>
            <a:ahLst/>
            <a:cxnLst/>
            <a:rect r="r" b="b" t="t" l="l"/>
            <a:pathLst>
              <a:path h="2261378" w="5385102">
                <a:moveTo>
                  <a:pt x="0" y="0"/>
                </a:moveTo>
                <a:lnTo>
                  <a:pt x="5385101" y="0"/>
                </a:lnTo>
                <a:lnTo>
                  <a:pt x="5385101" y="2261378"/>
                </a:lnTo>
                <a:lnTo>
                  <a:pt x="0" y="22613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5" id="5"/>
          <p:cNvSpPr/>
          <p:nvPr/>
        </p:nvSpPr>
        <p:spPr>
          <a:xfrm flipH="false" flipV="false" rot="0">
            <a:off x="6300083" y="1720529"/>
            <a:ext cx="2614870" cy="1248661"/>
          </a:xfrm>
          <a:custGeom>
            <a:avLst/>
            <a:gdLst/>
            <a:ahLst/>
            <a:cxnLst/>
            <a:rect r="r" b="b" t="t" l="l"/>
            <a:pathLst>
              <a:path h="1248661" w="2614870">
                <a:moveTo>
                  <a:pt x="0" y="0"/>
                </a:moveTo>
                <a:lnTo>
                  <a:pt x="2614869" y="0"/>
                </a:lnTo>
                <a:lnTo>
                  <a:pt x="2614869" y="1248661"/>
                </a:lnTo>
                <a:lnTo>
                  <a:pt x="0" y="124866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6" id="6"/>
          <p:cNvSpPr/>
          <p:nvPr/>
        </p:nvSpPr>
        <p:spPr>
          <a:xfrm flipH="false" flipV="false" rot="0">
            <a:off x="-28413" y="-66523"/>
            <a:ext cx="12247712" cy="242735"/>
          </a:xfrm>
          <a:custGeom>
            <a:avLst/>
            <a:gdLst/>
            <a:ahLst/>
            <a:cxnLst/>
            <a:rect r="r" b="b" t="t" l="l"/>
            <a:pathLst>
              <a:path h="242735" w="12247712">
                <a:moveTo>
                  <a:pt x="0" y="0"/>
                </a:moveTo>
                <a:lnTo>
                  <a:pt x="12247712" y="0"/>
                </a:lnTo>
                <a:lnTo>
                  <a:pt x="12247712" y="242735"/>
                </a:lnTo>
                <a:lnTo>
                  <a:pt x="0" y="24273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7" id="7"/>
          <p:cNvSpPr/>
          <p:nvPr/>
        </p:nvSpPr>
        <p:spPr>
          <a:xfrm flipH="false" flipV="false" rot="0">
            <a:off x="9134723" y="1720529"/>
            <a:ext cx="2614870" cy="1248661"/>
          </a:xfrm>
          <a:custGeom>
            <a:avLst/>
            <a:gdLst/>
            <a:ahLst/>
            <a:cxnLst/>
            <a:rect r="r" b="b" t="t" l="l"/>
            <a:pathLst>
              <a:path h="1248661" w="2614870">
                <a:moveTo>
                  <a:pt x="0" y="0"/>
                </a:moveTo>
                <a:lnTo>
                  <a:pt x="2614869" y="0"/>
                </a:lnTo>
                <a:lnTo>
                  <a:pt x="2614869" y="1248661"/>
                </a:lnTo>
                <a:lnTo>
                  <a:pt x="0" y="124866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8" id="8"/>
          <p:cNvSpPr/>
          <p:nvPr/>
        </p:nvSpPr>
        <p:spPr>
          <a:xfrm flipH="false" flipV="false" rot="0">
            <a:off x="2076183" y="3116580"/>
            <a:ext cx="8219037" cy="331441"/>
          </a:xfrm>
          <a:custGeom>
            <a:avLst/>
            <a:gdLst/>
            <a:ahLst/>
            <a:cxnLst/>
            <a:rect r="r" b="b" t="t" l="l"/>
            <a:pathLst>
              <a:path h="331441" w="8219037">
                <a:moveTo>
                  <a:pt x="0" y="0"/>
                </a:moveTo>
                <a:lnTo>
                  <a:pt x="8219037" y="0"/>
                </a:lnTo>
                <a:lnTo>
                  <a:pt x="8219037" y="331441"/>
                </a:lnTo>
                <a:lnTo>
                  <a:pt x="0" y="33144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9" id="9"/>
          <p:cNvSpPr/>
          <p:nvPr/>
        </p:nvSpPr>
        <p:spPr>
          <a:xfrm flipH="false" flipV="false" rot="0">
            <a:off x="6245352" y="3669554"/>
            <a:ext cx="5385102" cy="2261378"/>
          </a:xfrm>
          <a:custGeom>
            <a:avLst/>
            <a:gdLst/>
            <a:ahLst/>
            <a:cxnLst/>
            <a:rect r="r" b="b" t="t" l="l"/>
            <a:pathLst>
              <a:path h="2261378" w="5385102">
                <a:moveTo>
                  <a:pt x="0" y="0"/>
                </a:moveTo>
                <a:lnTo>
                  <a:pt x="5385102" y="0"/>
                </a:lnTo>
                <a:lnTo>
                  <a:pt x="5385102" y="2261378"/>
                </a:lnTo>
                <a:lnTo>
                  <a:pt x="0" y="226137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10" id="10"/>
          <p:cNvSpPr txBox="true"/>
          <p:nvPr/>
        </p:nvSpPr>
        <p:spPr>
          <a:xfrm rot="0">
            <a:off x="502196" y="6495774"/>
            <a:ext cx="2444086" cy="144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b="true" sz="799">
                <a:solidFill>
                  <a:srgbClr val="7FA8BC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AVALIAÇÃO DE ACESSIBILIDADE WEB · WCAG 2.1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536126" y="6495774"/>
            <a:ext cx="1188282" cy="144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b="true" sz="799">
                <a:solidFill>
                  <a:srgbClr val="7FA8BC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IFAL · CAMPUS MACEIÓ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885762" y="6473447"/>
            <a:ext cx="59236" cy="144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sz="799">
                <a:solidFill>
                  <a:srgbClr val="7FA8BC"/>
                </a:solidFill>
                <a:latin typeface="Noto Sans"/>
                <a:ea typeface="Noto Sans"/>
                <a:cs typeface="Noto Sans"/>
                <a:sym typeface="Noto Sans"/>
              </a:rPr>
              <a:t>5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66633" y="455400"/>
            <a:ext cx="1049969" cy="161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1"/>
              </a:lnSpc>
            </a:pPr>
            <a:r>
              <a:rPr lang="en-US" b="true" sz="901" spc="117">
                <a:solidFill>
                  <a:srgbClr val="4DD3E6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04 · CHECKLIST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66633" y="1038215"/>
            <a:ext cx="4531604" cy="498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b="true" sz="2800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15 critérios — visão geral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36116" y="2152540"/>
            <a:ext cx="705355" cy="192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b="true" sz="1099" spc="1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Conforme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370403" y="2152540"/>
            <a:ext cx="484537" cy="192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b="true" sz="1099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Parcial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205043" y="2152540"/>
            <a:ext cx="1016222" cy="192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b="true" sz="1099" spc="1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Não conforme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039683" y="2152540"/>
            <a:ext cx="959949" cy="192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b="true" sz="1099" spc="1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Não aplicável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79380" y="2013709"/>
            <a:ext cx="185261" cy="4510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b="true" sz="2500">
                <a:solidFill>
                  <a:srgbClr val="50D89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5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813667" y="2013709"/>
            <a:ext cx="185261" cy="4510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b="true" sz="2500">
                <a:solidFill>
                  <a:srgbClr val="F5C85B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5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648136" y="2013709"/>
            <a:ext cx="185261" cy="4510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b="true" sz="2500">
                <a:solidFill>
                  <a:srgbClr val="FF6B6B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4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486452" y="2013709"/>
            <a:ext cx="185261" cy="4510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b="true" sz="2500">
                <a:solidFill>
                  <a:srgbClr val="A9C1C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78484" y="3836375"/>
            <a:ext cx="74143" cy="186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b="true" sz="1000">
                <a:solidFill>
                  <a:srgbClr val="071A2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78484" y="4403017"/>
            <a:ext cx="74143" cy="186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b="true" sz="1000">
                <a:solidFill>
                  <a:srgbClr val="071A2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3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78484" y="4970021"/>
            <a:ext cx="74143" cy="186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b="true" sz="1000">
                <a:solidFill>
                  <a:srgbClr val="071A2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5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78484" y="5537025"/>
            <a:ext cx="74143" cy="186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b="true" sz="1000">
                <a:solidFill>
                  <a:srgbClr val="071A2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7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12803" y="3187665"/>
            <a:ext cx="1146210" cy="186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b="true" sz="1000">
                <a:solidFill>
                  <a:srgbClr val="A9C1C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15 itens avaliados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593043" y="3836375"/>
            <a:ext cx="74143" cy="186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b="true" sz="1000">
                <a:solidFill>
                  <a:srgbClr val="071A2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593043" y="4403017"/>
            <a:ext cx="74143" cy="186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b="true" sz="1000">
                <a:solidFill>
                  <a:srgbClr val="071A2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4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593043" y="4970021"/>
            <a:ext cx="74143" cy="186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b="true" sz="1000">
                <a:solidFill>
                  <a:srgbClr val="071A2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6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6593043" y="5537025"/>
            <a:ext cx="74143" cy="186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b="true" sz="1000">
                <a:solidFill>
                  <a:srgbClr val="071A2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8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306801" y="4984794"/>
            <a:ext cx="1413805" cy="154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2"/>
              </a:lnSpc>
            </a:pPr>
            <a:r>
              <a:rPr lang="en-US" sz="858">
                <a:solidFill>
                  <a:srgbClr val="F7FBFD"/>
                </a:solidFill>
                <a:latin typeface="Noto Sans"/>
                <a:ea typeface="Noto Sans"/>
                <a:cs typeface="Noto Sans"/>
                <a:sym typeface="Noto Sans"/>
              </a:rPr>
              <a:t>Contraste mínimo de cores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307163" y="4417809"/>
            <a:ext cx="1468098" cy="154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2"/>
              </a:lnSpc>
            </a:pPr>
            <a:r>
              <a:rPr lang="en-US" sz="858" spc="0">
                <a:solidFill>
                  <a:srgbClr val="F7FBFD"/>
                </a:solidFill>
                <a:latin typeface="Noto Sans"/>
                <a:ea typeface="Noto Sans"/>
                <a:cs typeface="Noto Sans"/>
                <a:sym typeface="Noto Sans"/>
              </a:rPr>
              <a:t>Idioma da página declarado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307163" y="3851158"/>
            <a:ext cx="1550994" cy="154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2"/>
              </a:lnSpc>
            </a:pPr>
            <a:r>
              <a:rPr lang="en-US" sz="858">
                <a:solidFill>
                  <a:srgbClr val="F7FBFD"/>
                </a:solidFill>
                <a:latin typeface="Noto Sans"/>
                <a:ea typeface="Noto Sans"/>
                <a:cs typeface="Noto Sans"/>
                <a:sym typeface="Noto Sans"/>
              </a:rPr>
              <a:t>Texto alternativo em imagens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306801" y="5551799"/>
            <a:ext cx="2057791" cy="154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2"/>
              </a:lnSpc>
            </a:pPr>
            <a:r>
              <a:rPr lang="en-US" sz="858" spc="0">
                <a:solidFill>
                  <a:srgbClr val="F7FBFD"/>
                </a:solidFill>
                <a:latin typeface="Noto Sans"/>
                <a:ea typeface="Noto Sans"/>
                <a:cs typeface="Noto Sans"/>
                <a:sym typeface="Noto Sans"/>
              </a:rPr>
              <a:t>Redimensionamento de texto até 200%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6921713" y="3851158"/>
            <a:ext cx="1326690" cy="154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2"/>
              </a:lnSpc>
            </a:pPr>
            <a:r>
              <a:rPr lang="en-US" sz="858">
                <a:solidFill>
                  <a:srgbClr val="F7FBFD"/>
                </a:solidFill>
                <a:latin typeface="Noto Sans"/>
                <a:ea typeface="Noto Sans"/>
                <a:cs typeface="Noto Sans"/>
                <a:sym typeface="Noto Sans"/>
              </a:rPr>
              <a:t>Hierarquia de cabeçalhos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6921713" y="4417809"/>
            <a:ext cx="1382430" cy="154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2"/>
              </a:lnSpc>
            </a:pPr>
            <a:r>
              <a:rPr lang="en-US" sz="858" spc="1">
                <a:solidFill>
                  <a:srgbClr val="F7FBFD"/>
                </a:solidFill>
                <a:latin typeface="Noto Sans"/>
                <a:ea typeface="Noto Sans"/>
                <a:cs typeface="Noto Sans"/>
                <a:sym typeface="Noto Sans"/>
              </a:rPr>
              <a:t>Título de página descritivo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6921360" y="5551799"/>
            <a:ext cx="1723558" cy="154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2"/>
              </a:lnSpc>
            </a:pPr>
            <a:r>
              <a:rPr lang="en-US" sz="858" spc="0">
                <a:solidFill>
                  <a:srgbClr val="F7FBFD"/>
                </a:solidFill>
                <a:latin typeface="Noto Sans"/>
                <a:ea typeface="Noto Sans"/>
                <a:cs typeface="Noto Sans"/>
                <a:sym typeface="Noto Sans"/>
              </a:rPr>
              <a:t>Navegação completa por teclado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6921713" y="4984794"/>
            <a:ext cx="2546890" cy="154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2"/>
              </a:lnSpc>
            </a:pPr>
            <a:r>
              <a:rPr lang="en-US" sz="858" spc="0">
                <a:solidFill>
                  <a:srgbClr val="F7FBFD"/>
                </a:solidFill>
                <a:latin typeface="Noto Sans"/>
                <a:ea typeface="Noto Sans"/>
                <a:cs typeface="Noto Sans"/>
                <a:sym typeface="Noto Sans"/>
              </a:rPr>
              <a:t>Cor não é o único meio de transmitir informação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5058004" y="3891524"/>
            <a:ext cx="331441" cy="127873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l">
              <a:lnSpc>
                <a:spcPts val="1051"/>
              </a:lnSpc>
            </a:pPr>
            <a:r>
              <a:rPr lang="en-US" b="true" sz="751">
                <a:solidFill>
                  <a:srgbClr val="071A2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Parcial</a:t>
            </a:r>
            <a:r>
              <a:rPr lang="en-US" b="true" sz="751">
                <a:solidFill>
                  <a:srgbClr val="071A2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/>
            </a:r>
            <a:r>
              <a:rPr lang="en-US" b="true" sz="751">
                <a:solidFill>
                  <a:srgbClr val="071A2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/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5058004" y="5592528"/>
            <a:ext cx="331441" cy="127873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l">
              <a:lnSpc>
                <a:spcPts val="1051"/>
              </a:lnSpc>
            </a:pPr>
            <a:r>
              <a:rPr lang="en-US" b="true" sz="751">
                <a:solidFill>
                  <a:srgbClr val="071A2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Parcial</a:t>
            </a:r>
            <a:r>
              <a:rPr lang="en-US" b="true" sz="751">
                <a:solidFill>
                  <a:srgbClr val="071A2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/>
            </a:r>
            <a:r>
              <a:rPr lang="en-US" b="true" sz="751">
                <a:solidFill>
                  <a:srgbClr val="071A2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/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4983480" y="4458529"/>
            <a:ext cx="485966" cy="127873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l">
              <a:lnSpc>
                <a:spcPts val="1051"/>
              </a:lnSpc>
            </a:pPr>
            <a:r>
              <a:rPr lang="en-US" b="true" sz="751" spc="5">
                <a:solidFill>
                  <a:srgbClr val="071A2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Conforme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4879438" y="5025523"/>
            <a:ext cx="700249" cy="127873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l">
              <a:lnSpc>
                <a:spcPts val="1051"/>
              </a:lnSpc>
            </a:pPr>
            <a:r>
              <a:rPr lang="en-US" b="true" sz="751" spc="5">
                <a:solidFill>
                  <a:srgbClr val="071A2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Não conforme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0597677" y="4458529"/>
            <a:ext cx="485966" cy="127873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l">
              <a:lnSpc>
                <a:spcPts val="1051"/>
              </a:lnSpc>
            </a:pPr>
            <a:r>
              <a:rPr lang="en-US" b="true" sz="751" spc="5">
                <a:solidFill>
                  <a:srgbClr val="071A2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Conforme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0597677" y="5592528"/>
            <a:ext cx="485966" cy="127873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l">
              <a:lnSpc>
                <a:spcPts val="1051"/>
              </a:lnSpc>
            </a:pPr>
            <a:r>
              <a:rPr lang="en-US" b="true" sz="751" spc="5">
                <a:solidFill>
                  <a:srgbClr val="071A2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Conforme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0493645" y="3891524"/>
            <a:ext cx="700249" cy="127873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l">
              <a:lnSpc>
                <a:spcPts val="1051"/>
              </a:lnSpc>
            </a:pPr>
            <a:r>
              <a:rPr lang="en-US" b="true" sz="751" spc="5">
                <a:solidFill>
                  <a:srgbClr val="071A2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Não conforme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0493645" y="5025523"/>
            <a:ext cx="700249" cy="127873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l">
              <a:lnSpc>
                <a:spcPts val="1051"/>
              </a:lnSpc>
            </a:pPr>
            <a:r>
              <a:rPr lang="en-US" b="true" sz="751" spc="5">
                <a:solidFill>
                  <a:srgbClr val="071A2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Não conforme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4921558" y="6238399"/>
            <a:ext cx="2344226" cy="143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0"/>
              </a:lnSpc>
            </a:pPr>
            <a:r>
              <a:rPr lang="en-US" sz="850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Continuação dos itens 9–15 no próximo slide.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8413" y="-66523"/>
            <a:ext cx="12247712" cy="242735"/>
          </a:xfrm>
          <a:custGeom>
            <a:avLst/>
            <a:gdLst/>
            <a:ahLst/>
            <a:cxnLst/>
            <a:rect r="r" b="b" t="t" l="l"/>
            <a:pathLst>
              <a:path h="242735" w="12247712">
                <a:moveTo>
                  <a:pt x="0" y="0"/>
                </a:moveTo>
                <a:lnTo>
                  <a:pt x="12247712" y="0"/>
                </a:lnTo>
                <a:lnTo>
                  <a:pt x="12247712" y="242735"/>
                </a:lnTo>
                <a:lnTo>
                  <a:pt x="0" y="2427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false" flipV="false" rot="0">
            <a:off x="685857" y="1710414"/>
            <a:ext cx="10825439" cy="4368832"/>
          </a:xfrm>
          <a:custGeom>
            <a:avLst/>
            <a:gdLst/>
            <a:ahLst/>
            <a:cxnLst/>
            <a:rect r="r" b="b" t="t" l="l"/>
            <a:pathLst>
              <a:path h="4368832" w="10825439">
                <a:moveTo>
                  <a:pt x="0" y="0"/>
                </a:moveTo>
                <a:lnTo>
                  <a:pt x="10825439" y="0"/>
                </a:lnTo>
                <a:lnTo>
                  <a:pt x="10825439" y="4368832"/>
                </a:lnTo>
                <a:lnTo>
                  <a:pt x="0" y="43688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4" id="4"/>
          <p:cNvSpPr txBox="true"/>
          <p:nvPr/>
        </p:nvSpPr>
        <p:spPr>
          <a:xfrm rot="0">
            <a:off x="502196" y="6495774"/>
            <a:ext cx="2444086" cy="144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b="true" sz="799">
                <a:solidFill>
                  <a:srgbClr val="7FA8BC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AVALIAÇÃO DE ACESSIBILIDADE WEB · WCAG 2.1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536126" y="6495774"/>
            <a:ext cx="1188282" cy="144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b="true" sz="799">
                <a:solidFill>
                  <a:srgbClr val="7FA8BC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IFAL · CAMPUS MACEIÓ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885762" y="6473447"/>
            <a:ext cx="59236" cy="144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sz="799">
                <a:solidFill>
                  <a:srgbClr val="7FA8BC"/>
                </a:solidFill>
                <a:latin typeface="Noto Sans"/>
                <a:ea typeface="Noto Sans"/>
                <a:cs typeface="Noto Sans"/>
                <a:sym typeface="Noto Sans"/>
              </a:rPr>
              <a:t>6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66280" y="455400"/>
            <a:ext cx="1049969" cy="161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1"/>
              </a:lnSpc>
            </a:pPr>
            <a:r>
              <a:rPr lang="en-US" b="true" sz="901" spc="117">
                <a:solidFill>
                  <a:srgbClr val="4DD3E6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04 · CHECKLIST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66280" y="1038215"/>
            <a:ext cx="4809144" cy="498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b="true" sz="2800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15 critérios — continuação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88279" y="1916135"/>
            <a:ext cx="74143" cy="186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b="true" sz="1000" spc="800">
                <a:solidFill>
                  <a:srgbClr val="071A2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9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118084" y="1971637"/>
            <a:ext cx="35042" cy="173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56"/>
              </a:lnSpc>
            </a:pPr>
            <a:r>
              <a:rPr lang="en-US" b="true" sz="1040" spc="832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52284" y="2537851"/>
            <a:ext cx="147247" cy="186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b="true" sz="1000">
                <a:solidFill>
                  <a:srgbClr val="071A2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10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52284" y="3159585"/>
            <a:ext cx="147247" cy="186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b="true" sz="1000">
                <a:solidFill>
                  <a:srgbClr val="071A2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52284" y="3781301"/>
            <a:ext cx="147247" cy="186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b="true" sz="1000">
                <a:solidFill>
                  <a:srgbClr val="071A2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12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52284" y="4403017"/>
            <a:ext cx="147247" cy="186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b="true" sz="1000">
                <a:solidFill>
                  <a:srgbClr val="071A2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13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52284" y="5025095"/>
            <a:ext cx="147247" cy="186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b="true" sz="1000">
                <a:solidFill>
                  <a:srgbClr val="071A2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14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52284" y="5646811"/>
            <a:ext cx="147247" cy="186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b="true" sz="1000">
                <a:solidFill>
                  <a:srgbClr val="071A2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15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81404" y="1971637"/>
            <a:ext cx="1632890" cy="173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56"/>
              </a:lnSpc>
            </a:pPr>
            <a:r>
              <a:rPr lang="en-US" b="true" sz="1040" spc="1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Indicador de foco visível</a:t>
            </a:r>
            <a:r>
              <a:rPr lang="en-US" b="true" sz="1040" spc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/>
            </a:r>
            <a:r>
              <a:rPr lang="en-US" b="true" sz="1040" spc="1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/>
            </a:r>
            <a:r>
              <a:rPr lang="en-US" b="true" sz="1040" spc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/>
            </a:r>
            <a:r>
              <a:rPr lang="en-US" b="true" sz="1040" spc="1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/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81033" y="4458862"/>
            <a:ext cx="1768459" cy="173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56"/>
              </a:lnSpc>
            </a:pPr>
            <a:r>
              <a:rPr lang="en-US" b="true" sz="1040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Links com texto descritivo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81033" y="5080597"/>
            <a:ext cx="2511666" cy="173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56"/>
              </a:lnSpc>
            </a:pPr>
            <a:r>
              <a:rPr lang="en-US" b="true" sz="1040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Controle de conteúdo em movimento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81404" y="2593705"/>
            <a:ext cx="2531202" cy="173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56"/>
              </a:lnSpc>
            </a:pPr>
            <a:r>
              <a:rPr lang="en-US" b="true" sz="1040" spc="1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Link para pular ao conteúdo principal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81404" y="5702665"/>
            <a:ext cx="2627424" cy="173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56"/>
              </a:lnSpc>
            </a:pPr>
            <a:r>
              <a:rPr lang="en-US" b="true" sz="1040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Estrutura semântica e marcação válida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81404" y="3215430"/>
            <a:ext cx="3060944" cy="173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56"/>
              </a:lnSpc>
            </a:pPr>
            <a:r>
              <a:rPr lang="en-US" b="true" sz="1040" spc="1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Rótulos associados aos campos de formulário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481033" y="3837146"/>
            <a:ext cx="3056906" cy="173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56"/>
              </a:lnSpc>
            </a:pPr>
            <a:r>
              <a:rPr lang="en-US" b="true" sz="1040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Identificação e sugestão de correção de erros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250831" y="2579141"/>
            <a:ext cx="423434" cy="15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30"/>
              </a:lnSpc>
            </a:pPr>
            <a:r>
              <a:rPr lang="en-US" sz="878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2.4.1 (A)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250831" y="3200867"/>
            <a:ext cx="423434" cy="15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30"/>
              </a:lnSpc>
            </a:pPr>
            <a:r>
              <a:rPr lang="en-US" sz="878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3.3.2 (A)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250831" y="4444670"/>
            <a:ext cx="423434" cy="15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30"/>
              </a:lnSpc>
            </a:pPr>
            <a:r>
              <a:rPr lang="en-US" sz="878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2.4.4 (A)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250831" y="5066386"/>
            <a:ext cx="423434" cy="15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30"/>
              </a:lnSpc>
            </a:pPr>
            <a:r>
              <a:rPr lang="en-US" sz="878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2.2.2 (A)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250831" y="5688101"/>
            <a:ext cx="423434" cy="15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30"/>
              </a:lnSpc>
            </a:pPr>
            <a:r>
              <a:rPr lang="en-US" sz="878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1.3.1 (A)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8009277" y="3822583"/>
            <a:ext cx="669979" cy="15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30"/>
              </a:lnSpc>
            </a:pPr>
            <a:r>
              <a:rPr lang="en-US" sz="878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3.3.1 (A / AA)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8179918" y="1957426"/>
            <a:ext cx="496281" cy="15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30"/>
              </a:lnSpc>
            </a:pPr>
            <a:r>
              <a:rPr lang="en-US" sz="878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2.4.7 (AA)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794519" y="1971284"/>
            <a:ext cx="331441" cy="127873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l">
              <a:lnSpc>
                <a:spcPts val="1051"/>
              </a:lnSpc>
            </a:pPr>
            <a:r>
              <a:rPr lang="en-US" b="true" sz="751">
                <a:solidFill>
                  <a:srgbClr val="071A2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Parcial</a:t>
            </a:r>
            <a:r>
              <a:rPr lang="en-US" b="true" sz="751">
                <a:solidFill>
                  <a:srgbClr val="071A2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/>
            </a:r>
            <a:r>
              <a:rPr lang="en-US" b="true" sz="751">
                <a:solidFill>
                  <a:srgbClr val="071A2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/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794519" y="4458529"/>
            <a:ext cx="331441" cy="127873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l">
              <a:lnSpc>
                <a:spcPts val="1051"/>
              </a:lnSpc>
            </a:pPr>
            <a:r>
              <a:rPr lang="en-US" b="true" sz="751">
                <a:solidFill>
                  <a:srgbClr val="071A2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Parcial</a:t>
            </a:r>
            <a:r>
              <a:rPr lang="en-US" b="true" sz="751">
                <a:solidFill>
                  <a:srgbClr val="071A2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/>
            </a:r>
            <a:r>
              <a:rPr lang="en-US" b="true" sz="751">
                <a:solidFill>
                  <a:srgbClr val="071A2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/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794519" y="5701960"/>
            <a:ext cx="331441" cy="127873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l">
              <a:lnSpc>
                <a:spcPts val="1051"/>
              </a:lnSpc>
            </a:pPr>
            <a:r>
              <a:rPr lang="en-US" b="true" sz="751">
                <a:solidFill>
                  <a:srgbClr val="071A2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Parcial</a:t>
            </a:r>
            <a:r>
              <a:rPr lang="en-US" b="true" sz="751">
                <a:solidFill>
                  <a:srgbClr val="071A2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/>
            </a:r>
            <a:r>
              <a:rPr lang="en-US" b="true" sz="751">
                <a:solidFill>
                  <a:srgbClr val="071A2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/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719996" y="2593000"/>
            <a:ext cx="485966" cy="127873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l">
              <a:lnSpc>
                <a:spcPts val="1051"/>
              </a:lnSpc>
            </a:pPr>
            <a:r>
              <a:rPr lang="en-US" b="true" sz="751" spc="5">
                <a:solidFill>
                  <a:srgbClr val="071A2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Conforme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719996" y="3215088"/>
            <a:ext cx="485966" cy="127873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l">
              <a:lnSpc>
                <a:spcPts val="1051"/>
              </a:lnSpc>
            </a:pPr>
            <a:r>
              <a:rPr lang="en-US" b="true" sz="751" spc="5">
                <a:solidFill>
                  <a:srgbClr val="071A2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Conforme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615954" y="5080244"/>
            <a:ext cx="700249" cy="127873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l">
              <a:lnSpc>
                <a:spcPts val="1051"/>
              </a:lnSpc>
            </a:pPr>
            <a:r>
              <a:rPr lang="en-US" b="true" sz="751" spc="5">
                <a:solidFill>
                  <a:srgbClr val="071A2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Não conforme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635042" y="3836803"/>
            <a:ext cx="661807" cy="127873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l">
              <a:lnSpc>
                <a:spcPts val="1051"/>
              </a:lnSpc>
            </a:pPr>
            <a:r>
              <a:rPr lang="en-US" b="true" sz="751" spc="4">
                <a:solidFill>
                  <a:srgbClr val="071A2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Não aplicável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98056" y="1691726"/>
            <a:ext cx="3823383" cy="4333151"/>
          </a:xfrm>
          <a:custGeom>
            <a:avLst/>
            <a:gdLst/>
            <a:ahLst/>
            <a:cxnLst/>
            <a:rect r="r" b="b" t="t" l="l"/>
            <a:pathLst>
              <a:path h="4333151" w="3823383">
                <a:moveTo>
                  <a:pt x="0" y="0"/>
                </a:moveTo>
                <a:lnTo>
                  <a:pt x="3823382" y="0"/>
                </a:lnTo>
                <a:lnTo>
                  <a:pt x="3823382" y="4333151"/>
                </a:lnTo>
                <a:lnTo>
                  <a:pt x="0" y="43331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8413" y="-66523"/>
            <a:ext cx="12247712" cy="242735"/>
          </a:xfrm>
          <a:custGeom>
            <a:avLst/>
            <a:gdLst/>
            <a:ahLst/>
            <a:cxnLst/>
            <a:rect r="r" b="b" t="t" l="l"/>
            <a:pathLst>
              <a:path h="242735" w="12247712">
                <a:moveTo>
                  <a:pt x="0" y="0"/>
                </a:moveTo>
                <a:lnTo>
                  <a:pt x="12247712" y="0"/>
                </a:lnTo>
                <a:lnTo>
                  <a:pt x="12247712" y="242735"/>
                </a:lnTo>
                <a:lnTo>
                  <a:pt x="0" y="2427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604471" y="3913270"/>
            <a:ext cx="6974862" cy="2111969"/>
          </a:xfrm>
          <a:custGeom>
            <a:avLst/>
            <a:gdLst/>
            <a:ahLst/>
            <a:cxnLst/>
            <a:rect r="r" b="b" t="t" l="l"/>
            <a:pathLst>
              <a:path h="2111969" w="6974862">
                <a:moveTo>
                  <a:pt x="0" y="0"/>
                </a:moveTo>
                <a:lnTo>
                  <a:pt x="6974862" y="0"/>
                </a:lnTo>
                <a:lnTo>
                  <a:pt x="6974862" y="2111969"/>
                </a:lnTo>
                <a:lnTo>
                  <a:pt x="0" y="211196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644480" y="1691726"/>
            <a:ext cx="6984940" cy="2120265"/>
          </a:xfrm>
          <a:custGeom>
            <a:avLst/>
            <a:gdLst/>
            <a:ahLst/>
            <a:cxnLst/>
            <a:rect r="r" b="b" t="t" l="l"/>
            <a:pathLst>
              <a:path h="2120265" w="6984940">
                <a:moveTo>
                  <a:pt x="0" y="0"/>
                </a:moveTo>
                <a:lnTo>
                  <a:pt x="6984940" y="0"/>
                </a:lnTo>
                <a:lnTo>
                  <a:pt x="6984940" y="2120265"/>
                </a:lnTo>
                <a:lnTo>
                  <a:pt x="0" y="212026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02196" y="6495774"/>
            <a:ext cx="2444086" cy="144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b="true" sz="799">
                <a:solidFill>
                  <a:srgbClr val="7FA8BC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AVALIAÇÃO DE ACESSIBILIDADE WEB · WCAG 2.1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536126" y="6495774"/>
            <a:ext cx="1188282" cy="144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b="true" sz="799">
                <a:solidFill>
                  <a:srgbClr val="7FA8BC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IFAL · CAMPUS MACEIÓ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885762" y="6473447"/>
            <a:ext cx="58103" cy="132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sz="799">
                <a:solidFill>
                  <a:srgbClr val="7FA8BC"/>
                </a:solidFill>
                <a:latin typeface="Noto Sans"/>
                <a:ea typeface="Noto Sans"/>
                <a:cs typeface="Noto Sans"/>
                <a:sym typeface="Noto Sans"/>
              </a:rPr>
              <a:t>7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67355" y="4238282"/>
            <a:ext cx="2117227" cy="161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1"/>
              </a:lnSpc>
            </a:pPr>
            <a:r>
              <a:rPr lang="en-US" b="true" sz="901">
                <a:solidFill>
                  <a:srgbClr val="8DE8F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ASES · GOVERNO FEDERAL · eMAG 3.1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708999" y="2652036"/>
            <a:ext cx="286426" cy="514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2"/>
              </a:lnSpc>
            </a:pPr>
            <a:r>
              <a:rPr lang="en-US" sz="901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err</a:t>
            </a:r>
            <a:r>
              <a:rPr lang="en-US" sz="901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os</a:t>
            </a:r>
          </a:p>
          <a:p>
            <a:pPr algn="ctr">
              <a:lnSpc>
                <a:spcPts val="532"/>
              </a:lnSpc>
            </a:pPr>
          </a:p>
          <a:p>
            <a:pPr algn="ctr">
              <a:lnSpc>
                <a:spcPts val="532"/>
              </a:lnSpc>
            </a:pPr>
          </a:p>
          <a:p>
            <a:pPr algn="ctr">
              <a:lnSpc>
                <a:spcPts val="532"/>
              </a:lnSpc>
            </a:pPr>
          </a:p>
          <a:p>
            <a:pPr algn="ctr">
              <a:lnSpc>
                <a:spcPts val="1358"/>
              </a:lnSpc>
            </a:pPr>
            <a:r>
              <a:rPr lang="en-US" b="true" sz="2298">
                <a:solidFill>
                  <a:srgbClr val="8DE8F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4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216766" y="4329722"/>
            <a:ext cx="1270892" cy="161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1"/>
              </a:lnSpc>
            </a:pPr>
            <a:r>
              <a:rPr lang="en-US" b="true" sz="901">
                <a:solidFill>
                  <a:srgbClr val="F5C85B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ATENÇÃO NA LEITURA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66280" y="455400"/>
            <a:ext cx="1926431" cy="161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1"/>
              </a:lnSpc>
            </a:pPr>
            <a:r>
              <a:rPr lang="en-US" b="true" sz="901" spc="109">
                <a:solidFill>
                  <a:srgbClr val="4DD3E6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05 · AVALIADORES OFICIAIS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66280" y="1038215"/>
            <a:ext cx="6168514" cy="498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b="true" sz="2800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O que o WAVE e o ASES apontaram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956124" y="4638294"/>
            <a:ext cx="6055890" cy="387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b="true" sz="1099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16 recursos corretos e 42 elementos estruturais. Três dos quatro erros vêm da Barra do Governo Federal, não do código do IFAL; o quarto não foi possível atribuir.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07243" y="2400738"/>
            <a:ext cx="2837450" cy="1246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39"/>
              </a:lnSpc>
            </a:pPr>
            <a:r>
              <a:rPr lang="en-US" b="true" sz="4501">
                <a:solidFill>
                  <a:srgbClr val="50D89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90,48%</a:t>
            </a:r>
          </a:p>
          <a:p>
            <a:pPr algn="ctr">
              <a:lnSpc>
                <a:spcPts val="1210"/>
              </a:lnSpc>
            </a:pPr>
            <a:r>
              <a:rPr lang="en-US" sz="949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Total: 40 erros e 310 avisos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65883" y="4985947"/>
            <a:ext cx="2883589" cy="341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43"/>
              </a:lnSpc>
            </a:pPr>
            <a:r>
              <a:rPr lang="en-US" sz="960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Marcação: 29 erros · Conteúdo: 11 erros · demais seções sem erro.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973764" y="2075459"/>
            <a:ext cx="1208637" cy="207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8"/>
              </a:lnSpc>
            </a:pPr>
            <a:r>
              <a:rPr lang="en-US" b="true" sz="1199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WAVE · WebAIM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21191" y="2548471"/>
            <a:ext cx="515760" cy="714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6"/>
              </a:lnSpc>
            </a:pPr>
            <a:r>
              <a:rPr lang="en-US" sz="901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contraste</a:t>
            </a:r>
          </a:p>
          <a:p>
            <a:pPr algn="ctr">
              <a:lnSpc>
                <a:spcPts val="3664"/>
              </a:lnSpc>
            </a:pPr>
            <a:r>
              <a:rPr lang="en-US" b="true" sz="2298">
                <a:solidFill>
                  <a:srgbClr val="8DE8F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21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711719" y="2548471"/>
            <a:ext cx="371789" cy="714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436"/>
              </a:lnSpc>
            </a:pPr>
            <a:r>
              <a:rPr lang="en-US" sz="901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alertas</a:t>
            </a:r>
          </a:p>
          <a:p>
            <a:pPr algn="just">
              <a:lnSpc>
                <a:spcPts val="3664"/>
              </a:lnSpc>
            </a:pPr>
            <a:r>
              <a:rPr lang="en-US" b="true" sz="2298">
                <a:solidFill>
                  <a:srgbClr val="8DE8F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32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8413" y="-66523"/>
            <a:ext cx="12247712" cy="242735"/>
          </a:xfrm>
          <a:custGeom>
            <a:avLst/>
            <a:gdLst/>
            <a:ahLst/>
            <a:cxnLst/>
            <a:rect r="r" b="b" t="t" l="l"/>
            <a:pathLst>
              <a:path h="242735" w="12247712">
                <a:moveTo>
                  <a:pt x="0" y="0"/>
                </a:moveTo>
                <a:lnTo>
                  <a:pt x="12247712" y="0"/>
                </a:lnTo>
                <a:lnTo>
                  <a:pt x="12247712" y="242735"/>
                </a:lnTo>
                <a:lnTo>
                  <a:pt x="0" y="2427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98037" y="1673714"/>
            <a:ext cx="6794487" cy="4497695"/>
          </a:xfrm>
          <a:custGeom>
            <a:avLst/>
            <a:gdLst/>
            <a:ahLst/>
            <a:cxnLst/>
            <a:rect r="r" b="b" t="t" l="l"/>
            <a:pathLst>
              <a:path h="4497695" w="6794487">
                <a:moveTo>
                  <a:pt x="0" y="0"/>
                </a:moveTo>
                <a:lnTo>
                  <a:pt x="6794487" y="0"/>
                </a:lnTo>
                <a:lnTo>
                  <a:pt x="6794487" y="4497695"/>
                </a:lnTo>
                <a:lnTo>
                  <a:pt x="0" y="449769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54357" y="5108038"/>
            <a:ext cx="6100924" cy="599761"/>
          </a:xfrm>
          <a:custGeom>
            <a:avLst/>
            <a:gdLst/>
            <a:ahLst/>
            <a:cxnLst/>
            <a:rect r="r" b="b" t="t" l="l"/>
            <a:pathLst>
              <a:path h="599761" w="6100924">
                <a:moveTo>
                  <a:pt x="0" y="0"/>
                </a:moveTo>
                <a:lnTo>
                  <a:pt x="6100925" y="0"/>
                </a:lnTo>
                <a:lnTo>
                  <a:pt x="6100925" y="599761"/>
                </a:lnTo>
                <a:lnTo>
                  <a:pt x="0" y="59976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544953" y="1673714"/>
            <a:ext cx="4011692" cy="4497686"/>
          </a:xfrm>
          <a:custGeom>
            <a:avLst/>
            <a:gdLst/>
            <a:ahLst/>
            <a:cxnLst/>
            <a:rect r="r" b="b" t="t" l="l"/>
            <a:pathLst>
              <a:path h="4497686" w="4011692">
                <a:moveTo>
                  <a:pt x="0" y="0"/>
                </a:moveTo>
                <a:lnTo>
                  <a:pt x="4011691" y="0"/>
                </a:lnTo>
                <a:lnTo>
                  <a:pt x="4011691" y="4497686"/>
                </a:lnTo>
                <a:lnTo>
                  <a:pt x="0" y="449768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02196" y="6495774"/>
            <a:ext cx="2444086" cy="144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b="true" sz="799">
                <a:solidFill>
                  <a:srgbClr val="7FA8BC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AVALIAÇÃO DE ACESSIBILIDADE WEB · WCAG 2.1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536126" y="6495774"/>
            <a:ext cx="1188282" cy="144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b="true" sz="799">
                <a:solidFill>
                  <a:srgbClr val="7FA8BC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IFAL · CAMPUS MACEIÓ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885762" y="6473447"/>
            <a:ext cx="58103" cy="132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sz="799">
                <a:solidFill>
                  <a:srgbClr val="7FA8BC"/>
                </a:solidFill>
                <a:latin typeface="Noto Sans"/>
                <a:ea typeface="Noto Sans"/>
                <a:cs typeface="Noto Sans"/>
                <a:sym typeface="Noto Sans"/>
              </a:rPr>
              <a:t>8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66280" y="455400"/>
            <a:ext cx="1662303" cy="161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1"/>
              </a:lnSpc>
            </a:pPr>
            <a:r>
              <a:rPr lang="en-US" b="true" sz="901" spc="113">
                <a:solidFill>
                  <a:srgbClr val="4DD3E6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06 · ACHADOS CRÍTICOS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66280" y="1038215"/>
            <a:ext cx="6337573" cy="498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b="true" sz="2800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Onde estão as principais barreiras?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85579" y="2078688"/>
            <a:ext cx="37043" cy="192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b="true" sz="1099">
                <a:solidFill>
                  <a:srgbClr val="8DE8F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32040" y="2078688"/>
            <a:ext cx="1499616" cy="192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b="true" sz="1099" spc="69">
                <a:solidFill>
                  <a:srgbClr val="8DE8F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BANNER</a:t>
            </a:r>
            <a:r>
              <a:rPr lang="en-US" b="true" sz="1099" spc="69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-US" b="true" sz="1099" spc="69">
                <a:solidFill>
                  <a:srgbClr val="8DE8F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ROTATIVO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918199" y="2078688"/>
            <a:ext cx="1658045" cy="192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b="true" sz="1099" spc="98">
                <a:solidFill>
                  <a:srgbClr val="8DE8F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CONTRASTE MEDIDO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91235" y="5255847"/>
            <a:ext cx="5752205" cy="164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89"/>
              </a:lnSpc>
            </a:pPr>
            <a:r>
              <a:rPr lang="en-US" b="true" sz="921" spc="0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22×20 px · contraste 1,66:1 · slide ativo identificado apenas pela cor · troca a cada 4 s · sem botão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732476" y="5396617"/>
            <a:ext cx="535743" cy="164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89"/>
              </a:lnSpc>
            </a:pPr>
            <a:r>
              <a:rPr lang="en-US" b="true" sz="921" spc="0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de pausa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970075" y="4105656"/>
            <a:ext cx="777147" cy="539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23"/>
              </a:lnSpc>
            </a:pPr>
            <a:r>
              <a:rPr lang="en-US" b="true" sz="1930">
                <a:solidFill>
                  <a:srgbClr val="FF6B6B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1,56:1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647043" y="5652383"/>
            <a:ext cx="28261" cy="151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74"/>
              </a:lnSpc>
            </a:pPr>
            <a:r>
              <a:rPr lang="en-US" sz="839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850963" y="3836889"/>
            <a:ext cx="1040159" cy="1561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18"/>
              </a:lnSpc>
            </a:pPr>
            <a:r>
              <a:rPr lang="en-US" sz="870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“Voltar para o topo”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850963" y="3260893"/>
            <a:ext cx="1047674" cy="1561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18"/>
              </a:lnSpc>
            </a:pPr>
            <a:r>
              <a:rPr lang="en-US" sz="870" spc="1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Botão do slide ativo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850963" y="4416552"/>
            <a:ext cx="1326785" cy="1561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18"/>
              </a:lnSpc>
            </a:pPr>
            <a:r>
              <a:rPr lang="en-US" sz="870" spc="0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Foco sobre fundo branco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850963" y="2684888"/>
            <a:ext cx="1672171" cy="1561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18"/>
              </a:lnSpc>
            </a:pPr>
            <a:r>
              <a:rPr lang="en-US" sz="870" spc="5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Botão de navegação do banner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175603" y="5652383"/>
            <a:ext cx="2457926" cy="140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74"/>
              </a:lnSpc>
            </a:pPr>
            <a:r>
              <a:rPr lang="en-US" sz="839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Exigência de contraste de texto: 4,5:1 · foco: 3,0:1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927724" y="3531073"/>
            <a:ext cx="777147" cy="539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23"/>
              </a:lnSpc>
            </a:pPr>
            <a:r>
              <a:rPr lang="en-US" b="true" sz="1930">
                <a:solidFill>
                  <a:srgbClr val="F5C85B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4,48:1 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979600" y="2919636"/>
            <a:ext cx="777147" cy="539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23"/>
              </a:lnSpc>
            </a:pPr>
            <a:r>
              <a:rPr lang="en-US" b="true" sz="1930">
                <a:solidFill>
                  <a:srgbClr val="FF6B6B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3,0:1 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907681" y="2379072"/>
            <a:ext cx="777147" cy="539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23"/>
              </a:lnSpc>
            </a:pPr>
            <a:r>
              <a:rPr lang="en-US" b="true" sz="1930">
                <a:solidFill>
                  <a:srgbClr val="FF6B6B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1,66:1 </a:t>
            </a:r>
          </a:p>
        </p:txBody>
      </p:sp>
      <p:pic>
        <p:nvPicPr>
          <p:cNvPr id="30" name="Picture 29" descr="13b-carrossel-recorte-botoe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32764" y="2535864"/>
            <a:ext cx="6144111" cy="225176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8413" y="-66523"/>
            <a:ext cx="12247712" cy="242735"/>
          </a:xfrm>
          <a:custGeom>
            <a:avLst/>
            <a:gdLst/>
            <a:ahLst/>
            <a:cxnLst/>
            <a:rect r="r" b="b" t="t" l="l"/>
            <a:pathLst>
              <a:path h="242735" w="12247712">
                <a:moveTo>
                  <a:pt x="0" y="0"/>
                </a:moveTo>
                <a:lnTo>
                  <a:pt x="12247712" y="0"/>
                </a:lnTo>
                <a:lnTo>
                  <a:pt x="12247712" y="242735"/>
                </a:lnTo>
                <a:lnTo>
                  <a:pt x="0" y="2427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95513" y="1673362"/>
            <a:ext cx="4834661" cy="4570771"/>
          </a:xfrm>
          <a:custGeom>
            <a:avLst/>
            <a:gdLst/>
            <a:ahLst/>
            <a:cxnLst/>
            <a:rect r="r" b="b" t="t" l="l"/>
            <a:pathLst>
              <a:path h="4570771" w="4834661">
                <a:moveTo>
                  <a:pt x="0" y="0"/>
                </a:moveTo>
                <a:lnTo>
                  <a:pt x="4834661" y="0"/>
                </a:lnTo>
                <a:lnTo>
                  <a:pt x="4834661" y="4570771"/>
                </a:lnTo>
                <a:lnTo>
                  <a:pt x="0" y="457077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613568" y="1718720"/>
            <a:ext cx="5917501" cy="969674"/>
          </a:xfrm>
          <a:custGeom>
            <a:avLst/>
            <a:gdLst/>
            <a:ahLst/>
            <a:cxnLst/>
            <a:rect r="r" b="b" t="t" l="l"/>
            <a:pathLst>
              <a:path h="969674" w="5917501">
                <a:moveTo>
                  <a:pt x="0" y="0"/>
                </a:moveTo>
                <a:lnTo>
                  <a:pt x="5917502" y="0"/>
                </a:lnTo>
                <a:lnTo>
                  <a:pt x="5917502" y="969673"/>
                </a:lnTo>
                <a:lnTo>
                  <a:pt x="0" y="96967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613568" y="2797654"/>
            <a:ext cx="5917501" cy="969664"/>
          </a:xfrm>
          <a:custGeom>
            <a:avLst/>
            <a:gdLst/>
            <a:ahLst/>
            <a:cxnLst/>
            <a:rect r="r" b="b" t="t" l="l"/>
            <a:pathLst>
              <a:path h="969664" w="5917501">
                <a:moveTo>
                  <a:pt x="0" y="0"/>
                </a:moveTo>
                <a:lnTo>
                  <a:pt x="5917502" y="0"/>
                </a:lnTo>
                <a:lnTo>
                  <a:pt x="5917502" y="969664"/>
                </a:lnTo>
                <a:lnTo>
                  <a:pt x="0" y="96966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5613568" y="3876570"/>
            <a:ext cx="5917501" cy="969674"/>
          </a:xfrm>
          <a:custGeom>
            <a:avLst/>
            <a:gdLst/>
            <a:ahLst/>
            <a:cxnLst/>
            <a:rect r="r" b="b" t="t" l="l"/>
            <a:pathLst>
              <a:path h="969674" w="5917501">
                <a:moveTo>
                  <a:pt x="0" y="0"/>
                </a:moveTo>
                <a:lnTo>
                  <a:pt x="5917502" y="0"/>
                </a:lnTo>
                <a:lnTo>
                  <a:pt x="5917502" y="969674"/>
                </a:lnTo>
                <a:lnTo>
                  <a:pt x="0" y="96967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613568" y="4955848"/>
            <a:ext cx="5917501" cy="969664"/>
          </a:xfrm>
          <a:custGeom>
            <a:avLst/>
            <a:gdLst/>
            <a:ahLst/>
            <a:cxnLst/>
            <a:rect r="r" b="b" t="t" l="l"/>
            <a:pathLst>
              <a:path h="969664" w="5917501">
                <a:moveTo>
                  <a:pt x="0" y="0"/>
                </a:moveTo>
                <a:lnTo>
                  <a:pt x="5917502" y="0"/>
                </a:lnTo>
                <a:lnTo>
                  <a:pt x="5917502" y="969664"/>
                </a:lnTo>
                <a:lnTo>
                  <a:pt x="0" y="969664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502196" y="6495774"/>
            <a:ext cx="2444086" cy="144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b="true" sz="799">
                <a:solidFill>
                  <a:srgbClr val="7FA8BC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AVALIAÇÃO DE ACESSIBILIDADE WEB · WCAG 2.1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536126" y="6495774"/>
            <a:ext cx="1188282" cy="144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b="true" sz="799">
                <a:solidFill>
                  <a:srgbClr val="7FA8BC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IFAL · CAMPUS MACEIÓ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857320" y="6473447"/>
            <a:ext cx="58103" cy="132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sz="799">
                <a:solidFill>
                  <a:srgbClr val="7FA8BC"/>
                </a:solidFill>
                <a:latin typeface="Noto Sans"/>
                <a:ea typeface="Noto Sans"/>
                <a:cs typeface="Noto Sans"/>
                <a:sym typeface="Noto Sans"/>
              </a:rPr>
              <a:t>9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66633" y="455400"/>
            <a:ext cx="838505" cy="161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1"/>
              </a:lnSpc>
            </a:pPr>
            <a:r>
              <a:rPr lang="en-US" b="true" sz="901" spc="118">
                <a:solidFill>
                  <a:srgbClr val="4DD3E6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07 · MOBILE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66633" y="1038215"/>
            <a:ext cx="8581787" cy="498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b="true" sz="2800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No celular, o problema aparece de dois jeitos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611837" y="2080441"/>
            <a:ext cx="35328" cy="174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8"/>
              </a:lnSpc>
            </a:pPr>
            <a:r>
              <a:rPr lang="en-US" b="true" sz="1048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943248" y="1987067"/>
            <a:ext cx="296066" cy="362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1"/>
              </a:lnSpc>
            </a:pPr>
            <a:r>
              <a:rPr lang="en-US" b="true" sz="2001">
                <a:solidFill>
                  <a:srgbClr val="F5C85B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23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943248" y="3066002"/>
            <a:ext cx="148295" cy="362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1"/>
              </a:lnSpc>
            </a:pPr>
            <a:r>
              <a:rPr lang="en-US" b="true" sz="2001">
                <a:solidFill>
                  <a:srgbClr val="FF6B6B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3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765406" y="4144918"/>
            <a:ext cx="740416" cy="362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1"/>
              </a:lnSpc>
            </a:pPr>
            <a:r>
              <a:rPr lang="en-US" b="true" sz="2001">
                <a:solidFill>
                  <a:srgbClr val="FF6B6B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1,66:1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943600" y="5224196"/>
            <a:ext cx="1039073" cy="362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1"/>
              </a:lnSpc>
            </a:pPr>
            <a:r>
              <a:rPr lang="en-US" b="true" sz="2001" spc="2">
                <a:solidFill>
                  <a:srgbClr val="8DE8F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412×915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269128" y="2080441"/>
            <a:ext cx="1554480" cy="17475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l">
              <a:lnSpc>
                <a:spcPts val="1468"/>
              </a:lnSpc>
            </a:pPr>
            <a:r>
              <a:rPr lang="en-US" b="true" sz="1048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de 58 alvos &lt; 24×24 px</a:t>
            </a:r>
            <a:r>
              <a:rPr lang="en-US" b="true" sz="1048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/>
            </a:r>
            <a:r>
              <a:rPr lang="en-US" b="true" sz="1048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/>
            </a:r>
            <a:r>
              <a:rPr lang="en-US" b="true" sz="1048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/>
            </a:r>
            <a:r>
              <a:rPr lang="en-US" b="true" sz="1048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/>
            </a:r>
            <a:r>
              <a:rPr lang="en-US" b="true" sz="1048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/>
            </a:r>
            <a:r>
              <a:rPr lang="en-US" b="true" sz="1048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/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269128" y="4238644"/>
            <a:ext cx="2103120" cy="174755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1468"/>
              </a:lnSpc>
            </a:pPr>
            <a:r>
              <a:rPr lang="en-US" b="true" sz="1048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pior razão, medida por amostragem de pixels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269128" y="3159728"/>
            <a:ext cx="1737941" cy="361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8"/>
              </a:lnSpc>
            </a:pPr>
            <a:r>
              <a:rPr lang="en-US" b="true" sz="1048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reprovações confirmadas por amostragem de pixels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269480" y="5317569"/>
            <a:ext cx="1900971" cy="174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8"/>
              </a:lnSpc>
            </a:pPr>
            <a:r>
              <a:rPr lang="en-US" b="true" sz="1048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viewport do Pixel 7 emulado</a:t>
            </a:r>
          </a:p>
        </p:txBody>
      </p:sp>
      <p:sp>
        <p:nvSpPr>
          <p:cNvPr name="TextBox 13" id="28"/>
          <p:cNvSpPr txBox="true"/>
          <p:nvPr/>
        </p:nvSpPr>
        <p:spPr>
          <a:xfrm rot="0">
            <a:off x="941832" y="2103120"/>
            <a:ext cx="3291840" cy="161058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l">
              <a:lnSpc>
                <a:spcPts val="1261"/>
              </a:lnSpc>
            </a:pPr>
            <a:r>
              <a:rPr lang="en-US" b="true" sz="901" spc="118">
                <a:solidFill>
                  <a:srgbClr val="4DD3E6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TAREFA COMPLEMENTAR · TALKBACK</a:t>
            </a:r>
          </a:p>
        </p:txBody>
      </p:sp>
      <p:sp>
        <p:nvSpPr>
          <p:cNvPr name="TextBox 22" id="29"/>
          <p:cNvSpPr txBox="true"/>
          <p:nvPr/>
        </p:nvSpPr>
        <p:spPr>
          <a:xfrm rot="0">
            <a:off x="941832" y="2542032"/>
            <a:ext cx="2926080" cy="362922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l">
              <a:lnSpc>
                <a:spcPts val="2801"/>
              </a:lnSpc>
            </a:pPr>
            <a:r>
              <a:rPr lang="en-US" b="true" sz="2001">
                <a:solidFill>
                  <a:srgbClr val="FF6B6B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10 min 16 s</a:t>
            </a:r>
          </a:p>
        </p:txBody>
      </p:sp>
      <p:sp>
        <p:nvSpPr>
          <p:cNvPr name="TextBox 25" id="30"/>
          <p:cNvSpPr txBox="true"/>
          <p:nvPr/>
        </p:nvSpPr>
        <p:spPr>
          <a:xfrm rot="0">
            <a:off x="941832" y="3127248"/>
            <a:ext cx="4023360" cy="174755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1468"/>
              </a:lnSpc>
            </a:pPr>
            <a:r>
              <a:rPr lang="en-US" b="true" sz="1048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para chegar ao primeiro edital aberto do campus, na 2ª tentativa</a:t>
            </a:r>
          </a:p>
        </p:txBody>
      </p:sp>
      <p:sp>
        <p:nvSpPr>
          <p:cNvPr name="TextBox 25" id="31"/>
          <p:cNvSpPr txBox="true"/>
          <p:nvPr/>
        </p:nvSpPr>
        <p:spPr>
          <a:xfrm rot="0">
            <a:off x="941832" y="3749039"/>
            <a:ext cx="4023360" cy="174755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1468"/>
              </a:lnSpc>
            </a:pPr>
            <a:r>
              <a:rPr lang="en-US" b="true" sz="1048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1ª tentativa abandonada aos 12 min 4 s</a:t>
            </a:r>
          </a:p>
        </p:txBody>
      </p:sp>
      <p:sp>
        <p:nvSpPr>
          <p:cNvPr name="TextBox 25" id="32"/>
          <p:cNvSpPr txBox="true"/>
          <p:nvPr/>
        </p:nvSpPr>
        <p:spPr>
          <a:xfrm rot="0">
            <a:off x="941832" y="4114800"/>
            <a:ext cx="4023360" cy="174755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1468"/>
              </a:lnSpc>
            </a:pPr>
            <a:r>
              <a:rPr lang="en-US" b="true" sz="1048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Samsung Galaxy A15 5G · Android 16 · TalkBack</a:t>
            </a:r>
          </a:p>
        </p:txBody>
      </p:sp>
      <p:sp>
        <p:nvSpPr>
          <p:cNvPr name="TextBox 25" id="33"/>
          <p:cNvSpPr txBox="true"/>
          <p:nvPr/>
        </p:nvSpPr>
        <p:spPr>
          <a:xfrm rot="0">
            <a:off x="941832" y="4846320"/>
            <a:ext cx="4023360" cy="174755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1468"/>
              </a:lnSpc>
            </a:pPr>
            <a:r>
              <a:rPr lang="en-US" b="0" sz="900">
                <a:solidFill>
                  <a:srgbClr val="A9C1C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O que é do portal: a quantidade de elementos a percorrer até o edital e a sequência de leitura pouco coerente com a organização visual — critérios 1.3.2 e 2.4.3.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94798" y="1674790"/>
            <a:ext cx="5476170" cy="4567904"/>
          </a:xfrm>
          <a:custGeom>
            <a:avLst/>
            <a:gdLst/>
            <a:ahLst/>
            <a:cxnLst/>
            <a:rect r="r" b="b" t="t" l="l"/>
            <a:pathLst>
              <a:path h="4567904" w="5476170">
                <a:moveTo>
                  <a:pt x="0" y="0"/>
                </a:moveTo>
                <a:lnTo>
                  <a:pt x="5476170" y="0"/>
                </a:lnTo>
                <a:lnTo>
                  <a:pt x="5476170" y="4567905"/>
                </a:lnTo>
                <a:lnTo>
                  <a:pt x="0" y="45679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8413" y="-66523"/>
            <a:ext cx="12247712" cy="242735"/>
          </a:xfrm>
          <a:custGeom>
            <a:avLst/>
            <a:gdLst/>
            <a:ahLst/>
            <a:cxnLst/>
            <a:rect r="r" b="b" t="t" l="l"/>
            <a:pathLst>
              <a:path h="242735" w="12247712">
                <a:moveTo>
                  <a:pt x="0" y="0"/>
                </a:moveTo>
                <a:lnTo>
                  <a:pt x="12247712" y="0"/>
                </a:lnTo>
                <a:lnTo>
                  <a:pt x="12247712" y="242735"/>
                </a:lnTo>
                <a:lnTo>
                  <a:pt x="0" y="2427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228798" y="1673362"/>
            <a:ext cx="5327485" cy="4570771"/>
          </a:xfrm>
          <a:custGeom>
            <a:avLst/>
            <a:gdLst/>
            <a:ahLst/>
            <a:cxnLst/>
            <a:rect r="r" b="b" t="t" l="l"/>
            <a:pathLst>
              <a:path h="4570771" w="5327485">
                <a:moveTo>
                  <a:pt x="0" y="0"/>
                </a:moveTo>
                <a:lnTo>
                  <a:pt x="5327484" y="0"/>
                </a:lnTo>
                <a:lnTo>
                  <a:pt x="5327484" y="4570771"/>
                </a:lnTo>
                <a:lnTo>
                  <a:pt x="0" y="457077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02196" y="6495774"/>
            <a:ext cx="2444086" cy="144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b="true" sz="799">
                <a:solidFill>
                  <a:srgbClr val="7FA8BC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AVALIAÇÃO DE ACESSIBILIDADE WEB · WCAG 2.1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536126" y="6495774"/>
            <a:ext cx="1188282" cy="144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b="true" sz="799">
                <a:solidFill>
                  <a:srgbClr val="7FA8BC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IFAL · CAMPUS MACEIÓ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885762" y="6473447"/>
            <a:ext cx="116205" cy="132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sz="799">
                <a:solidFill>
                  <a:srgbClr val="7FA8BC"/>
                </a:solidFill>
                <a:latin typeface="Noto Sans"/>
                <a:ea typeface="Noto Sans"/>
                <a:cs typeface="Noto Sans"/>
                <a:sym typeface="Noto Sans"/>
              </a:rPr>
              <a:t>10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24080" y="2107797"/>
            <a:ext cx="485870" cy="161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1"/>
              </a:lnSpc>
            </a:pPr>
            <a:r>
              <a:rPr lang="en-US" b="true" sz="901">
                <a:solidFill>
                  <a:srgbClr val="8DE8F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VLIBRAS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991921" y="2107797"/>
            <a:ext cx="902141" cy="161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1"/>
              </a:lnSpc>
            </a:pPr>
            <a:r>
              <a:rPr lang="en-US" b="true" sz="901">
                <a:solidFill>
                  <a:srgbClr val="8DE8F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LEITOR DE TELA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66633" y="455400"/>
            <a:ext cx="1962160" cy="161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1"/>
              </a:lnSpc>
            </a:pPr>
            <a:r>
              <a:rPr lang="en-US" b="true" sz="901" spc="112">
                <a:solidFill>
                  <a:srgbClr val="4DD3E6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08 · TECNOLOGIA ASSISTIVA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66633" y="1038215"/>
            <a:ext cx="6278070" cy="498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b="true" sz="2800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O que a avaliação manual revelou?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50757" y="2618375"/>
            <a:ext cx="3276181" cy="296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1"/>
              </a:lnSpc>
            </a:pPr>
            <a:r>
              <a:rPr lang="en-US" b="true" sz="1700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Presente em todas as páginas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50757" y="3390433"/>
            <a:ext cx="4412523" cy="476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38"/>
              </a:lnSpc>
            </a:pPr>
            <a:r>
              <a:rPr lang="en-US" sz="1029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O tradutor de Libras é injetado por barra.brasil.gov.br, não aparece no HTML entregue pelo servidor e passou fora de todas as frentes automatizadas.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50757" y="4655020"/>
            <a:ext cx="1125207" cy="186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b="true" sz="1000">
                <a:solidFill>
                  <a:srgbClr val="F5C85B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Ponto de atenção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148840" y="4658868"/>
            <a:ext cx="2995498" cy="296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8"/>
              </a:lnSpc>
            </a:pPr>
            <a:r>
              <a:rPr lang="en-US" sz="929">
                <a:solidFill>
                  <a:srgbClr val="F7FBFD"/>
                </a:solidFill>
                <a:latin typeface="Noto Sans"/>
                <a:ea typeface="Noto Sans"/>
                <a:cs typeface="Noto Sans"/>
                <a:sym typeface="Noto Sans"/>
              </a:rPr>
              <a:t>A página de Acessibilidade do portal não menciona a presença do recurso.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583328" y="2597582"/>
            <a:ext cx="3265265" cy="255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b="true" sz="1499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Sequência de anúncios observada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90257" y="3275086"/>
            <a:ext cx="318211" cy="148114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l">
              <a:lnSpc>
                <a:spcPts val="1146"/>
              </a:lnSpc>
            </a:pPr>
            <a:r>
              <a:rPr lang="en-US" sz="819">
                <a:solidFill>
                  <a:srgbClr val="8DE8F4"/>
                </a:solidFill>
                <a:latin typeface="Noto Sans"/>
                <a:ea typeface="Noto Sans"/>
                <a:cs typeface="Noto Sans"/>
                <a:sym typeface="Noto Sans"/>
              </a:rPr>
              <a:t>1. lista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892747" y="4555246"/>
            <a:ext cx="720547" cy="148114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l">
              <a:lnSpc>
                <a:spcPts val="1146"/>
              </a:lnSpc>
            </a:pPr>
            <a:r>
              <a:rPr lang="en-US" sz="819">
                <a:solidFill>
                  <a:srgbClr val="8DE8F4"/>
                </a:solidFill>
                <a:latin typeface="Noto Sans"/>
                <a:ea typeface="Noto Sans"/>
                <a:cs typeface="Noto Sans"/>
                <a:sym typeface="Noto Sans"/>
              </a:rPr>
              <a:t>7. item de lista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686092" y="3915166"/>
            <a:ext cx="1135684" cy="148114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l">
              <a:lnSpc>
                <a:spcPts val="1146"/>
              </a:lnSpc>
            </a:pPr>
            <a:r>
              <a:rPr lang="en-US" sz="819">
                <a:solidFill>
                  <a:srgbClr val="8DE8F4"/>
                </a:solidFill>
                <a:latin typeface="Noto Sans"/>
                <a:ea typeface="Noto Sans"/>
                <a:cs typeface="Noto Sans"/>
                <a:sym typeface="Noto Sans"/>
              </a:rPr>
              <a:t>4. cabeçalho da página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663025" y="3275086"/>
            <a:ext cx="318211" cy="148114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l">
              <a:lnSpc>
                <a:spcPts val="1146"/>
              </a:lnSpc>
            </a:pPr>
            <a:r>
              <a:rPr lang="en-US" sz="819">
                <a:solidFill>
                  <a:srgbClr val="8DE8F4"/>
                </a:solidFill>
                <a:latin typeface="Noto Sans"/>
                <a:ea typeface="Noto Sans"/>
                <a:cs typeface="Noto Sans"/>
                <a:sym typeface="Noto Sans"/>
              </a:rPr>
              <a:t>2. lista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465515" y="4555246"/>
            <a:ext cx="720547" cy="148114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l">
              <a:lnSpc>
                <a:spcPts val="1146"/>
              </a:lnSpc>
            </a:pPr>
            <a:r>
              <a:rPr lang="en-US" sz="819">
                <a:solidFill>
                  <a:srgbClr val="8DE8F4"/>
                </a:solidFill>
                <a:latin typeface="Noto Sans"/>
                <a:ea typeface="Noto Sans"/>
                <a:cs typeface="Noto Sans"/>
                <a:sym typeface="Noto Sans"/>
              </a:rPr>
              <a:t>8. item de lista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384133" y="3915166"/>
            <a:ext cx="888796" cy="148114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l">
              <a:lnSpc>
                <a:spcPts val="1146"/>
              </a:lnSpc>
            </a:pPr>
            <a:r>
              <a:rPr lang="en-US" sz="819">
                <a:solidFill>
                  <a:srgbClr val="8DE8F4"/>
                </a:solidFill>
                <a:latin typeface="Noto Sans"/>
                <a:ea typeface="Noto Sans"/>
                <a:cs typeface="Noto Sans"/>
                <a:sym typeface="Noto Sans"/>
              </a:rPr>
              <a:t>5. região principal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903866" y="3915166"/>
            <a:ext cx="989380" cy="148114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l">
              <a:lnSpc>
                <a:spcPts val="1146"/>
              </a:lnSpc>
            </a:pPr>
            <a:r>
              <a:rPr lang="en-US" sz="819">
                <a:solidFill>
                  <a:srgbClr val="8DE8F4"/>
                </a:solidFill>
                <a:latin typeface="Noto Sans"/>
                <a:ea typeface="Noto Sans"/>
                <a:cs typeface="Noto Sans"/>
                <a:sym typeface="Noto Sans"/>
              </a:rPr>
              <a:t>6. rodapé da página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038283" y="4555246"/>
            <a:ext cx="720547" cy="148114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l">
              <a:lnSpc>
                <a:spcPts val="1146"/>
              </a:lnSpc>
            </a:pPr>
            <a:r>
              <a:rPr lang="en-US" sz="819">
                <a:solidFill>
                  <a:srgbClr val="8DE8F4"/>
                </a:solidFill>
                <a:latin typeface="Noto Sans"/>
                <a:ea typeface="Noto Sans"/>
                <a:cs typeface="Noto Sans"/>
                <a:sym typeface="Noto Sans"/>
              </a:rPr>
              <a:t>9. item de lista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243108" y="3275086"/>
            <a:ext cx="318211" cy="148114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l">
              <a:lnSpc>
                <a:spcPts val="1146"/>
              </a:lnSpc>
            </a:pPr>
            <a:r>
              <a:rPr lang="en-US" sz="819">
                <a:solidFill>
                  <a:srgbClr val="8DE8F4"/>
                </a:solidFill>
                <a:latin typeface="Noto Sans"/>
                <a:ea typeface="Noto Sans"/>
                <a:cs typeface="Noto Sans"/>
                <a:sym typeface="Noto Sans"/>
              </a:rPr>
              <a:t>3. lista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8413" y="-66523"/>
            <a:ext cx="12247712" cy="242735"/>
          </a:xfrm>
          <a:custGeom>
            <a:avLst/>
            <a:gdLst/>
            <a:ahLst/>
            <a:cxnLst/>
            <a:rect r="r" b="b" t="t" l="l"/>
            <a:pathLst>
              <a:path h="242735" w="12247712">
                <a:moveTo>
                  <a:pt x="0" y="0"/>
                </a:moveTo>
                <a:lnTo>
                  <a:pt x="12247712" y="0"/>
                </a:lnTo>
                <a:lnTo>
                  <a:pt x="12247712" y="242735"/>
                </a:lnTo>
                <a:lnTo>
                  <a:pt x="0" y="2427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94417" y="1722301"/>
            <a:ext cx="10962951" cy="4866713"/>
          </a:xfrm>
          <a:custGeom>
            <a:avLst/>
            <a:gdLst/>
            <a:ahLst/>
            <a:cxnLst/>
            <a:rect r="r" b="b" t="t" l="l"/>
            <a:pathLst>
              <a:path h="4866713" w="10962951">
                <a:moveTo>
                  <a:pt x="0" y="0"/>
                </a:moveTo>
                <a:lnTo>
                  <a:pt x="10962951" y="0"/>
                </a:lnTo>
                <a:lnTo>
                  <a:pt x="10962951" y="4866713"/>
                </a:lnTo>
                <a:lnTo>
                  <a:pt x="0" y="48667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02196" y="6495774"/>
            <a:ext cx="2444086" cy="144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b="true" sz="799">
                <a:solidFill>
                  <a:srgbClr val="7FA8BC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AVALIAÇÃO DE ACESSIBILIDADE WEB · WCAG 2.1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536126" y="6495774"/>
            <a:ext cx="1188282" cy="144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b="true" sz="799">
                <a:solidFill>
                  <a:srgbClr val="7FA8BC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IFAL · CAMPUS MACEIÓ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885762" y="6473447"/>
            <a:ext cx="116205" cy="132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sz="799">
                <a:solidFill>
                  <a:srgbClr val="7FA8BC"/>
                </a:solidFill>
                <a:latin typeface="Noto Sans"/>
                <a:ea typeface="Noto Sans"/>
                <a:cs typeface="Noto Sans"/>
                <a:sym typeface="Noto Sans"/>
              </a:rPr>
              <a:t>11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69264" y="3063240"/>
            <a:ext cx="548640" cy="243078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l">
              <a:lnSpc>
                <a:spcPts val="1821"/>
              </a:lnSpc>
            </a:pPr>
            <a:r>
              <a:rPr lang="en-US" b="true" sz="1301">
                <a:solidFill>
                  <a:srgbClr val="FF6B6B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1.3.1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69264" y="4142232"/>
            <a:ext cx="548640" cy="243078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l">
              <a:lnSpc>
                <a:spcPts val="1821"/>
              </a:lnSpc>
            </a:pPr>
            <a:r>
              <a:rPr lang="en-US" b="true" sz="1301">
                <a:solidFill>
                  <a:srgbClr val="FF6B6B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1.4.1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28677" y="2162518"/>
            <a:ext cx="456790" cy="161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1"/>
              </a:lnSpc>
            </a:pPr>
            <a:r>
              <a:rPr lang="en-US" b="true" sz="901">
                <a:solidFill>
                  <a:srgbClr val="FF6B6B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NÍVEL 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085007" y="6295682"/>
            <a:ext cx="2078574" cy="161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1"/>
              </a:lnSpc>
            </a:pPr>
            <a:r>
              <a:rPr lang="en-US" b="true" sz="901">
                <a:solidFill>
                  <a:srgbClr val="FF6B6B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RESULTADO: NÃO ATINGE O NÍVEL 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794640" y="2162518"/>
            <a:ext cx="537943" cy="161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1"/>
              </a:lnSpc>
            </a:pPr>
            <a:r>
              <a:rPr lang="en-US" b="true" sz="901">
                <a:solidFill>
                  <a:srgbClr val="F5C85B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NÍVEL AA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66280" y="455400"/>
            <a:ext cx="1431798" cy="161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1"/>
              </a:lnSpc>
            </a:pPr>
            <a:r>
              <a:rPr lang="en-US" b="true" sz="901" spc="112">
                <a:solidFill>
                  <a:srgbClr val="4DD3E6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09 · CONFORMIDADE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66280" y="1038215"/>
            <a:ext cx="7120109" cy="498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b="true" sz="2800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O nível de conformidade não é atingido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50757" y="2634310"/>
            <a:ext cx="1774041" cy="255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b="true" sz="1499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Falhas registradas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072640" y="3111370"/>
            <a:ext cx="49654" cy="358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11"/>
              </a:lnSpc>
            </a:pPr>
            <a:r>
              <a:rPr lang="en-US" b="true" sz="1150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</a:p>
          <a:p>
            <a:pPr algn="l">
              <a:lnSpc>
                <a:spcPts val="1289"/>
              </a:lnSpc>
            </a:pPr>
            <a:r>
              <a:rPr lang="en-US" sz="921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555953" y="2634310"/>
            <a:ext cx="2744876" cy="255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b="true" sz="1499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Principais falhas registradas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014678" y="3054467"/>
            <a:ext cx="29975" cy="159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46"/>
              </a:lnSpc>
            </a:pPr>
            <a:r>
              <a:rPr lang="en-US" b="true" sz="89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810512" y="3108960"/>
            <a:ext cx="2377440" cy="189842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l">
              <a:lnSpc>
                <a:spcPts val="1611"/>
              </a:lnSpc>
            </a:pPr>
            <a:r>
              <a:rPr lang="en-US" b="true" sz="1150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Informações e relações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810512" y="4187952"/>
            <a:ext cx="2377440" cy="200368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l">
              <a:lnSpc>
                <a:spcPts val="1611"/>
              </a:lnSpc>
            </a:pPr>
            <a:r>
              <a:rPr lang="en-US" b="true" sz="1150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Uso de cores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211295" y="4514250"/>
            <a:ext cx="31032" cy="164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89"/>
              </a:lnSpc>
            </a:pPr>
            <a:r>
              <a:rPr lang="en-US" sz="921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810512" y="4389120"/>
            <a:ext cx="3108960" cy="157574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l">
              <a:lnSpc>
                <a:spcPts val="1289"/>
              </a:lnSpc>
            </a:pPr>
            <a:r>
              <a:rPr lang="en-US" sz="921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Slide ativo diferenciado apenas pela cor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810512" y="3310128"/>
            <a:ext cx="3108960" cy="157574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l">
              <a:lnSpc>
                <a:spcPts val="1289"/>
              </a:lnSpc>
            </a:pPr>
            <a:r>
              <a:rPr lang="en-US" sz="921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Página de contato sem cabeçalho algum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461361" y="5212080"/>
            <a:ext cx="975236" cy="159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46"/>
              </a:lnSpc>
            </a:pPr>
            <a:r>
              <a:rPr lang="en-US" b="true" sz="890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Tamanho do alvo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461361" y="3054096"/>
            <a:ext cx="1036406" cy="159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46"/>
              </a:lnSpc>
            </a:pPr>
            <a:r>
              <a:rPr lang="en-US" b="true" sz="890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Contraste</a:t>
            </a:r>
            <a:r>
              <a:rPr lang="en-US" b="true" sz="89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-US" b="true" sz="890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mínimo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461361" y="4498848"/>
            <a:ext cx="1272035" cy="159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46"/>
              </a:lnSpc>
            </a:pPr>
            <a:r>
              <a:rPr lang="en-US" b="true" sz="890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Espaçamento de texto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461361" y="3776472"/>
            <a:ext cx="1251623" cy="159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46"/>
              </a:lnSpc>
            </a:pPr>
            <a:r>
              <a:rPr lang="en-US" b="true" sz="890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Contraste não textual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565392" y="5715000"/>
            <a:ext cx="4297680" cy="132331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1091"/>
              </a:lnSpc>
            </a:pPr>
            <a:r>
              <a:rPr lang="en-US" sz="779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O critério 2.5.8 pertence à WCAG 2.2 e entra como complemento — o enunciado admite "2.1 ou mais recentes". Na 2.1 o equivalente é o 2.5.5, de Nível AAA, também não cumprido.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189368" y="5266820"/>
            <a:ext cx="1737360" cy="132331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1091"/>
              </a:lnSpc>
            </a:pPr>
            <a:r>
              <a:rPr lang="en-US" sz="779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23 de 58 alvos &lt; 24×24 px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188996" y="3067402"/>
            <a:ext cx="1737360" cy="211905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841"/>
              </a:lnSpc>
            </a:pPr>
            <a:r>
              <a:rPr lang="en-US" sz="779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3 reprovações confirmadas; pior em 1,66:1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189368" y="4512154"/>
            <a:ext cx="1737360" cy="220199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841"/>
              </a:lnSpc>
            </a:pPr>
            <a:r>
              <a:rPr lang="en-US" sz="779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3 elementos cortados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188996" y="3831221"/>
            <a:ext cx="1737360" cy="132331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1091"/>
              </a:lnSpc>
            </a:pPr>
            <a:r>
              <a:rPr lang="en-US" sz="779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Foco em 1,56:1 sobre fundo branco</a:t>
            </a:r>
          </a:p>
        </p:txBody>
      </p:sp>
      <p:sp>
        <p:nvSpPr>
          <p:cNvPr name="TextBox 7" id="34"/>
          <p:cNvSpPr txBox="true"/>
          <p:nvPr/>
        </p:nvSpPr>
        <p:spPr>
          <a:xfrm rot="0">
            <a:off x="969264" y="5221224"/>
            <a:ext cx="548640" cy="243078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l">
              <a:lnSpc>
                <a:spcPts val="1821"/>
              </a:lnSpc>
            </a:pPr>
            <a:r>
              <a:rPr lang="en-US" b="true" sz="1301">
                <a:solidFill>
                  <a:srgbClr val="FF6B6B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2.2.2</a:t>
            </a:r>
          </a:p>
        </p:txBody>
      </p:sp>
      <p:sp>
        <p:nvSpPr>
          <p:cNvPr name="TextBox 18" id="35"/>
          <p:cNvSpPr txBox="true"/>
          <p:nvPr/>
        </p:nvSpPr>
        <p:spPr>
          <a:xfrm rot="0">
            <a:off x="1810512" y="5266944"/>
            <a:ext cx="2377440" cy="189842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l">
              <a:lnSpc>
                <a:spcPts val="1611"/>
              </a:lnSpc>
            </a:pPr>
            <a:r>
              <a:rPr lang="en-US" b="true" sz="1150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Pausar, Parar, Ocultar</a:t>
            </a:r>
          </a:p>
        </p:txBody>
      </p:sp>
      <p:sp>
        <p:nvSpPr>
          <p:cNvPr name="TextBox 22" id="36"/>
          <p:cNvSpPr txBox="true"/>
          <p:nvPr/>
        </p:nvSpPr>
        <p:spPr>
          <a:xfrm rot="0">
            <a:off x="1810512" y="5468112"/>
            <a:ext cx="3108960" cy="157574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l">
              <a:lnSpc>
                <a:spcPts val="1289"/>
              </a:lnSpc>
            </a:pPr>
            <a:r>
              <a:rPr lang="en-US" sz="921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Banner avança a cada 4 s, sem pausa</a:t>
            </a:r>
          </a:p>
        </p:txBody>
      </p:sp>
      <p:sp>
        <p:nvSpPr>
          <p:cNvPr name="TextBox 23" id="37"/>
          <p:cNvSpPr txBox="true"/>
          <p:nvPr/>
        </p:nvSpPr>
        <p:spPr>
          <a:xfrm rot="0">
            <a:off x="6565392" y="2953512"/>
            <a:ext cx="1005840" cy="2559434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253"/>
              </a:lnSpc>
            </a:pPr>
            <a:r>
              <a:rPr lang="en-US" b="true" sz="1609">
                <a:solidFill>
                  <a:srgbClr val="F5C85B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1.4.3</a:t>
            </a:r>
          </a:p>
        </p:txBody>
      </p:sp>
      <p:sp>
        <p:nvSpPr>
          <p:cNvPr name="TextBox 23" id="38"/>
          <p:cNvSpPr txBox="true"/>
          <p:nvPr/>
        </p:nvSpPr>
        <p:spPr>
          <a:xfrm rot="0">
            <a:off x="6565392" y="3675887"/>
            <a:ext cx="1005840" cy="2559434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253"/>
              </a:lnSpc>
            </a:pPr>
            <a:r>
              <a:rPr lang="en-US" b="true" sz="1609">
                <a:solidFill>
                  <a:srgbClr val="F5C85B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1.4.11</a:t>
            </a:r>
          </a:p>
        </p:txBody>
      </p:sp>
      <p:sp>
        <p:nvSpPr>
          <p:cNvPr name="TextBox 23" id="39"/>
          <p:cNvSpPr txBox="true"/>
          <p:nvPr/>
        </p:nvSpPr>
        <p:spPr>
          <a:xfrm rot="0">
            <a:off x="6565392" y="4398264"/>
            <a:ext cx="1005840" cy="2559434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253"/>
              </a:lnSpc>
            </a:pPr>
            <a:r>
              <a:rPr lang="en-US" b="true" sz="1609">
                <a:solidFill>
                  <a:srgbClr val="F5C85B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1.4.12</a:t>
            </a:r>
          </a:p>
        </p:txBody>
      </p:sp>
      <p:sp>
        <p:nvSpPr>
          <p:cNvPr name="TextBox 23" id="40"/>
          <p:cNvSpPr txBox="true"/>
          <p:nvPr/>
        </p:nvSpPr>
        <p:spPr>
          <a:xfrm rot="0">
            <a:off x="6565392" y="5111496"/>
            <a:ext cx="1005840" cy="2559434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253"/>
              </a:lnSpc>
            </a:pPr>
            <a:r>
              <a:rPr lang="en-US" b="true" sz="1609">
                <a:solidFill>
                  <a:srgbClr val="F5C85B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2.5.8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30431" y="1719434"/>
            <a:ext cx="5339382" cy="949176"/>
          </a:xfrm>
          <a:custGeom>
            <a:avLst/>
            <a:gdLst/>
            <a:ahLst/>
            <a:cxnLst/>
            <a:rect r="r" b="b" t="t" l="l"/>
            <a:pathLst>
              <a:path h="949176" w="5339382">
                <a:moveTo>
                  <a:pt x="0" y="0"/>
                </a:moveTo>
                <a:lnTo>
                  <a:pt x="5339382" y="0"/>
                </a:lnTo>
                <a:lnTo>
                  <a:pt x="5339382" y="949176"/>
                </a:lnTo>
                <a:lnTo>
                  <a:pt x="0" y="9491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30431" y="2706910"/>
            <a:ext cx="5339382" cy="949176"/>
          </a:xfrm>
          <a:custGeom>
            <a:avLst/>
            <a:gdLst/>
            <a:ahLst/>
            <a:cxnLst/>
            <a:rect r="r" b="b" t="t" l="l"/>
            <a:pathLst>
              <a:path h="949176" w="5339382">
                <a:moveTo>
                  <a:pt x="0" y="0"/>
                </a:moveTo>
                <a:lnTo>
                  <a:pt x="5339382" y="0"/>
                </a:lnTo>
                <a:lnTo>
                  <a:pt x="5339382" y="949176"/>
                </a:lnTo>
                <a:lnTo>
                  <a:pt x="0" y="94917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30431" y="3694395"/>
            <a:ext cx="5339382" cy="949176"/>
          </a:xfrm>
          <a:custGeom>
            <a:avLst/>
            <a:gdLst/>
            <a:ahLst/>
            <a:cxnLst/>
            <a:rect r="r" b="b" t="t" l="l"/>
            <a:pathLst>
              <a:path h="949176" w="5339382">
                <a:moveTo>
                  <a:pt x="0" y="0"/>
                </a:moveTo>
                <a:lnTo>
                  <a:pt x="5339382" y="0"/>
                </a:lnTo>
                <a:lnTo>
                  <a:pt x="5339382" y="949176"/>
                </a:lnTo>
                <a:lnTo>
                  <a:pt x="0" y="94917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30431" y="4682223"/>
            <a:ext cx="5339382" cy="949176"/>
          </a:xfrm>
          <a:custGeom>
            <a:avLst/>
            <a:gdLst/>
            <a:ahLst/>
            <a:cxnLst/>
            <a:rect r="r" b="b" t="t" l="l"/>
            <a:pathLst>
              <a:path h="949176" w="5339382">
                <a:moveTo>
                  <a:pt x="0" y="0"/>
                </a:moveTo>
                <a:lnTo>
                  <a:pt x="5339382" y="0"/>
                </a:lnTo>
                <a:lnTo>
                  <a:pt x="5339382" y="949176"/>
                </a:lnTo>
                <a:lnTo>
                  <a:pt x="0" y="94917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28413" y="-66523"/>
            <a:ext cx="12247712" cy="242735"/>
          </a:xfrm>
          <a:custGeom>
            <a:avLst/>
            <a:gdLst/>
            <a:ahLst/>
            <a:cxnLst/>
            <a:rect r="r" b="b" t="t" l="l"/>
            <a:pathLst>
              <a:path h="242735" w="12247712">
                <a:moveTo>
                  <a:pt x="0" y="0"/>
                </a:moveTo>
                <a:lnTo>
                  <a:pt x="12247712" y="0"/>
                </a:lnTo>
                <a:lnTo>
                  <a:pt x="12247712" y="242735"/>
                </a:lnTo>
                <a:lnTo>
                  <a:pt x="0" y="24273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263354" y="1719434"/>
            <a:ext cx="5339382" cy="949176"/>
          </a:xfrm>
          <a:custGeom>
            <a:avLst/>
            <a:gdLst/>
            <a:ahLst/>
            <a:cxnLst/>
            <a:rect r="r" b="b" t="t" l="l"/>
            <a:pathLst>
              <a:path h="949176" w="5339382">
                <a:moveTo>
                  <a:pt x="0" y="0"/>
                </a:moveTo>
                <a:lnTo>
                  <a:pt x="5339382" y="0"/>
                </a:lnTo>
                <a:lnTo>
                  <a:pt x="5339382" y="949176"/>
                </a:lnTo>
                <a:lnTo>
                  <a:pt x="0" y="94917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263354" y="2706910"/>
            <a:ext cx="5339382" cy="949176"/>
          </a:xfrm>
          <a:custGeom>
            <a:avLst/>
            <a:gdLst/>
            <a:ahLst/>
            <a:cxnLst/>
            <a:rect r="r" b="b" t="t" l="l"/>
            <a:pathLst>
              <a:path h="949176" w="5339382">
                <a:moveTo>
                  <a:pt x="0" y="0"/>
                </a:moveTo>
                <a:lnTo>
                  <a:pt x="5339382" y="0"/>
                </a:lnTo>
                <a:lnTo>
                  <a:pt x="5339382" y="949176"/>
                </a:lnTo>
                <a:lnTo>
                  <a:pt x="0" y="94917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263354" y="3694395"/>
            <a:ext cx="5339382" cy="949176"/>
          </a:xfrm>
          <a:custGeom>
            <a:avLst/>
            <a:gdLst/>
            <a:ahLst/>
            <a:cxnLst/>
            <a:rect r="r" b="b" t="t" l="l"/>
            <a:pathLst>
              <a:path h="949176" w="5339382">
                <a:moveTo>
                  <a:pt x="0" y="0"/>
                </a:moveTo>
                <a:lnTo>
                  <a:pt x="5339382" y="0"/>
                </a:lnTo>
                <a:lnTo>
                  <a:pt x="5339382" y="949176"/>
                </a:lnTo>
                <a:lnTo>
                  <a:pt x="0" y="949176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263354" y="4682223"/>
            <a:ext cx="5339382" cy="949176"/>
          </a:xfrm>
          <a:custGeom>
            <a:avLst/>
            <a:gdLst/>
            <a:ahLst/>
            <a:cxnLst/>
            <a:rect r="r" b="b" t="t" l="l"/>
            <a:pathLst>
              <a:path h="949176" w="5339382">
                <a:moveTo>
                  <a:pt x="0" y="0"/>
                </a:moveTo>
                <a:lnTo>
                  <a:pt x="5339382" y="0"/>
                </a:lnTo>
                <a:lnTo>
                  <a:pt x="5339382" y="949176"/>
                </a:lnTo>
                <a:lnTo>
                  <a:pt x="0" y="949176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502196" y="6495774"/>
            <a:ext cx="2444086" cy="144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b="true" sz="799">
                <a:solidFill>
                  <a:srgbClr val="7FA8BC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AVALIAÇÃO DE ACESSIBILIDADE WEB · WCAG 2.1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536126" y="6495774"/>
            <a:ext cx="1188282" cy="144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b="true" sz="799">
                <a:solidFill>
                  <a:srgbClr val="7FA8BC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IFAL · CAMPUS MACEIÓ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885762" y="6473447"/>
            <a:ext cx="116205" cy="132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sz="799">
                <a:solidFill>
                  <a:srgbClr val="7FA8BC"/>
                </a:solidFill>
                <a:latin typeface="Noto Sans"/>
                <a:ea typeface="Noto Sans"/>
                <a:cs typeface="Noto Sans"/>
                <a:sym typeface="Noto Sans"/>
              </a:rPr>
              <a:t>12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68194" y="4000681"/>
            <a:ext cx="282807" cy="161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1"/>
              </a:lnSpc>
            </a:pPr>
            <a:r>
              <a:rPr lang="en-US" b="true" sz="901">
                <a:solidFill>
                  <a:srgbClr val="FFA85A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ALTA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68194" y="4988157"/>
            <a:ext cx="282807" cy="161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1"/>
              </a:lnSpc>
            </a:pPr>
            <a:r>
              <a:rPr lang="en-US" b="true" sz="901">
                <a:solidFill>
                  <a:srgbClr val="FFA85A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ALTA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79287" y="2025358"/>
            <a:ext cx="463220" cy="161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1"/>
              </a:lnSpc>
            </a:pPr>
            <a:r>
              <a:rPr lang="en-US" b="true" sz="901">
                <a:solidFill>
                  <a:srgbClr val="FF6B6B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CRÍTICA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79287" y="3013205"/>
            <a:ext cx="463220" cy="161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1"/>
              </a:lnSpc>
            </a:pPr>
            <a:r>
              <a:rPr lang="en-US" b="true" sz="901">
                <a:solidFill>
                  <a:srgbClr val="FF6B6B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CRÍTICA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800764" y="2025358"/>
            <a:ext cx="282807" cy="161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1"/>
              </a:lnSpc>
            </a:pPr>
            <a:r>
              <a:rPr lang="en-US" b="true" sz="901">
                <a:solidFill>
                  <a:srgbClr val="FFA85A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ALTA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749996" y="4000681"/>
            <a:ext cx="386963" cy="161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1"/>
              </a:lnSpc>
            </a:pPr>
            <a:r>
              <a:rPr lang="en-US" b="true" sz="901">
                <a:solidFill>
                  <a:srgbClr val="F5C85B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MÉDIA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749996" y="4988157"/>
            <a:ext cx="386963" cy="161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1"/>
              </a:lnSpc>
            </a:pPr>
            <a:r>
              <a:rPr lang="en-US" b="true" sz="901">
                <a:solidFill>
                  <a:srgbClr val="F5C85B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MÉDIA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66633" y="455400"/>
            <a:ext cx="667674" cy="161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1"/>
              </a:lnSpc>
            </a:pPr>
            <a:r>
              <a:rPr lang="en-US" b="true" sz="901" spc="107">
                <a:solidFill>
                  <a:srgbClr val="4DD3E6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10 · AÇÃO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66633" y="1038215"/>
            <a:ext cx="5043868" cy="498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b="true" sz="2800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Recomendações priorizadas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380307" y="1961712"/>
            <a:ext cx="34366" cy="189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28"/>
              </a:lnSpc>
            </a:pPr>
            <a:r>
              <a:rPr lang="en-US" b="true" sz="1020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910877" y="1961712"/>
            <a:ext cx="1998926" cy="189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28"/>
              </a:lnSpc>
            </a:pPr>
            <a:r>
              <a:rPr lang="en-US" b="true" sz="1020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Banner</a:t>
            </a:r>
            <a:r>
              <a:rPr lang="en-US" b="true" sz="102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-US" b="true" sz="1020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sem</a:t>
            </a:r>
            <a:r>
              <a:rPr lang="en-US" b="true" sz="102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-US" b="true" sz="1020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controle</a:t>
            </a:r>
            <a:r>
              <a:rPr lang="en-US" b="true" sz="102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-US" b="true" sz="1020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de</a:t>
            </a:r>
            <a:r>
              <a:rPr lang="en-US" b="true" sz="102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-US" b="true" sz="1020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pausa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136581" y="2270722"/>
            <a:ext cx="26641" cy="143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7"/>
              </a:lnSpc>
            </a:pPr>
            <a:r>
              <a:rPr lang="en-US" sz="790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910877" y="4924873"/>
            <a:ext cx="2030387" cy="3245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28"/>
              </a:lnSpc>
            </a:pPr>
            <a:r>
              <a:rPr lang="en-US" b="true" sz="1020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Homepage e contato sem &lt;h1&gt;</a:t>
            </a:r>
          </a:p>
          <a:p>
            <a:pPr algn="l">
              <a:lnSpc>
                <a:spcPts val="1107"/>
              </a:lnSpc>
            </a:pPr>
            <a:r>
              <a:rPr lang="en-US" sz="790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1.3.1 / 2.4.6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910877" y="2949197"/>
            <a:ext cx="2247452" cy="189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28"/>
              </a:lnSpc>
            </a:pPr>
            <a:r>
              <a:rPr lang="en-US" b="true" sz="1020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Slide ativo identificado só pela cor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136581" y="3258198"/>
            <a:ext cx="26641" cy="143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7"/>
              </a:lnSpc>
            </a:pPr>
            <a:r>
              <a:rPr lang="en-US" sz="790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910877" y="3936673"/>
            <a:ext cx="3088748" cy="189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28"/>
              </a:lnSpc>
            </a:pPr>
            <a:r>
              <a:rPr lang="en-US" b="true" sz="1020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Contraste insuficiente nos controles do banner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136581" y="4246045"/>
            <a:ext cx="26641" cy="143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7"/>
              </a:lnSpc>
            </a:pPr>
            <a:r>
              <a:rPr lang="en-US" sz="790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7543800" y="4924520"/>
            <a:ext cx="2187178" cy="189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28"/>
              </a:lnSpc>
            </a:pPr>
            <a:r>
              <a:rPr lang="en-US" b="true" sz="1020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Alvos de toque abaixo do mínimo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7769142" y="5233521"/>
            <a:ext cx="26641" cy="143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7"/>
              </a:lnSpc>
            </a:pPr>
            <a:r>
              <a:rPr lang="en-US" sz="790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7543448" y="1961712"/>
            <a:ext cx="2190217" cy="189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28"/>
              </a:lnSpc>
            </a:pPr>
            <a:r>
              <a:rPr lang="en-US" b="true" sz="1020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Ausência de região de navegação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7769142" y="2270722"/>
            <a:ext cx="26641" cy="143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7"/>
              </a:lnSpc>
            </a:pPr>
            <a:r>
              <a:rPr lang="en-US" sz="790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7543800" y="2949197"/>
            <a:ext cx="3291840" cy="189347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l">
              <a:lnSpc>
                <a:spcPts val="1428"/>
              </a:lnSpc>
            </a:pPr>
            <a:r>
              <a:rPr lang="en-US" b="true" sz="1020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Layout quebra com espaçamento de texto ampliado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7826693" y="3258198"/>
            <a:ext cx="26641" cy="143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7"/>
              </a:lnSpc>
            </a:pPr>
            <a:r>
              <a:rPr lang="en-US" sz="790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7543800" y="3936673"/>
            <a:ext cx="2631224" cy="189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28"/>
              </a:lnSpc>
            </a:pPr>
            <a:r>
              <a:rPr lang="en-US" b="true" sz="1020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Foco pouco perceptível no fundo branco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7826693" y="4245674"/>
            <a:ext cx="26641" cy="143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7"/>
              </a:lnSpc>
            </a:pPr>
            <a:r>
              <a:rPr lang="en-US" sz="790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910877" y="2270722"/>
            <a:ext cx="383581" cy="143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7"/>
              </a:lnSpc>
            </a:pPr>
            <a:r>
              <a:rPr lang="en-US" sz="790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2.2.2</a:t>
            </a:r>
            <a:r>
              <a:rPr lang="en-US" sz="79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790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(A)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910877" y="3258198"/>
            <a:ext cx="383581" cy="143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7"/>
              </a:lnSpc>
            </a:pPr>
            <a:r>
              <a:rPr lang="en-US" sz="790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1.4.1</a:t>
            </a:r>
            <a:r>
              <a:rPr lang="en-US" sz="79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790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(A)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910877" y="4246045"/>
            <a:ext cx="449056" cy="143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7"/>
              </a:lnSpc>
            </a:pPr>
            <a:r>
              <a:rPr lang="en-US" sz="790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1.4.3</a:t>
            </a:r>
            <a:r>
              <a:rPr lang="en-US" sz="79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790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(AA)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7543448" y="2270722"/>
            <a:ext cx="383581" cy="143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7"/>
              </a:lnSpc>
            </a:pPr>
            <a:r>
              <a:rPr lang="en-US" sz="790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1.3.1</a:t>
            </a:r>
            <a:r>
              <a:rPr lang="en-US" sz="79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790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(A)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7543448" y="5233521"/>
            <a:ext cx="449047" cy="143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7"/>
              </a:lnSpc>
            </a:pPr>
            <a:r>
              <a:rPr lang="en-US" sz="790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2.5.8</a:t>
            </a:r>
            <a:r>
              <a:rPr lang="en-US" sz="79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790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(AA)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7543448" y="3258198"/>
            <a:ext cx="508168" cy="143647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l">
              <a:lnSpc>
                <a:spcPts val="1107"/>
              </a:lnSpc>
            </a:pPr>
            <a:r>
              <a:rPr lang="en-US" sz="790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1.4.12 (AA)</a:t>
            </a:r>
            <a:r>
              <a:rPr lang="en-US" sz="79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/>
            </a:r>
            <a:r>
              <a:rPr lang="en-US" sz="790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/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7543448" y="4245674"/>
            <a:ext cx="508168" cy="143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7"/>
              </a:lnSpc>
            </a:pPr>
            <a:r>
              <a:rPr lang="en-US" sz="790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1.4.11</a:t>
            </a:r>
            <a:r>
              <a:rPr lang="en-US" sz="79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790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(AA)</a:t>
            </a:r>
          </a:p>
        </p:txBody>
      </p:sp>
      <p:sp>
        <p:nvSpPr>
          <p:cNvPr name="TextBox 20" id="47"/>
          <p:cNvSpPr txBox="true"/>
          <p:nvPr/>
        </p:nvSpPr>
        <p:spPr>
          <a:xfrm rot="0">
            <a:off x="6749996" y="3017520"/>
            <a:ext cx="386963" cy="161058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l">
              <a:lnSpc>
                <a:spcPts val="1261"/>
              </a:lnSpc>
            </a:pPr>
            <a:r>
              <a:rPr lang="en-US" b="true" sz="901">
                <a:solidFill>
                  <a:srgbClr val="F5C85B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MÉDIA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94446" y="1764811"/>
            <a:ext cx="2669238" cy="3190504"/>
          </a:xfrm>
          <a:custGeom>
            <a:avLst/>
            <a:gdLst/>
            <a:ahLst/>
            <a:cxnLst/>
            <a:rect r="r" b="b" t="t" l="l"/>
            <a:pathLst>
              <a:path h="3190504" w="2669238">
                <a:moveTo>
                  <a:pt x="0" y="0"/>
                </a:moveTo>
                <a:lnTo>
                  <a:pt x="2669238" y="0"/>
                </a:lnTo>
                <a:lnTo>
                  <a:pt x="2669238" y="3190504"/>
                </a:lnTo>
                <a:lnTo>
                  <a:pt x="0" y="31905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447450" y="1764811"/>
            <a:ext cx="2669219" cy="3190504"/>
          </a:xfrm>
          <a:custGeom>
            <a:avLst/>
            <a:gdLst/>
            <a:ahLst/>
            <a:cxnLst/>
            <a:rect r="r" b="b" t="t" l="l"/>
            <a:pathLst>
              <a:path h="3190504" w="2669219">
                <a:moveTo>
                  <a:pt x="0" y="0"/>
                </a:moveTo>
                <a:lnTo>
                  <a:pt x="2669219" y="0"/>
                </a:lnTo>
                <a:lnTo>
                  <a:pt x="2669219" y="3190504"/>
                </a:lnTo>
                <a:lnTo>
                  <a:pt x="0" y="31905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300083" y="1764811"/>
            <a:ext cx="2669238" cy="3190504"/>
          </a:xfrm>
          <a:custGeom>
            <a:avLst/>
            <a:gdLst/>
            <a:ahLst/>
            <a:cxnLst/>
            <a:rect r="r" b="b" t="t" l="l"/>
            <a:pathLst>
              <a:path h="3190504" w="2669238">
                <a:moveTo>
                  <a:pt x="0" y="0"/>
                </a:moveTo>
                <a:lnTo>
                  <a:pt x="2669238" y="0"/>
                </a:lnTo>
                <a:lnTo>
                  <a:pt x="2669238" y="3190504"/>
                </a:lnTo>
                <a:lnTo>
                  <a:pt x="0" y="319050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28413" y="-66523"/>
            <a:ext cx="12247712" cy="242735"/>
          </a:xfrm>
          <a:custGeom>
            <a:avLst/>
            <a:gdLst/>
            <a:ahLst/>
            <a:cxnLst/>
            <a:rect r="r" b="b" t="t" l="l"/>
            <a:pathLst>
              <a:path h="242735" w="12247712">
                <a:moveTo>
                  <a:pt x="0" y="0"/>
                </a:moveTo>
                <a:lnTo>
                  <a:pt x="12247712" y="0"/>
                </a:lnTo>
                <a:lnTo>
                  <a:pt x="12247712" y="242735"/>
                </a:lnTo>
                <a:lnTo>
                  <a:pt x="0" y="24273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71588" y="5195583"/>
            <a:ext cx="9645348" cy="855240"/>
          </a:xfrm>
          <a:custGeom>
            <a:avLst/>
            <a:gdLst/>
            <a:ahLst/>
            <a:cxnLst/>
            <a:rect r="r" b="b" t="t" l="l"/>
            <a:pathLst>
              <a:path h="855240" w="9645348">
                <a:moveTo>
                  <a:pt x="0" y="0"/>
                </a:moveTo>
                <a:lnTo>
                  <a:pt x="9645348" y="0"/>
                </a:lnTo>
                <a:lnTo>
                  <a:pt x="9645348" y="855240"/>
                </a:lnTo>
                <a:lnTo>
                  <a:pt x="0" y="85524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153087" y="1764811"/>
            <a:ext cx="2669219" cy="3190504"/>
          </a:xfrm>
          <a:custGeom>
            <a:avLst/>
            <a:gdLst/>
            <a:ahLst/>
            <a:cxnLst/>
            <a:rect r="r" b="b" t="t" l="l"/>
            <a:pathLst>
              <a:path h="3190504" w="2669219">
                <a:moveTo>
                  <a:pt x="0" y="0"/>
                </a:moveTo>
                <a:lnTo>
                  <a:pt x="2669219" y="0"/>
                </a:lnTo>
                <a:lnTo>
                  <a:pt x="2669219" y="3190504"/>
                </a:lnTo>
                <a:lnTo>
                  <a:pt x="0" y="319050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02196" y="6495774"/>
            <a:ext cx="2444086" cy="144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b="true" sz="799">
                <a:solidFill>
                  <a:srgbClr val="7FA8BC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AVALIAÇÃO DE ACESSIBILIDADE WEB · WCAG 2.1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536126" y="6495774"/>
            <a:ext cx="1188282" cy="144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b="true" sz="799">
                <a:solidFill>
                  <a:srgbClr val="7FA8BC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IFAL · CAMPUS MACEIÓ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885762" y="6473447"/>
            <a:ext cx="116205" cy="132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sz="799">
                <a:solidFill>
                  <a:srgbClr val="7FA8BC"/>
                </a:solidFill>
                <a:latin typeface="Noto Sans"/>
                <a:ea typeface="Noto Sans"/>
                <a:cs typeface="Noto Sans"/>
                <a:sym typeface="Noto Sans"/>
              </a:rPr>
              <a:t>13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66280" y="455400"/>
            <a:ext cx="1238088" cy="161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1"/>
              </a:lnSpc>
            </a:pPr>
            <a:r>
              <a:rPr lang="en-US" b="true" sz="901" spc="113">
                <a:solidFill>
                  <a:srgbClr val="4DD3E6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11 · FECHAMENTO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66280" y="1038215"/>
            <a:ext cx="4883877" cy="498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b="true" sz="2800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O que fica desta avaliação?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59317" y="2089661"/>
            <a:ext cx="147247" cy="186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b="true" sz="1000">
                <a:solidFill>
                  <a:srgbClr val="4DD3E6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01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711959" y="2089661"/>
            <a:ext cx="147247" cy="186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b="true" sz="1000">
                <a:solidFill>
                  <a:srgbClr val="4DD3E6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02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564963" y="2089661"/>
            <a:ext cx="147247" cy="186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b="true" sz="1000">
                <a:solidFill>
                  <a:srgbClr val="4DD3E6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03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417968" y="2089661"/>
            <a:ext cx="147247" cy="186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b="true" sz="1000">
                <a:solidFill>
                  <a:srgbClr val="4DD3E6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04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01740" y="2572990"/>
            <a:ext cx="2254649" cy="657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42"/>
              </a:lnSpc>
            </a:pPr>
            <a:r>
              <a:rPr lang="en-US" b="true" sz="1700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Aparência não é acessibilidade</a:t>
            </a:r>
          </a:p>
          <a:p>
            <a:pPr algn="ctr">
              <a:lnSpc>
                <a:spcPts val="1154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3759460" y="2553186"/>
            <a:ext cx="2045198" cy="463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40"/>
              </a:lnSpc>
            </a:pPr>
            <a:r>
              <a:rPr lang="en-US" b="true" sz="1700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Automação não é experiência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439402" y="3668706"/>
            <a:ext cx="32366" cy="170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45"/>
              </a:lnSpc>
            </a:pPr>
            <a:r>
              <a:rPr lang="en-US" sz="960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651866" y="2620868"/>
            <a:ext cx="1874679" cy="280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1"/>
              </a:lnSpc>
            </a:pPr>
            <a:r>
              <a:rPr lang="en-US" b="true" sz="1700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Correções viáveis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676581" y="2553186"/>
            <a:ext cx="1622231" cy="463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40"/>
              </a:lnSpc>
            </a:pPr>
            <a:r>
              <a:rPr lang="en-US" b="true" sz="1700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Acessibilidade contínua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800640" y="3386941"/>
            <a:ext cx="1962839" cy="589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5"/>
              </a:lnSpc>
            </a:pPr>
            <a:r>
              <a:rPr lang="en-US" sz="1160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Ferramentas quantificam; o teste humano revela a experiência de uso.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610460" y="3415516"/>
            <a:ext cx="2048485" cy="676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4"/>
              </a:lnSpc>
            </a:pPr>
            <a:r>
              <a:rPr lang="en-US" sz="1160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A</a:t>
            </a:r>
            <a:r>
              <a:rPr lang="en-US" sz="1160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lt, labels, cabeçalhos e elementos semânticos podem ser corrigidos com baixo custo.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432274" y="3438525"/>
            <a:ext cx="2110845" cy="676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4"/>
              </a:lnSpc>
            </a:pPr>
            <a:r>
              <a:rPr lang="en-US" sz="1160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Cada nova publicação pode reintroduzir barreiras; a reavaliação periódica é recomendada.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834799" y="5497231"/>
            <a:ext cx="6522402" cy="223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63"/>
              </a:lnSpc>
            </a:pPr>
            <a:r>
              <a:rPr lang="en-US" b="true" sz="1330">
                <a:solidFill>
                  <a:srgbClr val="8DE8F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Acessibilidade se projeta desde o início — corrigir depois tende a custar mais.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01740" y="3415516"/>
            <a:ext cx="2254649" cy="504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4"/>
              </a:lnSpc>
            </a:pPr>
            <a:r>
              <a:rPr lang="en-US" sz="1160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As barreiras podem estar na marcação e ser invisíveis para quem enxerga a página.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3400" y="1491815"/>
            <a:ext cx="384229" cy="501948"/>
          </a:xfrm>
          <a:custGeom>
            <a:avLst/>
            <a:gdLst/>
            <a:ahLst/>
            <a:cxnLst/>
            <a:rect r="r" b="b" t="t" l="l"/>
            <a:pathLst>
              <a:path h="501948" w="384229">
                <a:moveTo>
                  <a:pt x="0" y="0"/>
                </a:moveTo>
                <a:lnTo>
                  <a:pt x="384229" y="0"/>
                </a:lnTo>
                <a:lnTo>
                  <a:pt x="384229" y="501948"/>
                </a:lnTo>
                <a:lnTo>
                  <a:pt x="0" y="5019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7759" y="2086175"/>
            <a:ext cx="384943" cy="502291"/>
          </a:xfrm>
          <a:custGeom>
            <a:avLst/>
            <a:gdLst/>
            <a:ahLst/>
            <a:cxnLst/>
            <a:rect r="r" b="b" t="t" l="l"/>
            <a:pathLst>
              <a:path h="502291" w="384943">
                <a:moveTo>
                  <a:pt x="0" y="0"/>
                </a:moveTo>
                <a:lnTo>
                  <a:pt x="384943" y="0"/>
                </a:lnTo>
                <a:lnTo>
                  <a:pt x="384943" y="502291"/>
                </a:lnTo>
                <a:lnTo>
                  <a:pt x="0" y="5022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82461" y="2680526"/>
            <a:ext cx="385334" cy="501958"/>
          </a:xfrm>
          <a:custGeom>
            <a:avLst/>
            <a:gdLst/>
            <a:ahLst/>
            <a:cxnLst/>
            <a:rect r="r" b="b" t="t" l="l"/>
            <a:pathLst>
              <a:path h="501958" w="385334">
                <a:moveTo>
                  <a:pt x="0" y="0"/>
                </a:moveTo>
                <a:lnTo>
                  <a:pt x="385334" y="0"/>
                </a:lnTo>
                <a:lnTo>
                  <a:pt x="385334" y="501957"/>
                </a:lnTo>
                <a:lnTo>
                  <a:pt x="0" y="50195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37544" y="3274886"/>
            <a:ext cx="385343" cy="501958"/>
          </a:xfrm>
          <a:custGeom>
            <a:avLst/>
            <a:gdLst/>
            <a:ahLst/>
            <a:cxnLst/>
            <a:rect r="r" b="b" t="t" l="l"/>
            <a:pathLst>
              <a:path h="501958" w="385343">
                <a:moveTo>
                  <a:pt x="0" y="0"/>
                </a:moveTo>
                <a:lnTo>
                  <a:pt x="385343" y="0"/>
                </a:lnTo>
                <a:lnTo>
                  <a:pt x="385343" y="501957"/>
                </a:lnTo>
                <a:lnTo>
                  <a:pt x="0" y="50195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92275" y="3869246"/>
            <a:ext cx="384962" cy="502310"/>
          </a:xfrm>
          <a:custGeom>
            <a:avLst/>
            <a:gdLst/>
            <a:ahLst/>
            <a:cxnLst/>
            <a:rect r="r" b="b" t="t" l="l"/>
            <a:pathLst>
              <a:path h="502310" w="384962">
                <a:moveTo>
                  <a:pt x="0" y="0"/>
                </a:moveTo>
                <a:lnTo>
                  <a:pt x="384962" y="0"/>
                </a:lnTo>
                <a:lnTo>
                  <a:pt x="384962" y="502310"/>
                </a:lnTo>
                <a:lnTo>
                  <a:pt x="0" y="50231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28413" y="-66523"/>
            <a:ext cx="12247712" cy="242735"/>
          </a:xfrm>
          <a:custGeom>
            <a:avLst/>
            <a:gdLst/>
            <a:ahLst/>
            <a:cxnLst/>
            <a:rect r="r" b="b" t="t" l="l"/>
            <a:pathLst>
              <a:path h="242735" w="12247712">
                <a:moveTo>
                  <a:pt x="0" y="0"/>
                </a:moveTo>
                <a:lnTo>
                  <a:pt x="12247712" y="0"/>
                </a:lnTo>
                <a:lnTo>
                  <a:pt x="12247712" y="242735"/>
                </a:lnTo>
                <a:lnTo>
                  <a:pt x="0" y="24273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51468" y="942184"/>
            <a:ext cx="10855004" cy="5018999"/>
          </a:xfrm>
          <a:custGeom>
            <a:avLst/>
            <a:gdLst/>
            <a:ahLst/>
            <a:cxnLst/>
            <a:rect r="r" b="b" t="t" l="l"/>
            <a:pathLst>
              <a:path h="5018999" w="10855004">
                <a:moveTo>
                  <a:pt x="0" y="0"/>
                </a:moveTo>
                <a:lnTo>
                  <a:pt x="10855005" y="0"/>
                </a:lnTo>
                <a:lnTo>
                  <a:pt x="10855005" y="5018999"/>
                </a:lnTo>
                <a:lnTo>
                  <a:pt x="0" y="501899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02196" y="6495774"/>
            <a:ext cx="2444086" cy="144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b="true" sz="799">
                <a:solidFill>
                  <a:srgbClr val="7FA8BC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AVALIAÇÃO DE ACESSIBILIDADE WEB · WCAG 2.1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536126" y="6495774"/>
            <a:ext cx="1188282" cy="144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b="true" sz="799">
                <a:solidFill>
                  <a:srgbClr val="7FA8BC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IFAL · CAMPUS MACEIÓ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885762" y="6473447"/>
            <a:ext cx="116205" cy="132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sz="799">
                <a:solidFill>
                  <a:srgbClr val="7FA8BC"/>
                </a:solidFill>
                <a:latin typeface="Noto Sans"/>
                <a:ea typeface="Noto Sans"/>
                <a:cs typeface="Noto Sans"/>
                <a:sym typeface="Noto Sans"/>
              </a:rPr>
              <a:t>14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908237" y="2537467"/>
            <a:ext cx="2374411" cy="988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55"/>
              </a:lnSpc>
            </a:pPr>
            <a:r>
              <a:rPr lang="en-US" b="true" sz="3699">
                <a:solidFill>
                  <a:srgbClr val="F7FBF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Obrigado!</a:t>
            </a:r>
          </a:p>
          <a:p>
            <a:pPr algn="ctr">
              <a:lnSpc>
                <a:spcPts val="1499"/>
              </a:lnSpc>
            </a:pPr>
            <a:r>
              <a:rPr lang="en-US" b="true" sz="901">
                <a:solidFill>
                  <a:srgbClr val="8DE8F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WCAG 2.1 · IFAL CAMPUS MACEIÓ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015422" y="3869591"/>
            <a:ext cx="4161155" cy="174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>
                <a:solidFill>
                  <a:srgbClr val="A9C1CF"/>
                </a:solidFill>
                <a:latin typeface="Noto Sans"/>
                <a:ea typeface="Noto Sans"/>
                <a:cs typeface="Noto Sans"/>
                <a:sym typeface="Noto Sans"/>
              </a:rPr>
              <a:t>Guilherme de Oliveira Pontes Pinto · Kelven Eduardo Terto dos Santos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225308" y="1742789"/>
            <a:ext cx="2057400" cy="3109632"/>
            <a:chOff x="0" y="0"/>
            <a:chExt cx="812800" cy="122849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1228496"/>
            </a:xfrm>
            <a:custGeom>
              <a:avLst/>
              <a:gdLst/>
              <a:ahLst/>
              <a:cxnLst/>
              <a:rect r="r" b="b" t="t" l="l"/>
              <a:pathLst>
                <a:path h="1228496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228496"/>
                  </a:lnTo>
                  <a:lnTo>
                    <a:pt x="0" y="1228496"/>
                  </a:lnTo>
                  <a:close/>
                </a:path>
              </a:pathLst>
            </a:custGeom>
            <a:solidFill>
              <a:srgbClr val="0C2C47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812800" cy="12475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61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282708" y="985092"/>
            <a:ext cx="1051615" cy="4976091"/>
            <a:chOff x="0" y="0"/>
            <a:chExt cx="415453" cy="196586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15453" cy="1965863"/>
            </a:xfrm>
            <a:custGeom>
              <a:avLst/>
              <a:gdLst/>
              <a:ahLst/>
              <a:cxnLst/>
              <a:rect r="r" b="b" t="t" l="l"/>
              <a:pathLst>
                <a:path h="1965863" w="415453">
                  <a:moveTo>
                    <a:pt x="0" y="0"/>
                  </a:moveTo>
                  <a:lnTo>
                    <a:pt x="415453" y="0"/>
                  </a:lnTo>
                  <a:lnTo>
                    <a:pt x="415453" y="1965863"/>
                  </a:lnTo>
                  <a:lnTo>
                    <a:pt x="0" y="1965863"/>
                  </a:lnTo>
                  <a:close/>
                </a:path>
              </a:pathLst>
            </a:custGeom>
            <a:solidFill>
              <a:srgbClr val="071A2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415453" cy="19849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61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5400000">
            <a:off x="6011053" y="-1382898"/>
            <a:ext cx="1051615" cy="3684366"/>
            <a:chOff x="0" y="0"/>
            <a:chExt cx="415453" cy="145555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15453" cy="1455552"/>
            </a:xfrm>
            <a:custGeom>
              <a:avLst/>
              <a:gdLst/>
              <a:ahLst/>
              <a:cxnLst/>
              <a:rect r="r" b="b" t="t" l="l"/>
              <a:pathLst>
                <a:path h="1455552" w="415453">
                  <a:moveTo>
                    <a:pt x="0" y="0"/>
                  </a:moveTo>
                  <a:lnTo>
                    <a:pt x="415453" y="0"/>
                  </a:lnTo>
                  <a:lnTo>
                    <a:pt x="415453" y="1455552"/>
                  </a:lnTo>
                  <a:lnTo>
                    <a:pt x="0" y="1455552"/>
                  </a:lnTo>
                  <a:close/>
                </a:path>
              </a:pathLst>
            </a:custGeom>
            <a:solidFill>
              <a:srgbClr val="071A2F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9050"/>
              <a:ext cx="415453" cy="14746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61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-112768" y="985092"/>
            <a:ext cx="1051615" cy="4976091"/>
            <a:chOff x="0" y="0"/>
            <a:chExt cx="415453" cy="196586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15453" cy="1965863"/>
            </a:xfrm>
            <a:custGeom>
              <a:avLst/>
              <a:gdLst/>
              <a:ahLst/>
              <a:cxnLst/>
              <a:rect r="r" b="b" t="t" l="l"/>
              <a:pathLst>
                <a:path h="1965863" w="415453">
                  <a:moveTo>
                    <a:pt x="0" y="0"/>
                  </a:moveTo>
                  <a:lnTo>
                    <a:pt x="415453" y="0"/>
                  </a:lnTo>
                  <a:lnTo>
                    <a:pt x="415453" y="1965863"/>
                  </a:lnTo>
                  <a:lnTo>
                    <a:pt x="0" y="1965863"/>
                  </a:lnTo>
                  <a:close/>
                </a:path>
              </a:pathLst>
            </a:custGeom>
            <a:solidFill>
              <a:srgbClr val="071A2F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9050"/>
              <a:ext cx="415453" cy="19849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61"/>
                </a:lnSpc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DAHV3lq-xpM</dc:identifier>
  <dcterms:modified xsi:type="dcterms:W3CDTF">2011-08-01T06:04:30Z</dcterms:modified>
  <cp:revision>1</cp:revision>
  <dc:title>Apresentação IHC</dc:title>
</cp:coreProperties>
</file>