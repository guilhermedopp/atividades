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Props1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y="6858000" cx="12192000"/>
  <p:notesSz cx="6858000" cy="9144000"/>
  <p:defaultTextStyle>
    <a:defPPr lvl="0">
      <a:defRPr lang="en-US"/>
    </a:defPPr>
    <a:lvl1pPr defTabSz="457200" eaLnBrk="1" hangingPunct="1" latinLnBrk="0" lvl="0" marL="0" rtl="0" algn="l">
      <a:defRPr kern="1200" sz="1800">
        <a:solidFill>
          <a:schemeClr val="tx1"/>
        </a:solidFill>
        <a:latin typeface="+mn-lt"/>
        <a:ea typeface="+mn-ea"/>
        <a:cs typeface="+mn-cs"/>
      </a:defRPr>
    </a:lvl1pPr>
    <a:lvl2pPr defTabSz="457200" eaLnBrk="1" hangingPunct="1" latinLnBrk="0" lvl="1" marL="457200" rtl="0" algn="l">
      <a:defRPr kern="1200" sz="1800">
        <a:solidFill>
          <a:schemeClr val="tx1"/>
        </a:solidFill>
        <a:latin typeface="+mn-lt"/>
        <a:ea typeface="+mn-ea"/>
        <a:cs typeface="+mn-cs"/>
      </a:defRPr>
    </a:lvl2pPr>
    <a:lvl3pPr defTabSz="457200" eaLnBrk="1" hangingPunct="1" latinLnBrk="0" lvl="2" marL="914400" rtl="0" algn="l">
      <a:defRPr kern="1200" sz="1800">
        <a:solidFill>
          <a:schemeClr val="tx1"/>
        </a:solidFill>
        <a:latin typeface="+mn-lt"/>
        <a:ea typeface="+mn-ea"/>
        <a:cs typeface="+mn-cs"/>
      </a:defRPr>
    </a:lvl3pPr>
    <a:lvl4pPr defTabSz="457200" eaLnBrk="1" hangingPunct="1" latinLnBrk="0" lvl="3" marL="1371600" rtl="0" algn="l">
      <a:defRPr kern="1200" sz="1800">
        <a:solidFill>
          <a:schemeClr val="tx1"/>
        </a:solidFill>
        <a:latin typeface="+mn-lt"/>
        <a:ea typeface="+mn-ea"/>
        <a:cs typeface="+mn-cs"/>
      </a:defRPr>
    </a:lvl4pPr>
    <a:lvl5pPr defTabSz="457200" eaLnBrk="1" hangingPunct="1" latinLnBrk="0" lvl="4" marL="1828800" rtl="0" algn="l">
      <a:defRPr kern="1200" sz="1800">
        <a:solidFill>
          <a:schemeClr val="tx1"/>
        </a:solidFill>
        <a:latin typeface="+mn-lt"/>
        <a:ea typeface="+mn-ea"/>
        <a:cs typeface="+mn-cs"/>
      </a:defRPr>
    </a:lvl5pPr>
    <a:lvl6pPr defTabSz="457200" eaLnBrk="1" hangingPunct="1" latinLnBrk="0" lvl="5" marL="2286000" rtl="0" algn="l">
      <a:defRPr kern="1200" sz="1800">
        <a:solidFill>
          <a:schemeClr val="tx1"/>
        </a:solidFill>
        <a:latin typeface="+mn-lt"/>
        <a:ea typeface="+mn-ea"/>
        <a:cs typeface="+mn-cs"/>
      </a:defRPr>
    </a:lvl6pPr>
    <a:lvl7pPr defTabSz="457200" eaLnBrk="1" hangingPunct="1" latinLnBrk="0" lvl="6" marL="2743200" rtl="0" algn="l">
      <a:defRPr kern="1200" sz="1800">
        <a:solidFill>
          <a:schemeClr val="tx1"/>
        </a:solidFill>
        <a:latin typeface="+mn-lt"/>
        <a:ea typeface="+mn-ea"/>
        <a:cs typeface="+mn-cs"/>
      </a:defRPr>
    </a:lvl7pPr>
    <a:lvl8pPr defTabSz="457200" eaLnBrk="1" hangingPunct="1" latinLnBrk="0" lvl="7" marL="3200400" rtl="0" algn="l">
      <a:defRPr kern="1200" sz="1800">
        <a:solidFill>
          <a:schemeClr val="tx1"/>
        </a:solidFill>
        <a:latin typeface="+mn-lt"/>
        <a:ea typeface="+mn-ea"/>
        <a:cs typeface="+mn-cs"/>
      </a:defRPr>
    </a:lvl8pPr>
    <a:lvl9pPr defTabSz="457200" eaLnBrk="1" hangingPunct="1" latinLnBrk="0" lvl="8" marL="3657600" rtl="0" algn="l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1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1.xml"/><Relationship Id="rId3" Type="http://schemas.openxmlformats.org/officeDocument/2006/relationships/slideMaster" Target="slideMasters/slide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214931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60316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79492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17604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183452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2989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04636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8811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82856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60037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22406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3096980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835817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2237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83259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12174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53218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65379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49" r:id="rId1"/>
    <p:sldLayoutId id="2147483950" r:id="rId2"/>
    <p:sldLayoutId id="2147483951" r:id="rId3"/>
    <p:sldLayoutId id="2147483952" r:id="rId4"/>
    <p:sldLayoutId id="2147483953" r:id="rId5"/>
    <p:sldLayoutId id="2147483954" r:id="rId6"/>
    <p:sldLayoutId id="2147483955" r:id="rId7"/>
    <p:sldLayoutId id="2147483956" r:id="rId8"/>
    <p:sldLayoutId id="2147483957" r:id="rId9"/>
    <p:sldLayoutId id="2147483958" r:id="rId10"/>
    <p:sldLayoutId id="2147483959" r:id="rId11"/>
    <p:sldLayoutId id="2147483960" r:id="rId12"/>
    <p:sldLayoutId id="2147483961" r:id="rId13"/>
    <p:sldLayoutId id="2147483962" r:id="rId14"/>
    <p:sldLayoutId id="2147483963" r:id="rId15"/>
    <p:sldLayoutId id="2147483964" r:id="rId16"/>
    <p:sldLayoutId id="2147483965" r:id="rId17"/>
  </p:sldLayoutIdLst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Avaliação de Acessibilidade Web com as Diretrizes WCAG 2.1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2000">
                <a:latin typeface="Arial"/>
              </a:rPr>
              <a:t>Portal do Instituto Federal de Alagoas - Campus Maceió
Guilherme de Oliveira Pontes Pinto · Kelven Eduardo Terto dos Santos
Bacharelado em Sistemas de Informação — Interação Humano-Computador — 09 /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O que são as WCAG?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Web Content Accessibility Guidelines — recomendação do W3C, versão 2.1 (2018)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Organizadas em 4 princípios (POUR):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Perceptível — a informação precisa chegar aos sentidos do usuário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Operável — a interface precisa ser utilizável por qualquer forma de entrada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Compreensível — conteúdo e operação precisam ser previsíveis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Robusto — o código precisa funcionar com tecnologias assistivas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78 critérios de sucesso distribuídos em 3 níveis: A, AA e AAA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No Brasil: eMAG 3.1 (2014) adapta as WCAG ao governo eletrônico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Por que avaliar acessibilidade?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latin typeface="Arial"/>
              </a:rPr>
              <a:t>14,4 milhões de brasileiros com deficiência (Censo IBGE 2022)</a:t>
            </a:r>
          </a:p>
          <a:p>
            <a:pPr>
              <a:spcAft>
                <a:spcPts val="600"/>
              </a:spcAft>
            </a:pPr>
            <a:r>
              <a:rPr sz="1800">
                <a:latin typeface="Arial"/>
              </a:rPr>
              <a:t>Exigência legal, não apenas boa prática:</a:t>
            </a:r>
          </a:p>
          <a:p>
            <a:pPr lvl="1">
              <a:spcAft>
                <a:spcPts val="600"/>
              </a:spcAft>
            </a:pPr>
            <a:r>
              <a:rPr sz="1500">
                <a:latin typeface="Arial"/>
              </a:rPr>
              <a:t>Decreto nº 5.296/2004 — portais da administração pública</a:t>
            </a:r>
          </a:p>
          <a:p>
            <a:pPr lvl="1">
              <a:spcAft>
                <a:spcPts val="600"/>
              </a:spcAft>
            </a:pPr>
            <a:r>
              <a:rPr sz="1500">
                <a:latin typeface="Arial"/>
              </a:rPr>
              <a:t>Lei Brasileira de Inclusão nº 13.146/2015, art. 63 — sites em geral</a:t>
            </a:r>
          </a:p>
          <a:p>
            <a:pPr>
              <a:spcAft>
                <a:spcPts val="600"/>
              </a:spcAft>
            </a:pPr>
            <a:r>
              <a:rPr sz="1800">
                <a:latin typeface="Arial"/>
              </a:rPr>
              <a:t>Acessibilidade beneficia todos: legendas, contraste e navegação por teclado</a:t>
            </a:r>
          </a:p>
          <a:p>
            <a:pPr lvl="1">
              <a:spcAft>
                <a:spcPts val="600"/>
              </a:spcAft>
            </a:pPr>
            <a:r>
              <a:rPr sz="1500">
                <a:latin typeface="Arial"/>
              </a:rPr>
              <a:t>melhoram a experiência de qualquer usuário em qualquer contexto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Site avaliado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Portal do Instituto Federal de Alagoas - Campus Maceió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https://www2.ifal.edu.br/campus/maceio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Por que este site: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Trata-se de um sítio institucional público, de escopo reduzido e navegação simples (página inicial, noticias, editais e contato), o que permite auditar integralmente o conjunto de páginas dentro do prazo do trabalho. Por pertencer a administração pública federal, esta sujeito ao Decreto n. 5.296/2004, a Lei Brasileira de Inclusão (Lei n. 13.146/2015) e ao eMAG 3.1, o que torna a avaliação juridica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Metodologia em 4 etapas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1. Inspeção manual — checklist de 15 itens mapeados à WCAG 2.1 e ao eMAG 3.1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2. Avaliação automatizada — WAVE, ASES e auditor próprio em Python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3. Simulação mobile automatizada — Chromium emulando smartphone, árvore de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acessibilidade, alvos de toque, reflow e contraste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4. Teste real com leitor de tela — tarefa completa sem apoio visual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Triangulação: ferramenta automática cobre só parte dos critérios;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os demais exigem julgamento humano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Checklist de 15 itens — resultados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1. Texto alternativo em imagens — 1.1.1 (A): Parcial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2. Hierarquia de cabeçalhos — 1.3.1 (A): Não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3. Idioma da página declarado — 3.1.1 (A):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4. Título de página descritivo — 2.4.2 (A):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5. Contraste mínimo de cores — 1.4.3 (AA): Não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6. Cor não é o único meio de transmitir informação — 1.4.1 (A): Não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7. Redimensionamento de texto até 200% — 1.4.4 (AA): Parcial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8. Navegação completa por teclado — 2.1.1 (A): Conforme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Checklist de 15 itens — resultados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9. Indicador de foco visível — 2.4.7 (AA): Parcial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10. Link para pular ao conteúdo principal — 2.4.1 (A):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11. Rótulos associados aos campos de formulário — 3.3.2 (A):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12. Identificação e sugestão de correção de erros — 3.3.1 (A / AA): Não aplicável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13. Links com texto descritivo — 2.4.4 (A): Parcial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14. Controle de conteúdo em movimento — 2.2.2 (A): Não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15. Estrutura semântica e marcação válida — 1.3.1 (A): Parcial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Avaliadores automáticos: WAVE e 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WAVE (WebAIM):</a:t>
            </a:r>
          </a:p>
          <a:p>
            <a:pPr lvl="1">
              <a:spcAft>
                <a:spcPts val="600"/>
              </a:spcAft>
            </a:pPr>
            <a:r>
              <a:rPr sz="1300">
                <a:latin typeface="Arial"/>
              </a:rPr>
              <a:t>Errors: 4   |   Contrast Errors: 21   |   Alerts: 32</a:t>
            </a:r>
          </a:p>
          <a:p>
            <a:pPr lvl="1">
              <a:spcAft>
                <a:spcPts val="600"/>
              </a:spcAft>
            </a:pPr>
            <a:r>
              <a:rPr sz="1300">
                <a:latin typeface="Arial"/>
              </a:rPr>
              <a:t>Principais erros: os 4 erros dividem-se em 1 "Missing alternative text" e 3 "Empty link"; os 21 erros de contraste são todos da categoria "Very low contrast". Entre os 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ASES (Governo Federal — eMAG 3.1):</a:t>
            </a:r>
          </a:p>
          <a:p>
            <a:pPr lvl="1">
              <a:spcAft>
                <a:spcPts val="600"/>
              </a:spcAft>
            </a:pPr>
            <a:r>
              <a:rPr sz="1300">
                <a:latin typeface="Arial"/>
              </a:rPr>
              <a:t>Nota geral: 90,48%</a:t>
            </a:r>
          </a:p>
          <a:p>
            <a:pPr lvl="1">
              <a:spcAft>
                <a:spcPts val="600"/>
              </a:spcAft>
            </a:pPr>
            <a:r>
              <a:rPr sz="1300">
                <a:latin typeface="Arial"/>
              </a:rPr>
              <a:t>Marcação 29 erros · Conteúdo 11 erros · Formulários 0 erros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Limitação: detectam ausência de alt, mas não julgam se o alt descreve bem a imagem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WAVE e ASES exigem execução no navegador — o ASES protege o envio com CAPTCHA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Avaliador automático: axe-core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axe-core 4.10.2 (Deque) — motor usado pelo Lighthouse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Violações diretas de critério WCAG A/AA: 0 nas 3 páginas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Regras aprovadas: 41 · 40 · 35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Ocorrências de boas práticas: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region — 10x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image-redundant-alt — 4x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page-has-heading-one — 2x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Devolvido para julgamento humano: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color-contrast — 80x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frame-tested — 1x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Contraste medido na tela renderizada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Método: o texto é apagado, a área é fotografada e a cor dominante da imagem vira o fundo — sem supor nada pela árvore do DOM.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Reprovações confirmadas: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1.66:1 (exige 4.5:1) — Botão de navegação do banner rotativo (slides 1, 3 e 4)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3.0:1 (exige 4.5:1) — Botão de navegação do banner rotativo (slide ativo)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4.48:1 (exige 4.5:1) — Link "Voltar para o topo"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Indicador de foco: 5.81:1 sobre o verde, mas 1.56:1 sobre o branco (exige 3.0:1)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600">
                <a:latin typeface="Arial"/>
              </a:rPr>
              <a:t>Barra de acessibilidade do portal</a:t>
            </a:r>
          </a:p>
        </p:txBody>
      </p:sp>
      <p:pic>
        <p:nvPicPr>
          <p:cNvPr id="3" name="Picture 2" descr="02-topo-barra-acessibil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2206816"/>
            <a:ext cx="9753600" cy="25704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5360" y="486875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latin typeface="Arial"/>
              </a:rPr>
              <a:t>Quatro atalhos de salto (Alt+1 a Alt+4), Alto Contraste e Mapa do site: o portal acerta o essencial da navegação assistida.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600">
                <a:latin typeface="Arial"/>
              </a:rPr>
              <a:t>Onde estão as piores falhas: o banner rotativo</a:t>
            </a:r>
          </a:p>
        </p:txBody>
      </p:sp>
      <p:pic>
        <p:nvPicPr>
          <p:cNvPr id="3" name="Picture 2" descr="13-carrossel-banner-rot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4165" y="2206816"/>
            <a:ext cx="4703669" cy="36453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5360" y="594360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latin typeface="Arial"/>
              </a:rPr>
              <a:t>Botões de 22x20 px, contraste de 1,66:1, slide ativo marcado só pela cor e troca automática a cada 4 segundos sem botão de pausa.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600">
                <a:latin typeface="Arial"/>
              </a:rPr>
              <a:t>Reflow em 320 px</a:t>
            </a:r>
          </a:p>
        </p:txBody>
      </p:sp>
      <p:pic>
        <p:nvPicPr>
          <p:cNvPr id="3" name="Picture 2" descr="08-reflow-320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6931" y="2206816"/>
            <a:ext cx="1458137" cy="36453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5360" y="594360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latin typeface="Arial"/>
              </a:rPr>
              <a:t>Com a Barra do Governo Federal carregada, o conteúdo cabe em 320 px: 1.4.10 atendido. Os 330 px da imagem vêm da marcação provisória da barra, visível só quando o script de terceiro falha.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600">
                <a:latin typeface="Arial"/>
              </a:rPr>
              <a:t>O que só o aparelho real mostrou: VLibras</a:t>
            </a:r>
          </a:p>
        </p:txBody>
      </p:sp>
      <p:pic>
        <p:nvPicPr>
          <p:cNvPr id="3" name="Picture 2" descr="14-vlibras-botao-flutuan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2206816"/>
            <a:ext cx="9753600" cy="338666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5360" y="5684922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latin typeface="Arial"/>
              </a:rPr>
              <a:t>O tradutor de Libras existe em todas as páginas, injetado por barra.brasil.gov.br. Não aparece no HTML entregue pelo servidor e escapou às três frentes automatizadas — mas a página de Acessibilidade do portal nunca o menciona.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Simulação automatizada em smartphone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Aparelho emulado: Google Pixel 7 (TalkBack) — 412×915 px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Elementos anunciados SEM RÓTULO: 3  (WCAG 1.1.1 / 4.1.2 — A)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Deslizes até o conteúdo principal: 5  (WCAG 2.4.1 — A)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Sem indicador de foco visível: 1  (WCAG 2.4.7 — AA)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Alvos de toque menores que 24×24 px: 23  (WCAG 2.2, 2.5.8 — AA)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Rolagem horizontal em 320 px: não  (WCAG 1.4.10 — AA)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Contraste reprovado em 0 de 56 trechos — pior razão 4.65:1  (WCAG 1.4.3 — AA)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O que o leitor de tela realmente anuncia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1. lista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2. lista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3. lista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4. cabeçalho da página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5. região principal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6. rodapé da página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7. item de lista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8. item de lista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9. item de lista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Tarefa complementar: uso real com leitor de tela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Aparelho: Samsung Galaxy A15 5G — TalkBack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Tarefa: Localizar, a partir da página inicial, o edital mais recente publicado pelo campus e abrir o documento correspondente.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Concluída: Sim, na segunda tentativa — tempo: primeira tentativa abandonada aos 12 min 4 s; segunda tentativa concluída em 10 min 16 s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Relato: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A primeira tentativa não chegou ao edital. Foram necessários 5 min 30 s apenas para concluir o tutorial do TalkBack, seguidos de 5 min de tentativas frustradas para sair da própria tela de configuração do aparelho e 8 min 46 s para conseguir desativar o leitor. Já no portal, a busca pelo edital foi abandonada aos 12 mi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Nível de conformidade WCAG 2.1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Regra do W3C: a conformidade é integral — uma única falha de Nível A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impede a conformidade em qualquer nível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Falhas em critérios de Nível A: 1.3.1 Informações e relações (a página de contato não declara nenhum elemento de cabeçalho, embora apresente seções visualmente tituladas, de modo que a estrutura percebida por quem enxerga não é programaticamente determinável); 1.4.1 Uso de cores (marcador do slide ativo diferenciado apenas pela cor de fundo); e 2.2.2 Pausar, Parar, Ocultar (banner rotativo com avanço automático a cada 4 segundos, sem mecanismo de pausa).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Falhas em critérios de Nível AA: 1.4.3 Contraste mínimo (3 reprovações confirmadas por amostragem de pixels, a pior em 1,66:1); 1.4.11 Contraste não textual (indicador de foco de 2 px na cor rgb(241,202,127), que atinge apenas 1,56:1 sobre o fundo branco da área de conteúdo, onde exige-se 3:1); e 1.4.12 Espaçamento de texto (3 elementos com conteúdo cortado sob o espaçamento exigido pelo critério). Acrescenta-se o critério 2.5.8 Tamanho do alvo (mínimo), que mede 23 dos 58 alvos interativos da versão móvel abaixo de 24 por 24 pixels: ele pertence à WCAG 2.2, e não à 2.1, e é aqui adotado como complemento, conforme facultado pelo enunciado do trabalho ao admitir "WCAG 2.1 ou mais recentes". Na WCAG 2.1 o requisito equivalente é o 2.5.5 Tamanho do alvo, de Nível AAA, que o sítio também não cumpre. O critério 1.4.10 Reflow, registrado como falho na primeira medição, foi reclassificado como atendido — ver a nota de reconferência.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Resultado: Não atinge o Nível A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Nível AA é o patamar exigido da administração pública brasileira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Recomendações priorizadas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[Crítica] Banner rotativo sem controle de pausa → WCAG 2.2.2 (A)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[Crítica] Slide ativo identificado apenas pela cor → WCAG 1.4.1 (A)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[Alta] Contraste insuficiente nos controles do banner → WCAG 1.4.3 (AA)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[Alta] Página inicial e página de contato sem &lt;h1&gt; → WCAG 1.3.1 / 2.4.6 (A/AA)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[Alta] Ausência de região de navegação no código do campus → WCAG 1.3.1 (A)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[Média] Indicador de foco pouco perceptível sobre fundo branco → WCAG 1.4.11 (AA)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[Média] Alvos de toque abaixo do mínimo → WCAG 2.5.8 (AA, WCAG 2.2)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[Média] Layout quebra com espaçamento de texto ampliado → WCAG 1.4.12 (AA)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Conclusão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Boa aparência visual não significa boa acessibilidade: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as barreiras estão na camada de marcação, invisíveis ao usuário vidente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Ferramentas automáticas quantificam; só o teste humano revela a experiência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A maior parte das correções é de baixo custo — atributos alt, labels,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hierarquia de cabeçalhos e elementos semânticos de região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Acessibilidade se projeta desde o início; corrigir depois custa mais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Recomenda-se reavaliação periódica: cada publicação pode reintroduzir barreiras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5400">
                <a:latin typeface="Arial"/>
              </a:rPr>
              <a:t>Obrigado!</a:t>
            </a:r>
          </a:p>
          <a:p>
            <a:pPr>
              <a:spcAft>
                <a:spcPts val="600"/>
              </a:spcAft>
            </a:pPr>
            <a:r>
              <a:rPr sz="5400">
                <a:latin typeface="Arial"/>
              </a:rPr>
              <a:t>Perguntas?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o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o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o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