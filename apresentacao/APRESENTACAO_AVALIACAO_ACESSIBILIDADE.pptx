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Props1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y="6858000" cx="12192000"/>
  <p:notesSz cx="6858000" cy="9144000"/>
  <p:defaultTextStyle>
    <a:defPPr lvl="0">
      <a:defRPr lang="en-US"/>
    </a:defPPr>
    <a:lvl1pPr defTabSz="4572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4572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4572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4572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4572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4572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4572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4572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4572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7DA38F49-B3E2-4BF0-BEC7-C30D34ABBB8D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14931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60316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79492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17604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18345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62989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04636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8811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82856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60037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22406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3096980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83581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2237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83259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12174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53218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  <p:hf sldNum="0" hdr="0" ftr="0" dt="0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A38F49-B3E2-4BF0-BEC7-C30D34ABBB8D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6537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  <p:sldLayoutId id="2147483960" r:id="rId12"/>
    <p:sldLayoutId id="2147483961" r:id="rId13"/>
    <p:sldLayoutId id="2147483962" r:id="rId14"/>
    <p:sldLayoutId id="2147483963" r:id="rId15"/>
    <p:sldLayoutId id="2147483964" r:id="rId16"/>
    <p:sldLayoutId id="2147483965" r:id="rId17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Avaliação de Acessibilidade Web com as Diretrizes WCAG 2.1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2000">
                <a:latin typeface="Arial"/>
              </a:rPr>
              <a:t>Portal do Instituto Federal de Alagoas - Campus Maceió
Guilherme de Oliveira Pontes Pinto · Kelven Eduardo Terto dos Santos
Bacharelado em Sistemas de Informação — Interação Humano-Computador — 09 /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Aft>
                <a:spcPts val="0"/>
              </a:spcAft>
            </a:pPr>
            <a:r>
              <a:rPr sz="2800">
                <a:latin typeface="Arial"/>
              </a:rPr>
              <a:t>O que são as WCAG?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700">
                <a:latin typeface="Arial"/>
              </a:rPr>
              <a:t>Web Content Accessibility Guidelines — recomendação do W3C, versão 2.1 (2018)</a:t>
            </a:r>
          </a:p>
          <a:p>
            <a:pPr>
              <a:spcAft>
                <a:spcPts val="600"/>
              </a:spcAft>
            </a:pPr>
            <a:r>
              <a:rPr sz="1700">
                <a:latin typeface="Arial"/>
              </a:rPr>
              <a:t>Organizadas em 4 princípios (POUR):</a:t>
            </a:r>
          </a:p>
          <a:p>
            <a:pPr lvl="1">
              <a:spcAft>
                <a:spcPts val="600"/>
              </a:spcAft>
            </a:pPr>
            <a:r>
              <a:rPr sz="1400">
                <a:latin typeface="Arial"/>
              </a:rPr>
              <a:t>Perceptível — a informação precisa chegar aos sentidos do usuário</a:t>
            </a:r>
          </a:p>
          <a:p>
            <a:pPr lvl="1">
              <a:spcAft>
                <a:spcPts val="600"/>
              </a:spcAft>
            </a:pPr>
            <a:r>
              <a:rPr sz="1400">
                <a:latin typeface="Arial"/>
              </a:rPr>
              <a:t>Operável — a interface precisa ser utilizável por qualquer forma de entrada</a:t>
            </a:r>
          </a:p>
          <a:p>
            <a:pPr lvl="1">
              <a:spcAft>
                <a:spcPts val="600"/>
              </a:spcAft>
            </a:pPr>
            <a:r>
              <a:rPr sz="1400">
                <a:latin typeface="Arial"/>
              </a:rPr>
              <a:t>Compreensível — conteúdo e operação precisam ser previsíveis</a:t>
            </a:r>
          </a:p>
          <a:p>
            <a:pPr lvl="1">
              <a:spcAft>
                <a:spcPts val="600"/>
              </a:spcAft>
            </a:pPr>
            <a:r>
              <a:rPr sz="1400">
                <a:latin typeface="Arial"/>
              </a:rPr>
              <a:t>Robusto — o código precisa funcionar com tecnologias assistivas</a:t>
            </a:r>
          </a:p>
          <a:p>
            <a:pPr>
              <a:spcAft>
                <a:spcPts val="600"/>
              </a:spcAft>
            </a:pPr>
            <a:r>
              <a:rPr sz="1700">
                <a:latin typeface="Arial"/>
              </a:rPr>
              <a:t>78 critérios de sucesso distribuídos em 3 níveis: A, AA e AAA</a:t>
            </a:r>
          </a:p>
          <a:p>
            <a:pPr>
              <a:spcAft>
                <a:spcPts val="600"/>
              </a:spcAft>
            </a:pPr>
            <a:r>
              <a:rPr sz="1700">
                <a:latin typeface="Arial"/>
              </a:rPr>
              <a:t>No Brasil: eMAG 3.1 (2014) adapta as WCAG ao governo eletrônico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Aft>
                <a:spcPts val="0"/>
              </a:spcAft>
            </a:pPr>
            <a:r>
              <a:rPr sz="2800">
                <a:latin typeface="Arial"/>
              </a:rPr>
              <a:t>Por que avaliar acessibilidade?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800">
                <a:latin typeface="Arial"/>
              </a:rPr>
              <a:t>14,4 milhões de brasileiros com deficiência (Censo IBGE 2022)</a:t>
            </a:r>
          </a:p>
          <a:p>
            <a:pPr>
              <a:spcAft>
                <a:spcPts val="600"/>
              </a:spcAft>
            </a:pPr>
            <a:r>
              <a:rPr sz="1800">
                <a:latin typeface="Arial"/>
              </a:rPr>
              <a:t>Exigência legal, não apenas boa prática:</a:t>
            </a:r>
          </a:p>
          <a:p>
            <a:pPr lvl="1">
              <a:spcAft>
                <a:spcPts val="600"/>
              </a:spcAft>
            </a:pPr>
            <a:r>
              <a:rPr sz="1500">
                <a:latin typeface="Arial"/>
              </a:rPr>
              <a:t>Decreto nº 5.296/2004 — portais da administração pública</a:t>
            </a:r>
          </a:p>
          <a:p>
            <a:pPr lvl="1">
              <a:spcAft>
                <a:spcPts val="600"/>
              </a:spcAft>
            </a:pPr>
            <a:r>
              <a:rPr sz="1500">
                <a:latin typeface="Arial"/>
              </a:rPr>
              <a:t>Lei Brasileira de Inclusão nº 13.146/2015, art. 63 — sites em geral</a:t>
            </a:r>
          </a:p>
          <a:p>
            <a:pPr>
              <a:spcAft>
                <a:spcPts val="600"/>
              </a:spcAft>
            </a:pPr>
            <a:r>
              <a:rPr sz="1800">
                <a:latin typeface="Arial"/>
              </a:rPr>
              <a:t>Acessibilidade beneficia todos: legendas, contraste e navegação por teclado</a:t>
            </a:r>
          </a:p>
          <a:p>
            <a:pPr lvl="1">
              <a:spcAft>
                <a:spcPts val="600"/>
              </a:spcAft>
            </a:pPr>
            <a:r>
              <a:rPr sz="1500">
                <a:latin typeface="Arial"/>
              </a:rPr>
              <a:t>melhoram a experiência de qualquer usuário em qualquer contexto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Aft>
                <a:spcPts val="0"/>
              </a:spcAft>
            </a:pPr>
            <a:r>
              <a:rPr sz="2800">
                <a:latin typeface="Arial"/>
              </a:rPr>
              <a:t>Site avaliado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700">
                <a:latin typeface="Arial"/>
              </a:rPr>
              <a:t>Portal do Instituto Federal de Alagoas - Campus Maceió</a:t>
            </a:r>
          </a:p>
          <a:p>
            <a:pPr lvl="1">
              <a:spcAft>
                <a:spcPts val="600"/>
              </a:spcAft>
            </a:pPr>
            <a:r>
              <a:rPr sz="1400">
                <a:latin typeface="Arial"/>
              </a:rPr>
              <a:t>https://www2.ifal.edu.br/campus/maceio</a:t>
            </a:r>
          </a:p>
          <a:p>
            <a:pPr>
              <a:spcAft>
                <a:spcPts val="600"/>
              </a:spcAft>
            </a:pPr>
            <a:r>
              <a:rPr sz="1700">
                <a:latin typeface="Arial"/>
              </a:rPr>
              <a:t>Por que este site:</a:t>
            </a:r>
          </a:p>
          <a:p>
            <a:pPr lvl="1">
              <a:spcAft>
                <a:spcPts val="600"/>
              </a:spcAft>
            </a:pPr>
            <a:r>
              <a:rPr sz="1400">
                <a:latin typeface="Arial"/>
              </a:rPr>
              <a:t>Trata-se de um sítio institucional público, de escopo reduzido e navegação simples (página inicial, noticias, editais e contato), o que permite auditar integralmente o conjunto de páginas dentro do prazo do trabalho. Por pertencer a administração pública federal, esta sujeito ao Decreto n. 5.296/2004, a Lei Brasileira de Inclusão (Lei n. 13.146/2015) e ao eMAG 3.1, o que torna a avaliação juridica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Aft>
                <a:spcPts val="0"/>
              </a:spcAft>
            </a:pPr>
            <a:r>
              <a:rPr sz="2800">
                <a:latin typeface="Arial"/>
              </a:rPr>
              <a:t>Metodologia em 4 etapas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700">
                <a:latin typeface="Arial"/>
              </a:rPr>
              <a:t>1. Inspeção manual — checklist de 15 itens mapeados à WCAG 2.1 e ao eMAG 3.1</a:t>
            </a:r>
          </a:p>
          <a:p>
            <a:pPr>
              <a:spcAft>
                <a:spcPts val="600"/>
              </a:spcAft>
            </a:pPr>
            <a:r>
              <a:rPr sz="1700">
                <a:latin typeface="Arial"/>
              </a:rPr>
              <a:t>2. Avaliação automatizada — WAVE, ASES e auditor próprio em Python</a:t>
            </a:r>
          </a:p>
          <a:p>
            <a:pPr>
              <a:spcAft>
                <a:spcPts val="600"/>
              </a:spcAft>
            </a:pPr>
            <a:r>
              <a:rPr sz="1700">
                <a:latin typeface="Arial"/>
              </a:rPr>
              <a:t>3. Simulação mobile automatizada — Chromium emulando smartphone, árvore de</a:t>
            </a:r>
          </a:p>
          <a:p>
            <a:pPr lvl="1">
              <a:spcAft>
                <a:spcPts val="600"/>
              </a:spcAft>
            </a:pPr>
            <a:r>
              <a:rPr sz="1400">
                <a:latin typeface="Arial"/>
              </a:rPr>
              <a:t>acessibilidade, alvos de toque, reflow e contraste</a:t>
            </a:r>
          </a:p>
          <a:p>
            <a:pPr>
              <a:spcAft>
                <a:spcPts val="600"/>
              </a:spcAft>
            </a:pPr>
            <a:r>
              <a:rPr sz="1700">
                <a:latin typeface="Arial"/>
              </a:rPr>
              <a:t>4. Teste real com leitor de tela — tarefa completa sem apoio visual</a:t>
            </a:r>
          </a:p>
          <a:p>
            <a:pPr>
              <a:spcAft>
                <a:spcPts val="600"/>
              </a:spcAft>
            </a:pPr>
            <a:r>
              <a:rPr sz="1700">
                <a:latin typeface="Arial"/>
              </a:rPr>
              <a:t>Triangulação: ferramenta automática cobre só parte dos critérios;</a:t>
            </a:r>
          </a:p>
          <a:p>
            <a:pPr lvl="1">
              <a:spcAft>
                <a:spcPts val="600"/>
              </a:spcAft>
            </a:pPr>
            <a:r>
              <a:rPr sz="1400">
                <a:latin typeface="Arial"/>
              </a:rPr>
              <a:t>os demais exigem julgamento humano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Aft>
                <a:spcPts val="0"/>
              </a:spcAft>
            </a:pPr>
            <a:r>
              <a:rPr sz="2800">
                <a:latin typeface="Arial"/>
              </a:rPr>
              <a:t>Checklist de 15 itens — resultados (1/2)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500">
                <a:latin typeface="Arial"/>
              </a:rPr>
              <a:t>1. Texto alternativo em imagens — 1.1.1 (A): </a:t>
            </a:r>
            <a:r>
              <a:rPr sz="1500" b="1">
                <a:solidFill>
                  <a:srgbClr val="C01C1C"/>
                </a:solidFill>
                <a:latin typeface="Arial"/>
              </a:rPr>
              <a:t>[PREENCHER: Conforme / Não conforme / Parcial]</a:t>
            </a:r>
          </a:p>
          <a:p>
            <a:pPr>
              <a:spcAft>
                <a:spcPts val="600"/>
              </a:spcAft>
            </a:pPr>
            <a:r>
              <a:rPr sz="1500">
                <a:latin typeface="Arial"/>
              </a:rPr>
              <a:t>2. Hierarquia de cabeçalhos — 1.3.1 (A): </a:t>
            </a:r>
            <a:r>
              <a:rPr sz="1500" b="1">
                <a:solidFill>
                  <a:srgbClr val="C01C1C"/>
                </a:solidFill>
                <a:latin typeface="Arial"/>
              </a:rPr>
              <a:t>[PREENCHER: Conforme / Não conforme / Parcial]</a:t>
            </a:r>
          </a:p>
          <a:p>
            <a:pPr>
              <a:spcAft>
                <a:spcPts val="600"/>
              </a:spcAft>
            </a:pPr>
            <a:r>
              <a:rPr sz="1500">
                <a:latin typeface="Arial"/>
              </a:rPr>
              <a:t>3. Idioma da página declarado — 3.1.1 (A): </a:t>
            </a:r>
            <a:r>
              <a:rPr sz="1500" b="1">
                <a:solidFill>
                  <a:srgbClr val="C01C1C"/>
                </a:solidFill>
                <a:latin typeface="Arial"/>
              </a:rPr>
              <a:t>[PREENCHER: Conforme / Não conforme / Parcial]</a:t>
            </a:r>
          </a:p>
          <a:p>
            <a:pPr>
              <a:spcAft>
                <a:spcPts val="600"/>
              </a:spcAft>
            </a:pPr>
            <a:r>
              <a:rPr sz="1500">
                <a:latin typeface="Arial"/>
              </a:rPr>
              <a:t>4. Título de página descritivo — 2.4.2 (A): </a:t>
            </a:r>
            <a:r>
              <a:rPr sz="1500" b="1">
                <a:solidFill>
                  <a:srgbClr val="C01C1C"/>
                </a:solidFill>
                <a:latin typeface="Arial"/>
              </a:rPr>
              <a:t>[PREENCHER: Conforme / Não conforme / Parcial]</a:t>
            </a:r>
          </a:p>
          <a:p>
            <a:pPr>
              <a:spcAft>
                <a:spcPts val="600"/>
              </a:spcAft>
            </a:pPr>
            <a:r>
              <a:rPr sz="1500">
                <a:latin typeface="Arial"/>
              </a:rPr>
              <a:t>5. Contraste mínimo de cores — 1.4.3 (AA): </a:t>
            </a:r>
            <a:r>
              <a:rPr sz="1500" b="1">
                <a:solidFill>
                  <a:srgbClr val="C01C1C"/>
                </a:solidFill>
                <a:latin typeface="Arial"/>
              </a:rPr>
              <a:t>[PREENCHER: Conforme / Não conforme / Parcial]</a:t>
            </a:r>
          </a:p>
          <a:p>
            <a:pPr>
              <a:spcAft>
                <a:spcPts val="600"/>
              </a:spcAft>
            </a:pPr>
            <a:r>
              <a:rPr sz="1500">
                <a:latin typeface="Arial"/>
              </a:rPr>
              <a:t>6. Cor não e o único meio de transmitir informação — 1.4.1 (A): </a:t>
            </a:r>
            <a:r>
              <a:rPr sz="1500" b="1">
                <a:solidFill>
                  <a:srgbClr val="C01C1C"/>
                </a:solidFill>
                <a:latin typeface="Arial"/>
              </a:rPr>
              <a:t>[PREENCHER: Conforme / Não conforme / Parcial]</a:t>
            </a:r>
          </a:p>
          <a:p>
            <a:pPr>
              <a:spcAft>
                <a:spcPts val="600"/>
              </a:spcAft>
            </a:pPr>
            <a:r>
              <a:rPr sz="1500">
                <a:latin typeface="Arial"/>
              </a:rPr>
              <a:t>7. Redimensionamento de texto até 200% — 1.4.4 (AA): </a:t>
            </a:r>
            <a:r>
              <a:rPr sz="1500" b="1">
                <a:solidFill>
                  <a:srgbClr val="C01C1C"/>
                </a:solidFill>
                <a:latin typeface="Arial"/>
              </a:rPr>
              <a:t>[PREENCHER: Conforme / Não conforme / Parcial]</a:t>
            </a:r>
          </a:p>
          <a:p>
            <a:pPr>
              <a:spcAft>
                <a:spcPts val="600"/>
              </a:spcAft>
            </a:pPr>
            <a:r>
              <a:rPr sz="1500">
                <a:latin typeface="Arial"/>
              </a:rPr>
              <a:t>8. Navegação completa por teclado — 2.1.1 (A): </a:t>
            </a:r>
            <a:r>
              <a:rPr sz="1500" b="1">
                <a:solidFill>
                  <a:srgbClr val="C01C1C"/>
                </a:solidFill>
                <a:latin typeface="Arial"/>
              </a:rPr>
              <a:t>[PREENCHER: Conforme / Não conforme / Parcial]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Aft>
                <a:spcPts val="0"/>
              </a:spcAft>
            </a:pPr>
            <a:r>
              <a:rPr sz="2800">
                <a:latin typeface="Arial"/>
              </a:rPr>
              <a:t>Checklist de 15 itens — resultados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500">
                <a:latin typeface="Arial"/>
              </a:rPr>
              <a:t>9. Indicador de foco visível — 2.4.7 (AA): </a:t>
            </a:r>
            <a:r>
              <a:rPr sz="1500" b="1">
                <a:solidFill>
                  <a:srgbClr val="C01C1C"/>
                </a:solidFill>
                <a:latin typeface="Arial"/>
              </a:rPr>
              <a:t>[PREENCHER: Conforme / Não conforme / Parcial]</a:t>
            </a:r>
          </a:p>
          <a:p>
            <a:pPr>
              <a:spcAft>
                <a:spcPts val="600"/>
              </a:spcAft>
            </a:pPr>
            <a:r>
              <a:rPr sz="1500">
                <a:latin typeface="Arial"/>
              </a:rPr>
              <a:t>10. Link para pular ao conteúdo principal — 2.4.1 (A): </a:t>
            </a:r>
            <a:r>
              <a:rPr sz="1500" b="1">
                <a:solidFill>
                  <a:srgbClr val="C01C1C"/>
                </a:solidFill>
                <a:latin typeface="Arial"/>
              </a:rPr>
              <a:t>[PREENCHER: Conforme / Não conforme / Parcial]</a:t>
            </a:r>
          </a:p>
          <a:p>
            <a:pPr>
              <a:spcAft>
                <a:spcPts val="600"/>
              </a:spcAft>
            </a:pPr>
            <a:r>
              <a:rPr sz="1500">
                <a:latin typeface="Arial"/>
              </a:rPr>
              <a:t>11. Rótulos associados aos campos de formulário — 3.3.2 (A): </a:t>
            </a:r>
            <a:r>
              <a:rPr sz="1500" b="1">
                <a:solidFill>
                  <a:srgbClr val="C01C1C"/>
                </a:solidFill>
                <a:latin typeface="Arial"/>
              </a:rPr>
              <a:t>[PREENCHER: Conforme / Não conforme / Parcial]</a:t>
            </a:r>
          </a:p>
          <a:p>
            <a:pPr>
              <a:spcAft>
                <a:spcPts val="600"/>
              </a:spcAft>
            </a:pPr>
            <a:r>
              <a:rPr sz="1500">
                <a:latin typeface="Arial"/>
              </a:rPr>
              <a:t>12. Identificacao e sugestao de correção de erros — 3.3.1 (A / AA): </a:t>
            </a:r>
            <a:r>
              <a:rPr sz="1500" b="1">
                <a:solidFill>
                  <a:srgbClr val="C01C1C"/>
                </a:solidFill>
                <a:latin typeface="Arial"/>
              </a:rPr>
              <a:t>[PREENCHER: Conforme / Não conforme / Parcial]</a:t>
            </a:r>
          </a:p>
          <a:p>
            <a:pPr>
              <a:spcAft>
                <a:spcPts val="600"/>
              </a:spcAft>
            </a:pPr>
            <a:r>
              <a:rPr sz="1500">
                <a:latin typeface="Arial"/>
              </a:rPr>
              <a:t>13. Links com texto descritivo — 2.4.4 (A): </a:t>
            </a:r>
            <a:r>
              <a:rPr sz="1500" b="1">
                <a:solidFill>
                  <a:srgbClr val="C01C1C"/>
                </a:solidFill>
                <a:latin typeface="Arial"/>
              </a:rPr>
              <a:t>[PREENCHER: Conforme / Não conforme / Parcial]</a:t>
            </a:r>
          </a:p>
          <a:p>
            <a:pPr>
              <a:spcAft>
                <a:spcPts val="600"/>
              </a:spcAft>
            </a:pPr>
            <a:r>
              <a:rPr sz="1500">
                <a:latin typeface="Arial"/>
              </a:rPr>
              <a:t>14. Controle de conteúdo em movimento — 2.2.2 (A): </a:t>
            </a:r>
            <a:r>
              <a:rPr sz="1500" b="1">
                <a:solidFill>
                  <a:srgbClr val="C01C1C"/>
                </a:solidFill>
                <a:latin typeface="Arial"/>
              </a:rPr>
              <a:t>[PREENCHER: Conforme / Não conforme / Parcial]</a:t>
            </a:r>
          </a:p>
          <a:p>
            <a:pPr>
              <a:spcAft>
                <a:spcPts val="600"/>
              </a:spcAft>
            </a:pPr>
            <a:r>
              <a:rPr sz="1500">
                <a:latin typeface="Arial"/>
              </a:rPr>
              <a:t>15. Estrutura semântica e marcação válida — 1.3.1 (A): </a:t>
            </a:r>
            <a:r>
              <a:rPr sz="1500" b="1">
                <a:solidFill>
                  <a:srgbClr val="C01C1C"/>
                </a:solidFill>
                <a:latin typeface="Arial"/>
              </a:rPr>
              <a:t>[PREENCHER: Conforme / Não conforme / Parcial]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Aft>
                <a:spcPts val="0"/>
              </a:spcAft>
            </a:pPr>
            <a:r>
              <a:rPr sz="2800">
                <a:latin typeface="Arial"/>
              </a:rPr>
              <a:t>Avaliadores automáticos: WAVE e 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600">
                <a:latin typeface="Arial"/>
              </a:rPr>
              <a:t>WAVE (WebAIM):</a:t>
            </a:r>
          </a:p>
          <a:p>
            <a:pPr lvl="1">
              <a:spcAft>
                <a:spcPts val="600"/>
              </a:spcAft>
            </a:pPr>
            <a:r>
              <a:rPr sz="1300">
                <a:latin typeface="Arial"/>
              </a:rPr>
              <a:t>Errors: [PREENCHER: ?]   |   Contrast Errors: [PREENCHER: ?]   |   Alerts: [PREENCHER: ?]</a:t>
            </a:r>
          </a:p>
          <a:p>
            <a:pPr lvl="1">
              <a:spcAft>
                <a:spcPts val="600"/>
              </a:spcAft>
            </a:pPr>
            <a:r>
              <a:rPr sz="1300">
                <a:latin typeface="Arial"/>
              </a:rPr>
              <a:t>Principais erros: [PREENCHER: listar]</a:t>
            </a:r>
          </a:p>
          <a:p>
            <a:pPr>
              <a:spcAft>
                <a:spcPts val="600"/>
              </a:spcAft>
            </a:pPr>
            <a:r>
              <a:rPr sz="1600">
                <a:latin typeface="Arial"/>
              </a:rPr>
              <a:t>ASES (Governo Federal — eMAG 3.1):</a:t>
            </a:r>
          </a:p>
          <a:p>
            <a:pPr lvl="1">
              <a:spcAft>
                <a:spcPts val="600"/>
              </a:spcAft>
            </a:pPr>
            <a:r>
              <a:rPr sz="1300">
                <a:latin typeface="Arial"/>
              </a:rPr>
              <a:t>Nota geral: [PREENCHER: ?]%</a:t>
            </a:r>
          </a:p>
          <a:p>
            <a:pPr lvl="1">
              <a:spcAft>
                <a:spcPts val="600"/>
              </a:spcAft>
            </a:pPr>
            <a:r>
              <a:rPr sz="1300">
                <a:latin typeface="Arial"/>
              </a:rPr>
              <a:t>Marcação [PREENCHER: ?] erros · Conteúdo [PREENCHER: ?] erros · Formulários [PREENCHER: ?] erros</a:t>
            </a:r>
          </a:p>
          <a:p>
            <a:pPr>
              <a:spcAft>
                <a:spcPts val="600"/>
              </a:spcAft>
            </a:pPr>
            <a:r>
              <a:rPr sz="1600">
                <a:latin typeface="Arial"/>
              </a:rPr>
              <a:t>Limitação: detectam ausência de alt, mas não julgam se o alt descreve bem a imagem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Aft>
                <a:spcPts val="0"/>
              </a:spcAft>
            </a:pPr>
            <a:r>
              <a:rPr sz="2800">
                <a:latin typeface="Arial"/>
              </a:rPr>
              <a:t>Simulação automatizada em smartphone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C01C1C"/>
                </a:solidFill>
                <a:latin typeface="Arial"/>
              </a:rPr>
              <a:t>[PREENCHER: execute ferramenta/simulador_mobile.py e gere os documentos novamente]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Aft>
                <a:spcPts val="0"/>
              </a:spcAft>
            </a:pPr>
            <a:r>
              <a:rPr sz="2800">
                <a:latin typeface="Arial"/>
              </a:rPr>
              <a:t>Tarefa complementar: uso real com leitor de tela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700">
                <a:latin typeface="Arial"/>
              </a:rPr>
              <a:t>Aparelho: [PREENCHER: modelo] — [PREENCHER: TalkBack / VoiceOver]</a:t>
            </a:r>
          </a:p>
          <a:p>
            <a:pPr>
              <a:spcAft>
                <a:spcPts val="600"/>
              </a:spcAft>
            </a:pPr>
            <a:r>
              <a:rPr sz="1700">
                <a:latin typeface="Arial"/>
              </a:rPr>
              <a:t>Tarefa: Localizar, a partir da página inicial, o edital mais recente publicado pelo campus e abrir o documento correspondente.</a:t>
            </a:r>
          </a:p>
          <a:p>
            <a:pPr>
              <a:spcAft>
                <a:spcPts val="600"/>
              </a:spcAft>
            </a:pPr>
            <a:r>
              <a:rPr sz="1700">
                <a:latin typeface="Arial"/>
              </a:rPr>
              <a:t>Concluída: [PREENCHER: Sim/Não] — tempo: [PREENCHER: ?]</a:t>
            </a:r>
          </a:p>
          <a:p>
            <a:pPr>
              <a:spcAft>
                <a:spcPts val="600"/>
              </a:spcAft>
            </a:pPr>
            <a:r>
              <a:rPr sz="1700">
                <a:latin typeface="Arial"/>
              </a:rPr>
              <a:t>Relato:</a:t>
            </a:r>
          </a:p>
          <a:p>
            <a:pPr lvl="1">
              <a:spcAft>
                <a:spcPts val="600"/>
              </a:spcAft>
            </a:pPr>
            <a:r>
              <a:rPr sz="1400">
                <a:latin typeface="Arial"/>
              </a:rPr>
              <a:t>[PREENCHER: resuma a experiência em 3 a 4 linhas]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Aft>
                <a:spcPts val="0"/>
              </a:spcAft>
            </a:pPr>
            <a:r>
              <a:rPr sz="2800">
                <a:latin typeface="Arial"/>
              </a:rPr>
              <a:t>Nível de conformidade WCAG 2.1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700">
                <a:latin typeface="Arial"/>
              </a:rPr>
              <a:t>Regra do W3C: a conformidade é integral — uma única falha de Nível A</a:t>
            </a:r>
          </a:p>
          <a:p>
            <a:pPr lvl="1">
              <a:spcAft>
                <a:spcPts val="600"/>
              </a:spcAft>
            </a:pPr>
            <a:r>
              <a:rPr sz="1400">
                <a:latin typeface="Arial"/>
              </a:rPr>
              <a:t>impede a conformidade em qualquer nível</a:t>
            </a:r>
          </a:p>
          <a:p>
            <a:pPr>
              <a:spcAft>
                <a:spcPts val="600"/>
              </a:spcAft>
            </a:pPr>
            <a:r>
              <a:rPr sz="1700">
                <a:latin typeface="Arial"/>
              </a:rPr>
              <a:t>Falhas em critérios de Nível A: [PREENCHER: ?]</a:t>
            </a:r>
          </a:p>
          <a:p>
            <a:pPr>
              <a:spcAft>
                <a:spcPts val="600"/>
              </a:spcAft>
            </a:pPr>
            <a:r>
              <a:rPr sz="1700">
                <a:latin typeface="Arial"/>
              </a:rPr>
              <a:t>Falhas em critérios de Nível AA: [PREENCHER: ?]</a:t>
            </a:r>
          </a:p>
          <a:p>
            <a:pPr>
              <a:spcAft>
                <a:spcPts val="600"/>
              </a:spcAft>
            </a:pPr>
            <a:r>
              <a:rPr sz="1700">
                <a:latin typeface="Arial"/>
              </a:rPr>
              <a:t>Resultado: [PREENCHER: Não conforme / A / AA / AAA]</a:t>
            </a:r>
          </a:p>
          <a:p>
            <a:pPr>
              <a:spcAft>
                <a:spcPts val="600"/>
              </a:spcAft>
            </a:pPr>
            <a:r>
              <a:rPr sz="1700">
                <a:latin typeface="Arial"/>
              </a:rPr>
              <a:t>Nível AA é o patamar exigido da administração pública brasileira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Aft>
                <a:spcPts val="0"/>
              </a:spcAft>
            </a:pPr>
            <a:r>
              <a:rPr sz="2800">
                <a:latin typeface="Arial"/>
              </a:rPr>
              <a:t>Recomendações priorizadas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500">
                <a:latin typeface="Arial"/>
              </a:rPr>
              <a:t>[Crítica] Imagens sem texto alternativo → WCAG 1.1.1 (A)</a:t>
            </a:r>
          </a:p>
          <a:p>
            <a:pPr>
              <a:spcAft>
                <a:spcPts val="600"/>
              </a:spcAft>
            </a:pPr>
            <a:r>
              <a:rPr sz="1500">
                <a:latin typeface="Arial"/>
              </a:rPr>
              <a:t>[Crítica] Campos de formulário sem rótulo → WCAG 3.3.2 / 4.1.2 (A)</a:t>
            </a:r>
          </a:p>
          <a:p>
            <a:pPr>
              <a:spcAft>
                <a:spcPts val="600"/>
              </a:spcAft>
            </a:pPr>
            <a:r>
              <a:rPr sz="1500">
                <a:latin typeface="Arial"/>
              </a:rPr>
              <a:t>[Crítica] Hierarquia de cabeçalhos incorreta → WCAG 1.3.1 (A)</a:t>
            </a:r>
          </a:p>
          <a:p>
            <a:pPr>
              <a:spcAft>
                <a:spcPts val="600"/>
              </a:spcAft>
            </a:pPr>
            <a:r>
              <a:rPr sz="1500">
                <a:latin typeface="Arial"/>
              </a:rPr>
              <a:t>[Alta] Ausência de regiões semânticas → WCAG 1.3.1 (A)</a:t>
            </a:r>
          </a:p>
          <a:p>
            <a:pPr>
              <a:spcAft>
                <a:spcPts val="600"/>
              </a:spcAft>
            </a:pPr>
            <a:r>
              <a:rPr sz="1500">
                <a:latin typeface="Arial"/>
              </a:rPr>
              <a:t>[Alta] Links com texto não descritivo → WCAG 2.4.4 (A)</a:t>
            </a:r>
          </a:p>
          <a:p>
            <a:pPr>
              <a:spcAft>
                <a:spcPts val="600"/>
              </a:spcAft>
            </a:pPr>
            <a:r>
              <a:rPr sz="1500">
                <a:latin typeface="Arial"/>
              </a:rPr>
              <a:t>[Alta] Contraste insuficiente → WCAG 1.4.3 / 1.4.11 (AA)</a:t>
            </a:r>
          </a:p>
          <a:p>
            <a:pPr>
              <a:spcAft>
                <a:spcPts val="600"/>
              </a:spcAft>
            </a:pPr>
            <a:r>
              <a:rPr sz="1500">
                <a:latin typeface="Arial"/>
              </a:rPr>
              <a:t>[Media] Foco de teclado não visível → WCAG 2.4.7 (AA)</a:t>
            </a:r>
          </a:p>
          <a:p>
            <a:pPr>
              <a:spcAft>
                <a:spcPts val="600"/>
              </a:spcAft>
            </a:pPr>
            <a:r>
              <a:rPr sz="1500">
                <a:latin typeface="Arial"/>
              </a:rPr>
              <a:t>[Media] Ausência de link de salto → WCAG 2.4.1 (A)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Aft>
                <a:spcPts val="0"/>
              </a:spcAft>
            </a:pPr>
            <a:r>
              <a:rPr sz="2800">
                <a:latin typeface="Arial"/>
              </a:rPr>
              <a:t>Conclusão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700">
                <a:latin typeface="Arial"/>
              </a:rPr>
              <a:t>Boa aparência visual não significa boa acessibilidade:</a:t>
            </a:r>
          </a:p>
          <a:p>
            <a:pPr lvl="1">
              <a:spcAft>
                <a:spcPts val="600"/>
              </a:spcAft>
            </a:pPr>
            <a:r>
              <a:rPr sz="1400">
                <a:latin typeface="Arial"/>
              </a:rPr>
              <a:t>as barreiras estão na camada de marcação, invisíveis ao usuário vidente</a:t>
            </a:r>
          </a:p>
          <a:p>
            <a:pPr>
              <a:spcAft>
                <a:spcPts val="600"/>
              </a:spcAft>
            </a:pPr>
            <a:r>
              <a:rPr sz="1700">
                <a:latin typeface="Arial"/>
              </a:rPr>
              <a:t>Ferramentas automáticas quantificam; só o teste humano revela a experiência</a:t>
            </a:r>
          </a:p>
          <a:p>
            <a:pPr>
              <a:spcAft>
                <a:spcPts val="600"/>
              </a:spcAft>
            </a:pPr>
            <a:r>
              <a:rPr sz="1700">
                <a:latin typeface="Arial"/>
              </a:rPr>
              <a:t>A maior parte das correções é de baixo custo — atributos alt, labels,</a:t>
            </a:r>
          </a:p>
          <a:p>
            <a:pPr lvl="1">
              <a:spcAft>
                <a:spcPts val="600"/>
              </a:spcAft>
            </a:pPr>
            <a:r>
              <a:rPr sz="1400">
                <a:latin typeface="Arial"/>
              </a:rPr>
              <a:t>hierarquia de cabeçalhos e elementos semânticos de região</a:t>
            </a:r>
          </a:p>
          <a:p>
            <a:pPr>
              <a:spcAft>
                <a:spcPts val="600"/>
              </a:spcAft>
            </a:pPr>
            <a:r>
              <a:rPr sz="1700">
                <a:latin typeface="Arial"/>
              </a:rPr>
              <a:t>Acessibilidade se projeta desde o início; corrigir depois custa mais</a:t>
            </a:r>
          </a:p>
          <a:p>
            <a:pPr>
              <a:spcAft>
                <a:spcPts val="600"/>
              </a:spcAft>
            </a:pPr>
            <a:r>
              <a:rPr sz="1700">
                <a:latin typeface="Arial"/>
              </a:rPr>
              <a:t>Recomenda-se reavaliação periódica: cada publicação pode reintroduzir barreiras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5400">
                <a:latin typeface="Arial"/>
              </a:rPr>
              <a:t>Obrigado!</a:t>
            </a:r>
          </a:p>
          <a:p>
            <a:pPr>
              <a:spcAft>
                <a:spcPts val="600"/>
              </a:spcAft>
            </a:pPr>
            <a:r>
              <a:rPr sz="5400">
                <a:latin typeface="Arial"/>
              </a:rPr>
              <a:t>Perguntas?</a:t>
            </a:r>
          </a:p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o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o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o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