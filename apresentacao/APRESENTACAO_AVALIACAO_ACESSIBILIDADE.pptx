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y="6858000" cx="12192000"/>
  <p:notesSz cx="6858000" cy="91440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14931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031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79492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760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18345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2989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0463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8811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82856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60037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22406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3096980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3581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237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3259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217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53218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537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9" r:id="rId1"/>
    <p:sldLayoutId id="2147483950" r:id="rId2"/>
    <p:sldLayoutId id="2147483951" r:id="rId3"/>
    <p:sldLayoutId id="2147483952" r:id="rId4"/>
    <p:sldLayoutId id="2147483953" r:id="rId5"/>
    <p:sldLayoutId id="2147483954" r:id="rId6"/>
    <p:sldLayoutId id="2147483955" r:id="rId7"/>
    <p:sldLayoutId id="2147483956" r:id="rId8"/>
    <p:sldLayoutId id="2147483957" r:id="rId9"/>
    <p:sldLayoutId id="2147483958" r:id="rId10"/>
    <p:sldLayoutId id="2147483959" r:id="rId11"/>
    <p:sldLayoutId id="2147483960" r:id="rId12"/>
    <p:sldLayoutId id="2147483961" r:id="rId13"/>
    <p:sldLayoutId id="2147483962" r:id="rId14"/>
    <p:sldLayoutId id="2147483963" r:id="rId15"/>
    <p:sldLayoutId id="2147483964" r:id="rId16"/>
    <p:sldLayoutId id="2147483965" r:id="rId17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Avaliação de Acessibilidade Web com as Diretrizes WCAG 2.1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000">
                <a:latin typeface="Arial"/>
              </a:rPr>
              <a:t>Portal do Instituto Federal de Alagoas - Campus Maceió
Guilherme de Oliveira Pontes Pinto · Kelven Eduardo Terto dos Santos
Bacharelado em Sistemas de Informação — Interação Humano-Computador — 09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são as WCAG?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Web Content Accessibility Guidelines — recomendação do W3C, versão 2.1 (2018)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Organizadas em 4 princípios (POUR):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Perceptível — a informação precisa chegar aos sentidos do usuário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Operável — a interface precisa ser utilizável por qualquer forma de entrada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Compreensível — conteúdo e operação precisam ser previsíveis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Robusto — o código precisa funcionar com tecnologias assistivas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78 critérios de sucesso distribuídos em 3 níveis: A, AA e AAA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No Brasil: eMAG 3.1 (2014) adapta as WCAG ao governo eletrônico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Por que avaliar acessibilidade?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14,4 milhões de brasileiros com deficiência (Censo IBGE 2022)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Exigência legal, não apenas boa prática: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Decreto nº 5.296/2004 — portais da administração pública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Lei Brasileira de Inclusão nº 13.146/2015, art. 63 — sites em geral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Acessibilidade beneficia todos: legendas, contraste e navegação por teclado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melhoram a experiência de qualquer usuário em qualquer 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Site avaliado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Portal do Instituto Federal de Alagoas - Campus Maceió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https://www2.ifal.edu.br/campus/maceio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 que este site: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Trata-se de um sítio institucional público, de escopo reduzido e navegação simples (página inicial, noticias, editais e contato), o que permite auditar integralmente o conjunto de páginas dentro do prazo do trabalho. Por pertencer a administração pública federal, esta sujeito ao Decreto n. 5.296/2004, a Lei Brasileira de Inclusão (Lei n. 13.146/2015) e ao eMAG 3.1, o que torna a avaliação juridica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Metodologia em 4 etapas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1. Inspeção manual — checklist de 15 itens mapeados à WCAG 2.1 e ao eMAG 3.1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2. Avaliação automatizada — WAVE, ASES e auditor próprio em Python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3. Simulação mobile automatizada — Chromium emulando smartphone, árvore de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acessibilidade, alvos de toque, reflow e contraste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4. Teste real com leitor de tela — tarefa completa sem apoio visual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Triangulação: ferramenta automática cobre só parte dos critérios;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os demais exigem julgamento humano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1. Texto alternativo em imagens — 1.1.1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2. Hierarquia de cabeçalhos — 1.3.1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3. Idioma da página declarado — 3.1.1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4. Título de página descritivo — 2.4.2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5. Contraste mínimo de cores — 1.4.3 (AA):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6. Cor não é o único meio de transmitir informação — 1.4.1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7. Redimensionamento de texto até 200% — 1.4.4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8. Navegação completa por teclado — 2.1.1 (A): Conforme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9. Indicador de foco visível — 2.4.7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10. Link para pular ao conteúdo principal — 2.4.1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11. Rótulos associados aos campos de formulário — 3.3.2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12. Identificação e sugestão de correção de erros — 3.3.1 (A / AA): Não aplicável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13. Links com texto descritivo — 2.4.4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14. Controle de conteúdo em movimento — 2.2.2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15. Estrutura semântica e marcação válida — 1.3.1 (A): Parcial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Avaliadores automáticos: WAVE e 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(WebAIM):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Errors: [PREENCHER: ?]   |   Contrast Errors: [PREENCHER: ?]   |   Alerts: [PREENCHER: ?]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Principais erros: [PREENCHER: listar]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ASES (Governo Federal — eMAG 3.1):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Nota geral: [PREENCHER: ?]%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Marcação [PREENCHER: ?] erros · Conteúdo [PREENCHER: ?] erros · Formulários [PREENCHER: ?] erros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Limitação: detectam ausência de alt, mas não julgam se o alt descreve bem a imagem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e ASES exigem execução no navegador — o ASES protege o envio com CAPTCHA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 automático: axe-core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axe-core 4.10.2 (Deque) — motor usado pelas extensões WAVE e Lighthouse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Violações diretas de critério WCAG A/AA: 0 nas 3 páginas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Regras aprovadas: 41 · 40 · 35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Ocorrências de boas práticas: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region — 10x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image-redundant-alt — 4x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page-has-heading-one — 2x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Devolvido para julgamento humano: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color-contrast — 80x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frame-tested — 1x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Contraste medido na tela renderizada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Método: o texto é apagado, a área é fotografada e a cor dominante da imagem vira o fundo — sem supor nada pela árvore do DOM.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Reprovações confirmadas: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1.66:1 (exige 4.5:1) — Botão de navegação do banner rotativo (slides 1, 3 e 4)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3.0:1 (exige 4.5:1) — Botão de navegação do banner rotativo (slide ativo)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4.48:1 (exige 4.5:1) — Link "Voltar para o topo"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4.0:1 (exige 4.5:1) — Barra do Governo Federal (barra.brasil.gov.br)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Indicador de foco: 5.81:1 sobre o verde, mas 1.56:1 sobre o branco (exige 3.0:1)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Barra de acessibilidade do portal</a:t>
            </a:r>
          </a:p>
        </p:txBody>
      </p:sp>
      <p:pic>
        <p:nvPicPr>
          <p:cNvPr id="3" name="Picture 2" descr="02-topo-barra-acessibi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40" y="1371600"/>
            <a:ext cx="10485120" cy="27632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3440" y="4272041"/>
            <a:ext cx="1048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latin typeface="Arial"/>
              </a:rPr>
              <a:t>Quatro atalhos de salto (Alt+1 a Alt+4), Alto Contraste e Mapa do site: o portal acerta o essencial da navegação assistida.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Onde estão as piores falhas: o banner rotativo</a:t>
            </a:r>
          </a:p>
        </p:txBody>
      </p:sp>
      <p:pic>
        <p:nvPicPr>
          <p:cNvPr id="3" name="Picture 2" descr="13-carrossel-banner-rot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1371600"/>
            <a:ext cx="5486400" cy="4251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3440" y="5760720"/>
            <a:ext cx="1048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latin typeface="Arial"/>
              </a:rPr>
              <a:t>Botões de 22x20 px, contraste de 1,66:1, slide ativo marcado só pela cor e troca automática a cada 4 segundos sem botão de pausa.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Reflow em 320 px</a:t>
            </a:r>
          </a:p>
        </p:txBody>
      </p:sp>
      <p:pic>
        <p:nvPicPr>
          <p:cNvPr id="3" name="Picture 2" descr="08-reflow-320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5608" y="1371600"/>
            <a:ext cx="1700784" cy="4251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3440" y="5760720"/>
            <a:ext cx="1048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latin typeface="Arial"/>
              </a:rPr>
              <a:t>O conteúdo ocupa 330 px em uma tela de 320 px e obriga a rolagem horizontal — WCAG 1.4.10 (AA).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 que só o aparelho real mostrou: VLibras</a:t>
            </a:r>
          </a:p>
        </p:txBody>
      </p:sp>
      <p:pic>
        <p:nvPicPr>
          <p:cNvPr id="3" name="Picture 2" descr="14-vlibras-botao-flutua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40" y="1371600"/>
            <a:ext cx="10485120" cy="36406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3440" y="5149426"/>
            <a:ext cx="1048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latin typeface="Arial"/>
              </a:rPr>
              <a:t>O tradutor de Libras existe em todas as páginas, injetado por barra.brasil.gov.br. Não aparece no HTML entregue pelo servidor e escapou às três frentes automatizadas — mas a página de Acessibilidade do portal nunca o menciona.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Simulação automatizada em smartphone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Aparelho emulado: Google Pixel 7 (TalkBack) — 412×915 px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Elementos anunciados SEM RÓTULO: 0  (WCAG 1.1.1 / 4.1.2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Deslizes até o conteúdo principal: 4  (WCAG 2.4.1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Sem indicador de foco visível: 0  (WCAG 2.4.7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Alvos de toque menores que 24×24 px: 23  (WCAG 2.5.8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Rolagem horizontal em 320 px: sim  (WCAG 1.4.10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Contraste reprovado em 7 de 51 trechos — pior razão 1:1  (WCAG 1.4.3 — AA)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o leitor de tela realmente anuncia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1.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2.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3. cabeçalho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4. região principal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5. rodapé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6.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7.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8.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9. item de lista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Tarefa complementar: uso real com leitor de tela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Aparelho: [PREENCHER: modelo] — [PREENCHER: TalkBack / VoiceOver]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Tarefa: [PREENCHER: descreva a tarefa]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Concluída: [PREENCHER: Sim/Não] — tempo: [PREENCHER: ?]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Relato: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[PREENCHER: resuma a experiência em 3 a 4 linhas]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Nível de conformidade WCAG 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Regra do W3C: a conformidade é integral — uma única falha de Nível 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impede a conformidade em qualquer nível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A: 1.4.1 Uso de cores (marcador do slide ativo diferenciado apenas pela cor de fundo) e 2.2.2 Pausar, Parar, Ocultar (banner rotativo com avanço automático a cada 4 segundos, sem mecanismo de pausa).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AA: 1.4.3 Contraste mínimo (4 reprovações confirmadas por amostragem de pixels, a pior em 1,66:1); 1.4.10 Reflow (conteúdo de 330 px em tela de 320 px, gerando rolagem horizontal); 1.4.11 Contraste não textual (indicador de foco em 1,56:1 sobre o fundo branco do conteúdo); 1.4.12 Espaçamento de texto (rolagem horizontal e 3 elementos cortados); 2.5.8 Tamanho do alvo (23 dos 51 alvos interativos da versão móvel medem menos de 24x24 px).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Resultado: Não atinge o Nível 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Nível AA é o patamar exigido da administração pública brasileira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Recomendações priorizadas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Banner rotativo sem controle de pausa → WCAG 2.2.2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Slide ativo identificado apenas pela cor → WCAG 1.4.1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Contraste insuficiente nos controles do banner → WCAG 1.4.3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Página inicial e página de contato sem &lt;h1&gt; → WCAG 1.3.1 / 2.4.6 (A/AA)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Ausência de região de navegação → WCAG 1.3.1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Rolagem horizontal em telas estreitas → WCAG 1.4.10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Indicador de foco pouco perceptível sobre fundo branco → WCAG 1.4.11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Alvos de toque abaixo do mínimo → WCAG 2.5.8 (AA)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Boa aparência visual não significa boa acessibilidade: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as barreiras estão na camada de marcação, invisíveis ao usuário vidente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Ferramentas automáticas quantificam; só o teste humano revela a experiência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 maior parte das correções é de baixo custo — atributos alt, labels,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hierarquia de cabeçalhos e elementos semânticos de região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Acessibilidade se projeta desde o início; corrigir depois custa mais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Recomenda-se reavaliação periódica: cada publicação pode reintroduzir barreiras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Obrigado!</a:t>
            </a:r>
          </a:p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Perguntas?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